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256" r:id="rId3"/>
    <p:sldId id="258" r:id="rId4"/>
    <p:sldId id="265" r:id="rId5"/>
    <p:sldId id="266" r:id="rId6"/>
    <p:sldId id="270" r:id="rId7"/>
    <p:sldId id="259" r:id="rId8"/>
    <p:sldId id="260" r:id="rId9"/>
    <p:sldId id="273" r:id="rId10"/>
    <p:sldId id="272" r:id="rId11"/>
    <p:sldId id="293" r:id="rId12"/>
    <p:sldId id="275" r:id="rId13"/>
    <p:sldId id="274" r:id="rId14"/>
    <p:sldId id="271" r:id="rId15"/>
    <p:sldId id="261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62" r:id="rId25"/>
    <p:sldId id="284" r:id="rId26"/>
    <p:sldId id="285" r:id="rId27"/>
    <p:sldId id="294" r:id="rId28"/>
    <p:sldId id="286" r:id="rId29"/>
    <p:sldId id="263" r:id="rId30"/>
    <p:sldId id="264" r:id="rId31"/>
    <p:sldId id="267" r:id="rId32"/>
    <p:sldId id="268" r:id="rId3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E50"/>
    <a:srgbClr val="577C8E"/>
    <a:srgbClr val="C7D9E5"/>
    <a:srgbClr val="F5EFEB"/>
    <a:srgbClr val="EADED6"/>
    <a:srgbClr val="9F6F4F"/>
    <a:srgbClr val="538FAD"/>
    <a:srgbClr val="00838F"/>
    <a:srgbClr val="2E7D32"/>
    <a:srgbClr val="DAE6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819" autoAdjust="0"/>
  </p:normalViewPr>
  <p:slideViewPr>
    <p:cSldViewPr snapToGrid="0">
      <p:cViewPr>
        <p:scale>
          <a:sx n="66" d="100"/>
          <a:sy n="66" d="100"/>
        </p:scale>
        <p:origin x="9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947F8-C42D-4739-95C3-7369A6B02C9E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7081F-36A6-451C-BBD6-48C31BFC3D1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331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7081F-36A6-451C-BBD6-48C31BFC3D1D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681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7081F-36A6-451C-BBD6-48C31BFC3D1D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007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 — ФУНКЦИОНАЛ
📢 Текст спикера:
«Система реализует 6 ключевых разделов. Посетитель может изучать публикации с фильтрацией и поиском, просматривать проекты, читать блог, скачивать научные данные. Администратор через защищённую панель управляет всем контентом: добавляет, редактирует, удаляет записи и загружает файлы.»
🎨 Инфографика: 6 плиток-карточек 3×2 с иконками и описанием каждого раздела.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 — ИНФОРМАЦИОННАЯ МОДЕЛЬ
📢 Текст спикера:
«В системе определены 6 основных таблиц БД. Users хранит аккаунты администраторов с ролевой моделью. Projects, Articles, BlogPosts, Datasets — контентные таблицы. ActivityLogs — журнал действий. Основные связи: пользователь создаёт блог-посты, проект содержит наборы данных, проект связан со статьями через таблицу-связку.»
🎨 Инфографика: 6 карточек таблиц БД 3×2 + блок связей снизу (ER-упрощение).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7081F-36A6-451C-BBD6-48C31BFC3D1D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5832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 — ИНФОРМАЦИОННАЯ БЕЗОПАСНОСТЬ
📢 Текст спикера:
«В системе реализован комплексный подход к безопасности. Пароли хранятся только в виде хэша. SQL-инъекции исключены благодаря Prepared Statements. XSS защищён экранированием вывода. CSRF-токены защищают критические формы. .htaccess закрывает конфигурационные файлы. Каждый admin-скрипт проверяет авторизацию через сессии PHP.»
🎨 Инфографика: 6 карточек безопасности 3×2 с иконками щита.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 — ТЕСТИРОВАНИЕ
📢 Текст спикера:
«Применялось ручное тестирование методом чёрного ящика. Проверялись: отображение страниц, работа форм, поиск, безопасность. Было найдено и исправлено 6 ошибок: проектирование — 2, кодирование — 2, синтаксис — 2. Для отладки использовались var_dump, error_log и логи сервера. Резервирование — Git.»
🎨 Инфографика: Таблица ошибок + итоговый баннер с метрикой качества.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7081F-36A6-451C-BBD6-48C31BFC3D1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296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10 — МЕТРИКИ
📢 Текст спикера:
«Оценка сложности выполнена методом функциональных точек. Нескорректированный FP = 105. Коэффициент VA = 0.95 (стандартная среда, централизованная обработка). Итого: 100 FP. Фактические трудозатраты — 270 часов (1.5 чел.-мес.). Производительность — 66.7 FP/чел.-мес., что типично для учебного проекта. Метрика качества — 0.04 ошибки на FP.»
🎨 Инфографика: 4 больших числа вверху + горизонтальная диаграмма этапов + таблица FP.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7081F-36A6-451C-BBD6-48C31BFC3D1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21231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ТЕКСТ СПИКЕРА:
Для количественной оценки мы применили метод функциональных точек (Function Point Analysis) — он позволяет оценивать ПО независимо от языка программирования.
Мы получили 359 FP — это соответствует средней сложности для автономного кроссплатформенного медиа-приложения.
Производительность — 2872 по принятой методике расчёта — подтверждает достаточную эффективность разработки.
ИНФОГРАФИКА:
- Большое число FP
- Формула и подстановка
- Таблица ключевых метрик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Пользовательский путь: посетитель просматривает секции, тренеров, новости. После регистрации может подать заявку на пробное занятие. В личном кабинете отслеживает статус заявок. Администратор входит через ссылку в подвале, авторизуется, получает доступ к панели с боковым меню для управления всем контентом.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37081F-36A6-451C-BBD6-48C31BFC3D1D}" type="slidenum">
              <a:rPr lang="ru-RU" smtClean="0"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52009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A9F3D-333E-44A1-B004-06ECB9F274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63F7387-FF78-4FF1-B4C9-8934C26BE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2F17B8-1526-4926-86D7-2C71550A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4D18FC-7033-4FA1-ADB5-429801F5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622AE3-9191-4756-B301-B5775A0E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00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53EBE1-BE93-4F59-887E-CB7601A39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F24D7F-AB93-40E0-B84D-571C0778F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C0E77D-112E-405A-A806-A23E2D8B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58A2CB-16B9-4B43-B035-1CE4820C4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B18485-6E10-4758-A636-95757542D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784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DF5A76-9BCB-42A2-B05B-619907823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7E3F7-D7F6-41F1-847C-B9FB9A265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6CF2E5C-89B6-4547-823F-87C17C28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6E912E-7C06-47E2-A3E2-EE9E7713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A6DC42-7F0A-4ED8-B306-3F2514E2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287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F001F5-C6F6-4D22-8300-B246820D1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D1D6A-30A6-4C8D-8386-FF37ECCBF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7AAE94-15A3-44B3-995B-197D35163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5CC2C7A-98A2-44F2-A32E-3D7E50C4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96B8FAE-F39D-4457-B93B-468BCD129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A69F9A-C545-44B1-96CF-9285CA5BC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1104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A5C956-FADB-4C34-AB19-183A7AC0D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21F4211-107A-4E60-B366-ED2CCF340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C577B5F-D99F-4EE9-9A37-18A01DD7BD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85E14D9-47BB-47A9-953B-8CAB4C047F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8CCDA46-1C48-4453-8692-C3DFB0025C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EBE5DE4-3CD2-4D18-91E5-07F22C61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3C09475-F3A2-47DD-8ECB-67953FC6D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97E2D24-A4BA-4756-BE4F-E3FA61CED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0235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38168C-628B-4497-B156-690ACBFEE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A0BA40-9CDA-4369-B501-DD3F4A1FC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7DA2A9D-3E36-4432-8DD1-063E04B6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435F704-7036-44AC-A91C-0C4152D2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63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D15E883-9020-4825-990E-1DD7F6E7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F332574-1244-45DF-9C19-D3654D4F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8E3CCFC-056C-4B00-8DD8-4750FAA55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7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F37D8C-7651-4C37-8C88-3F1679AFC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6C2226-5DA8-4C80-B8F9-F18F905C5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77B639-ED77-40A8-87B0-644F7C4FC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A78A5EB-7F04-46B9-A76B-AE615E6B8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6FE312D-1421-4951-9ED2-ECC8243FF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FA741A1-BE53-4F5C-BAED-36211DA1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7934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EFC3F-C2DF-4E54-872F-E1A6DFDB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FC3F4C6-A010-44CD-B169-D27CA47B34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6EE3C6-7B62-4B5A-959E-EB6506E7C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EC1DC6D-85FD-42C2-9FA8-50D5856AF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F058AC-77C3-4A68-9800-1AE271FDA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9CA3007-2EA0-432D-AC55-3D90C636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995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80082-8D91-440A-AB0A-5723441BA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5EF5ADF-287A-4133-825E-E9B1CB0BB1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4BF0B2-7013-4FCE-92CA-568935C60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051F67-2A42-40A7-84EC-C0AB41895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DF8666-1C4A-43DD-89EB-837A1100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41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FC7FBA6-7C2C-4F42-9FDF-81E7040CA0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DA4923-0397-49E5-BC2E-9245FF5A5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5389F8-8CD8-4877-8240-C26C45747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78902-5077-4F82-98AC-A93F4A948FA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22F93E-92D0-48A0-967C-0DAC39474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E85C61-1AEC-4745-8188-E5F1BFFCE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AA0651-4B0C-467E-916B-677F89FA3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561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400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2E4FF-6B39-4BD5-8840-36BF5B517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DE5CB0-B3CB-4F89-9638-0ECDE0756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D3E3041-C855-4F79-9AB3-D01D2662D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78902-5077-4F82-98AC-A93F4A948FA1}" type="datetimeFigureOut">
              <a:rPr lang="ru-RU" smtClean="0"/>
              <a:t>24.02.2026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6374CA-0597-472A-9547-AF049CD6E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E3D5B3-63D7-41E2-BFDD-1AA6AC7793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A0651-4B0C-467E-916B-677F89FA37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414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#_Toc222024034"/><Relationship Id="rId13" Type="http://schemas.openxmlformats.org/officeDocument/2006/relationships/hyperlink" Target="#_Toc222024039"/><Relationship Id="rId3" Type="http://schemas.openxmlformats.org/officeDocument/2006/relationships/hyperlink" Target="#_Toc222024029"/><Relationship Id="rId7" Type="http://schemas.openxmlformats.org/officeDocument/2006/relationships/hyperlink" Target="#_Toc222024033"/><Relationship Id="rId12" Type="http://schemas.openxmlformats.org/officeDocument/2006/relationships/hyperlink" Target="#_Toc222024038"/><Relationship Id="rId2" Type="http://schemas.openxmlformats.org/officeDocument/2006/relationships/hyperlink" Target="#_Toc222024028"/><Relationship Id="rId1" Type="http://schemas.openxmlformats.org/officeDocument/2006/relationships/slideLayout" Target="../slideLayouts/slideLayout1.xml"/><Relationship Id="rId6" Type="http://schemas.openxmlformats.org/officeDocument/2006/relationships/hyperlink" Target="#_Toc222024032"/><Relationship Id="rId11" Type="http://schemas.openxmlformats.org/officeDocument/2006/relationships/hyperlink" Target="#_Toc222024037"/><Relationship Id="rId5" Type="http://schemas.openxmlformats.org/officeDocument/2006/relationships/hyperlink" Target="#_Toc222024031"/><Relationship Id="rId10" Type="http://schemas.openxmlformats.org/officeDocument/2006/relationships/hyperlink" Target="#_Toc222024036"/><Relationship Id="rId4" Type="http://schemas.openxmlformats.org/officeDocument/2006/relationships/hyperlink" Target="#_Toc222024030"/><Relationship Id="rId9" Type="http://schemas.openxmlformats.org/officeDocument/2006/relationships/hyperlink" Target="#_Toc222024035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30.svg"/><Relationship Id="rId3" Type="http://schemas.openxmlformats.org/officeDocument/2006/relationships/image" Target="../media/image16.png"/><Relationship Id="rId21" Type="http://schemas.openxmlformats.org/officeDocument/2006/relationships/image" Target="../media/image33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9.png"/><Relationship Id="rId25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.svg"/><Relationship Id="rId20" Type="http://schemas.openxmlformats.org/officeDocument/2006/relationships/image" Target="../media/image3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11" Type="http://schemas.openxmlformats.org/officeDocument/2006/relationships/image" Target="../media/image23.png"/><Relationship Id="rId24" Type="http://schemas.openxmlformats.org/officeDocument/2006/relationships/image" Target="../media/image36.svg"/><Relationship Id="rId5" Type="http://schemas.openxmlformats.org/officeDocument/2006/relationships/image" Target="../media/image18.png"/><Relationship Id="rId15" Type="http://schemas.openxmlformats.org/officeDocument/2006/relationships/image" Target="../media/image27.png"/><Relationship Id="rId23" Type="http://schemas.openxmlformats.org/officeDocument/2006/relationships/image" Target="../media/image35.png"/><Relationship Id="rId10" Type="http://schemas.openxmlformats.org/officeDocument/2006/relationships/image" Target="../media/image22.svg"/><Relationship Id="rId19" Type="http://schemas.openxmlformats.org/officeDocument/2006/relationships/image" Target="../media/image31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14" Type="http://schemas.openxmlformats.org/officeDocument/2006/relationships/image" Target="../media/image26.svg"/><Relationship Id="rId22" Type="http://schemas.openxmlformats.org/officeDocument/2006/relationships/image" Target="../media/image34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1.png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7.png"/><Relationship Id="rId18" Type="http://schemas.openxmlformats.org/officeDocument/2006/relationships/image" Target="../media/image36.svg"/><Relationship Id="rId26" Type="http://schemas.openxmlformats.org/officeDocument/2006/relationships/image" Target="../media/image30.svg"/><Relationship Id="rId3" Type="http://schemas.microsoft.com/office/2007/relationships/hdphoto" Target="../media/hdphoto1.wdp"/><Relationship Id="rId21" Type="http://schemas.openxmlformats.org/officeDocument/2006/relationships/image" Target="../media/image23.png"/><Relationship Id="rId7" Type="http://schemas.openxmlformats.org/officeDocument/2006/relationships/image" Target="../media/image49.png"/><Relationship Id="rId12" Type="http://schemas.openxmlformats.org/officeDocument/2006/relationships/image" Target="../media/image18.png"/><Relationship Id="rId17" Type="http://schemas.openxmlformats.org/officeDocument/2006/relationships/image" Target="../media/image35.png"/><Relationship Id="rId25" Type="http://schemas.openxmlformats.org/officeDocument/2006/relationships/image" Target="../media/image29.png"/><Relationship Id="rId2" Type="http://schemas.openxmlformats.org/officeDocument/2006/relationships/image" Target="../media/image8.png"/><Relationship Id="rId16" Type="http://schemas.openxmlformats.org/officeDocument/2006/relationships/image" Target="../media/image51.svg"/><Relationship Id="rId20" Type="http://schemas.openxmlformats.org/officeDocument/2006/relationships/image" Target="../media/image22.sv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8.png"/><Relationship Id="rId11" Type="http://schemas.openxmlformats.org/officeDocument/2006/relationships/image" Target="../media/image17.png"/><Relationship Id="rId24" Type="http://schemas.openxmlformats.org/officeDocument/2006/relationships/image" Target="../media/image26.svg"/><Relationship Id="rId5" Type="http://schemas.openxmlformats.org/officeDocument/2006/relationships/image" Target="../media/image47.png"/><Relationship Id="rId15" Type="http://schemas.openxmlformats.org/officeDocument/2006/relationships/image" Target="../media/image50.png"/><Relationship Id="rId23" Type="http://schemas.openxmlformats.org/officeDocument/2006/relationships/image" Target="../media/image25.png"/><Relationship Id="rId28" Type="http://schemas.openxmlformats.org/officeDocument/2006/relationships/image" Target="../media/image32.svg"/><Relationship Id="rId10" Type="http://schemas.openxmlformats.org/officeDocument/2006/relationships/image" Target="../media/image16.png"/><Relationship Id="rId19" Type="http://schemas.openxmlformats.org/officeDocument/2006/relationships/image" Target="../media/image21.png"/><Relationship Id="rId4" Type="http://schemas.openxmlformats.org/officeDocument/2006/relationships/image" Target="../media/image41.png"/><Relationship Id="rId9" Type="http://schemas.openxmlformats.org/officeDocument/2006/relationships/image" Target="../media/image20.svg"/><Relationship Id="rId14" Type="http://schemas.openxmlformats.org/officeDocument/2006/relationships/image" Target="../media/image28.svg"/><Relationship Id="rId22" Type="http://schemas.openxmlformats.org/officeDocument/2006/relationships/image" Target="../media/image24.svg"/><Relationship Id="rId27" Type="http://schemas.openxmlformats.org/officeDocument/2006/relationships/image" Target="../media/image31.png"/><Relationship Id="rId30" Type="http://schemas.openxmlformats.org/officeDocument/2006/relationships/image" Target="../media/image53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jpeg"/><Relationship Id="rId4" Type="http://schemas.openxmlformats.org/officeDocument/2006/relationships/image" Target="../media/image20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sv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12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svg"/><Relationship Id="rId5" Type="http://schemas.openxmlformats.org/officeDocument/2006/relationships/image" Target="../media/image60.svg"/><Relationship Id="rId15" Type="http://schemas.openxmlformats.org/officeDocument/2006/relationships/image" Target="../media/image70.sv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svg"/><Relationship Id="rId14" Type="http://schemas.openxmlformats.org/officeDocument/2006/relationships/image" Target="../media/image6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svg"/><Relationship Id="rId18" Type="http://schemas.openxmlformats.org/officeDocument/2006/relationships/image" Target="../media/image73.png"/><Relationship Id="rId26" Type="http://schemas.openxmlformats.org/officeDocument/2006/relationships/image" Target="../media/image81.png"/><Relationship Id="rId3" Type="http://schemas.openxmlformats.org/officeDocument/2006/relationships/image" Target="../media/image58.svg"/><Relationship Id="rId21" Type="http://schemas.openxmlformats.org/officeDocument/2006/relationships/image" Target="../media/image76.svg"/><Relationship Id="rId7" Type="http://schemas.openxmlformats.org/officeDocument/2006/relationships/image" Target="../media/image62.svg"/><Relationship Id="rId12" Type="http://schemas.openxmlformats.org/officeDocument/2006/relationships/image" Target="../media/image67.png"/><Relationship Id="rId17" Type="http://schemas.openxmlformats.org/officeDocument/2006/relationships/image" Target="../media/image72.svg"/><Relationship Id="rId25" Type="http://schemas.openxmlformats.org/officeDocument/2006/relationships/image" Target="../media/image80.svg"/><Relationship Id="rId2" Type="http://schemas.openxmlformats.org/officeDocument/2006/relationships/image" Target="../media/image57.png"/><Relationship Id="rId16" Type="http://schemas.openxmlformats.org/officeDocument/2006/relationships/image" Target="../media/image71.png"/><Relationship Id="rId20" Type="http://schemas.openxmlformats.org/officeDocument/2006/relationships/image" Target="../media/image75.png"/><Relationship Id="rId29" Type="http://schemas.openxmlformats.org/officeDocument/2006/relationships/image" Target="../media/image8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svg"/><Relationship Id="rId24" Type="http://schemas.openxmlformats.org/officeDocument/2006/relationships/image" Target="../media/image79.png"/><Relationship Id="rId5" Type="http://schemas.openxmlformats.org/officeDocument/2006/relationships/image" Target="../media/image60.svg"/><Relationship Id="rId15" Type="http://schemas.openxmlformats.org/officeDocument/2006/relationships/image" Target="../media/image70.svg"/><Relationship Id="rId23" Type="http://schemas.openxmlformats.org/officeDocument/2006/relationships/image" Target="../media/image78.svg"/><Relationship Id="rId28" Type="http://schemas.openxmlformats.org/officeDocument/2006/relationships/image" Target="../media/image83.png"/><Relationship Id="rId10" Type="http://schemas.openxmlformats.org/officeDocument/2006/relationships/image" Target="../media/image65.png"/><Relationship Id="rId19" Type="http://schemas.openxmlformats.org/officeDocument/2006/relationships/image" Target="../media/image74.svg"/><Relationship Id="rId4" Type="http://schemas.openxmlformats.org/officeDocument/2006/relationships/image" Target="../media/image59.png"/><Relationship Id="rId9" Type="http://schemas.openxmlformats.org/officeDocument/2006/relationships/image" Target="../media/image64.svg"/><Relationship Id="rId14" Type="http://schemas.openxmlformats.org/officeDocument/2006/relationships/image" Target="../media/image69.png"/><Relationship Id="rId22" Type="http://schemas.openxmlformats.org/officeDocument/2006/relationships/image" Target="../media/image77.png"/><Relationship Id="rId27" Type="http://schemas.openxmlformats.org/officeDocument/2006/relationships/image" Target="../media/image8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2030276" y="1569556"/>
            <a:ext cx="7856620" cy="20162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fontAlgn="base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«ДОНСКОЙ ГОСУДАРСТВЕННЫЙ ТЕХНИЧЕСКИЙ УНИВЕРСИТЕТ»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(ДГТУ)</a:t>
            </a:r>
            <a:b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400" cap="all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Авиационно-технологический колледж</a:t>
            </a:r>
            <a:endParaRPr lang="ru-RU"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3C2608F-0A7F-4BCC-AE70-AD38E34C86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306" y="0"/>
            <a:ext cx="1472561" cy="1569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101819" y="3291350"/>
            <a:ext cx="7920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Курсовой проект на тему: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2756" y="3691460"/>
            <a:ext cx="9448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Разработка сайта-портфолио для научно-исследовательской группы с публикацией статей, данными экспериментов и блогом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598311" y="5104535"/>
            <a:ext cx="10848622" cy="1753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Выполнил студент </a:t>
            </a:r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ea typeface="Arial Unicode MS" pitchFamily="34" charset="-128"/>
                <a:cs typeface="Times New Roman" panose="02020603050405020304" pitchFamily="18" charset="0"/>
              </a:rPr>
              <a:t>группы ИСП9-К42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ru-RU" sz="2000" u="sng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С.О.Гридчина</a:t>
            </a:r>
            <a:r>
              <a:rPr lang="ru-RU" sz="2000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r"/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Руководитель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А.А. Михалева</a:t>
            </a:r>
          </a:p>
          <a:p>
            <a:pPr algn="r"/>
            <a:endParaRPr lang="ru-RU" sz="2000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ru-RU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Ростов-на-Дону, 2026</a:t>
            </a:r>
          </a:p>
        </p:txBody>
      </p:sp>
    </p:spTree>
    <p:extLst>
      <p:ext uri="{BB962C8B-B14F-4D97-AF65-F5344CB8AC3E}">
        <p14:creationId xmlns:p14="http://schemas.microsoft.com/office/powerpoint/2010/main" val="3749762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4265C24-002F-4B23-AFE1-9618F6132D3F}"/>
              </a:ext>
            </a:extLst>
          </p:cNvPr>
          <p:cNvGrpSpPr/>
          <p:nvPr/>
        </p:nvGrpSpPr>
        <p:grpSpPr>
          <a:xfrm>
            <a:off x="7088553" y="2776213"/>
            <a:ext cx="1234831" cy="1727850"/>
            <a:chOff x="7283938" y="842687"/>
            <a:chExt cx="3491645" cy="4885719"/>
          </a:xfrm>
        </p:grpSpPr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097FE50A-692B-4569-99C7-EED756823282}"/>
                </a:ext>
              </a:extLst>
            </p:cNvPr>
            <p:cNvGrpSpPr/>
            <p:nvPr/>
          </p:nvGrpSpPr>
          <p:grpSpPr>
            <a:xfrm>
              <a:off x="7283938" y="842687"/>
              <a:ext cx="3491645" cy="3187518"/>
              <a:chOff x="7393353" y="1637690"/>
              <a:chExt cx="3491645" cy="3187518"/>
            </a:xfrm>
          </p:grpSpPr>
          <p:sp>
            <p:nvSpPr>
              <p:cNvPr id="22" name="Прямоугольник: скругленные углы 21">
                <a:extLst>
                  <a:ext uri="{FF2B5EF4-FFF2-40B4-BE49-F238E27FC236}">
                    <a16:creationId xmlns:a16="http://schemas.microsoft.com/office/drawing/2014/main" id="{FDCEB0F0-9481-48C7-A7EE-9DAEB0FB0515}"/>
                  </a:ext>
                </a:extLst>
              </p:cNvPr>
              <p:cNvSpPr/>
              <p:nvPr/>
            </p:nvSpPr>
            <p:spPr>
              <a:xfrm>
                <a:off x="8379558" y="1637690"/>
                <a:ext cx="1519238" cy="1519238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Прямоугольник: скругленные углы 22">
                <a:extLst>
                  <a:ext uri="{FF2B5EF4-FFF2-40B4-BE49-F238E27FC236}">
                    <a16:creationId xmlns:a16="http://schemas.microsoft.com/office/drawing/2014/main" id="{ABC34CC3-8245-4278-96D5-CD66A20A6D92}"/>
                  </a:ext>
                </a:extLst>
              </p:cNvPr>
              <p:cNvSpPr/>
              <p:nvPr/>
            </p:nvSpPr>
            <p:spPr>
              <a:xfrm>
                <a:off x="8379558" y="3301390"/>
                <a:ext cx="1519238" cy="1519238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Прямоугольник: усеченные противолежащие углы 23">
                <a:extLst>
                  <a:ext uri="{FF2B5EF4-FFF2-40B4-BE49-F238E27FC236}">
                    <a16:creationId xmlns:a16="http://schemas.microsoft.com/office/drawing/2014/main" id="{EDFBE710-F95D-4500-9092-1A850A2B889A}"/>
                  </a:ext>
                </a:extLst>
              </p:cNvPr>
              <p:cNvSpPr/>
              <p:nvPr/>
            </p:nvSpPr>
            <p:spPr>
              <a:xfrm rot="16200000">
                <a:off x="7032380" y="3662363"/>
                <a:ext cx="1519238" cy="797291"/>
              </a:xfrm>
              <a:prstGeom prst="snip2DiagRect">
                <a:avLst>
                  <a:gd name="adj1" fmla="val 836"/>
                  <a:gd name="adj2" fmla="val 1415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Прямоугольник: усеченные противолежащие углы 24">
                <a:extLst>
                  <a:ext uri="{FF2B5EF4-FFF2-40B4-BE49-F238E27FC236}">
                    <a16:creationId xmlns:a16="http://schemas.microsoft.com/office/drawing/2014/main" id="{DE1B8970-5AB4-40AF-B5FB-FD7418320301}"/>
                  </a:ext>
                </a:extLst>
              </p:cNvPr>
              <p:cNvSpPr/>
              <p:nvPr/>
            </p:nvSpPr>
            <p:spPr>
              <a:xfrm rot="5400000" flipV="1">
                <a:off x="9726734" y="3666943"/>
                <a:ext cx="1519238" cy="797291"/>
              </a:xfrm>
              <a:prstGeom prst="snip2DiagRect">
                <a:avLst>
                  <a:gd name="adj1" fmla="val 836"/>
                  <a:gd name="adj2" fmla="val 1415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20" name="Прямоугольник: усеченные противолежащие углы 19">
              <a:extLst>
                <a:ext uri="{FF2B5EF4-FFF2-40B4-BE49-F238E27FC236}">
                  <a16:creationId xmlns:a16="http://schemas.microsoft.com/office/drawing/2014/main" id="{DB824287-C706-403B-9096-39399A621120}"/>
                </a:ext>
              </a:extLst>
            </p:cNvPr>
            <p:cNvSpPr/>
            <p:nvPr/>
          </p:nvSpPr>
          <p:spPr>
            <a:xfrm rot="16200000">
              <a:off x="7720257" y="4570140"/>
              <a:ext cx="1519238" cy="797291"/>
            </a:xfrm>
            <a:prstGeom prst="snip2DiagRect">
              <a:avLst>
                <a:gd name="adj1" fmla="val 836"/>
                <a:gd name="adj2" fmla="val 14159"/>
              </a:avLst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1" name="Прямоугольник: усеченные противолежащие углы 20">
              <a:extLst>
                <a:ext uri="{FF2B5EF4-FFF2-40B4-BE49-F238E27FC236}">
                  <a16:creationId xmlns:a16="http://schemas.microsoft.com/office/drawing/2014/main" id="{A69AAE38-6550-4493-8843-54B0012F2E9D}"/>
                </a:ext>
              </a:extLst>
            </p:cNvPr>
            <p:cNvSpPr/>
            <p:nvPr/>
          </p:nvSpPr>
          <p:spPr>
            <a:xfrm rot="5400000" flipV="1">
              <a:off x="8820028" y="4570141"/>
              <a:ext cx="1519238" cy="797291"/>
            </a:xfrm>
            <a:prstGeom prst="snip2DiagRect">
              <a:avLst>
                <a:gd name="adj1" fmla="val 836"/>
                <a:gd name="adj2" fmla="val 14159"/>
              </a:avLst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526152-5EA5-4379-88B6-BA0E24C9B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6498" y="-505474"/>
            <a:ext cx="5308600" cy="2484437"/>
          </a:xfrm>
        </p:spPr>
        <p:txBody>
          <a:bodyPr/>
          <a:lstStyle/>
          <a:p>
            <a:r>
              <a:rPr lang="ru-RU" dirty="0">
                <a:solidFill>
                  <a:srgbClr val="4472C4"/>
                </a:solidFill>
              </a:rPr>
              <a:t>Курсовая 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A4B24CF-8850-402A-84F1-55AB8DA1BDD4}"/>
              </a:ext>
            </a:extLst>
          </p:cNvPr>
          <p:cNvSpPr/>
          <p:nvPr/>
        </p:nvSpPr>
        <p:spPr>
          <a:xfrm>
            <a:off x="5910262" y="357431"/>
            <a:ext cx="6002338" cy="600233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ECD99DC4-D4A8-4A5A-BFE9-F1F2A22F76AD}"/>
              </a:ext>
            </a:extLst>
          </p:cNvPr>
          <p:cNvSpPr txBox="1">
            <a:spLocks/>
          </p:cNvSpPr>
          <p:nvPr/>
        </p:nvSpPr>
        <p:spPr>
          <a:xfrm>
            <a:off x="4500929" y="-505475"/>
            <a:ext cx="5308600" cy="24844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работа</a:t>
            </a:r>
            <a:r>
              <a:rPr lang="ru-RU" dirty="0"/>
              <a:t> 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40790CBF-BE1B-451F-A96D-7CA6BD209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400" y="2447872"/>
            <a:ext cx="5308600" cy="2720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indent="450850"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19100" algn="l"/>
                <a:tab pos="5940425" algn="r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1.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Анализ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 и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формирование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требований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2"/>
              </a:rPr>
              <a:t> к ПО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/>
              </a:rPr>
              <a:t>2.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/>
              </a:rPr>
              <a:t>Проектирование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/>
              </a:rPr>
              <a:t>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/>
              </a:rPr>
              <a:t>программного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/>
              </a:rPr>
              <a:t>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3"/>
              </a:rPr>
              <a:t>обеспечения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2.1. Архитектура и структура проектируемого ПО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2.2. Информационная модель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/>
              </a:rPr>
              <a:t>3.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/>
              </a:rPr>
              <a:t>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/>
              </a:rPr>
              <a:t>Разработка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/>
              </a:rPr>
              <a:t>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/>
              </a:rPr>
              <a:t>программного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/>
              </a:rPr>
              <a:t>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6"/>
              </a:rPr>
              <a:t>обеспечения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3.1. Инструментальные средства разработки ПО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3.2. Описание ПО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3.3. Руководство пользователя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0"/>
              </a:rPr>
              <a:t>3.4. Тестирование ПО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/>
              </a:rPr>
              <a:t>4.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/>
              </a:rPr>
              <a:t>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/>
              </a:rPr>
              <a:t>Информационная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/>
              </a:rPr>
              <a:t>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1"/>
              </a:rPr>
              <a:t>безопасность</a:t>
            </a:r>
            <a:endParaRPr kumimoji="0" lang="ru-RU" altLang="ru-RU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2"/>
              </a:rPr>
              <a:t>5.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2"/>
              </a:rPr>
              <a:t>Расчет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2"/>
              </a:rPr>
              <a:t>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hlinkClick r:id="rId12"/>
              </a:rPr>
              <a:t>метрик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hlinkClick r:id="rId13"/>
            </a:endParaRPr>
          </a:p>
          <a:p>
            <a:pPr marL="0" marR="0" lvl="0" indent="4508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19100" algn="l"/>
                <a:tab pos="5940425" algn="r"/>
              </a:tabLst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13"/>
              </a:rPr>
              <a:t>Заключение</a:t>
            </a:r>
            <a:r>
              <a:rPr kumimoji="0" lang="ru-RU" altLang="ru-RU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039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C9E7373F-1FA7-4FE2-9D70-5E0B6F12C6B4}"/>
              </a:ext>
            </a:extLst>
          </p:cNvPr>
          <p:cNvGrpSpPr/>
          <p:nvPr/>
        </p:nvGrpSpPr>
        <p:grpSpPr>
          <a:xfrm flipH="1">
            <a:off x="181137" y="171963"/>
            <a:ext cx="11745137" cy="6139936"/>
            <a:chOff x="7283941" y="803607"/>
            <a:chExt cx="9420692" cy="4924798"/>
          </a:xfrm>
        </p:grpSpPr>
        <p:grpSp>
          <p:nvGrpSpPr>
            <p:cNvPr id="11" name="Группа 10">
              <a:extLst>
                <a:ext uri="{FF2B5EF4-FFF2-40B4-BE49-F238E27FC236}">
                  <a16:creationId xmlns:a16="http://schemas.microsoft.com/office/drawing/2014/main" id="{93A149D0-62C8-42DC-B236-BE07A31F07E7}"/>
                </a:ext>
              </a:extLst>
            </p:cNvPr>
            <p:cNvGrpSpPr/>
            <p:nvPr/>
          </p:nvGrpSpPr>
          <p:grpSpPr>
            <a:xfrm>
              <a:off x="7283941" y="803607"/>
              <a:ext cx="9352844" cy="3226601"/>
              <a:chOff x="7393355" y="1598610"/>
              <a:chExt cx="9352843" cy="3226600"/>
            </a:xfrm>
          </p:grpSpPr>
          <p:sp>
            <p:nvSpPr>
              <p:cNvPr id="14" name="Прямоугольник: скругленные углы 13">
                <a:extLst>
                  <a:ext uri="{FF2B5EF4-FFF2-40B4-BE49-F238E27FC236}">
                    <a16:creationId xmlns:a16="http://schemas.microsoft.com/office/drawing/2014/main" id="{048C364A-F17E-4296-880F-5E453893BA3C}"/>
                  </a:ext>
                </a:extLst>
              </p:cNvPr>
              <p:cNvSpPr/>
              <p:nvPr/>
            </p:nvSpPr>
            <p:spPr>
              <a:xfrm>
                <a:off x="9814537" y="1598610"/>
                <a:ext cx="2192007" cy="151923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15" name="Прямоугольник: скругленные углы 14">
                <a:extLst>
                  <a:ext uri="{FF2B5EF4-FFF2-40B4-BE49-F238E27FC236}">
                    <a16:creationId xmlns:a16="http://schemas.microsoft.com/office/drawing/2014/main" id="{1B1ACDBD-AA1F-4394-9B18-B80CD8480269}"/>
                  </a:ext>
                </a:extLst>
              </p:cNvPr>
              <p:cNvSpPr/>
              <p:nvPr/>
            </p:nvSpPr>
            <p:spPr>
              <a:xfrm>
                <a:off x="9225118" y="3301390"/>
                <a:ext cx="3560538" cy="1519238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sz="2000" b="1" i="0" dirty="0">
                    <a:solidFill>
                      <a:schemeClr val="bg1"/>
                    </a:solidFill>
                    <a:effectLst/>
                    <a:latin typeface="quote-cjk-patch"/>
                  </a:rPr>
                  <a:t>Коммуникация:</a:t>
                </a:r>
                <a:r>
                  <a:rPr lang="ru-RU" sz="2000" b="0" i="0" dirty="0">
                    <a:solidFill>
                      <a:schemeClr val="bg1"/>
                    </a:solidFill>
                    <a:effectLst/>
                    <a:latin typeface="quote-cjk-patch"/>
                  </a:rPr>
                  <a:t> Создание канала связи с сообществом через научный блог для обсуждения идей и методологий.</a:t>
                </a:r>
              </a:p>
              <a:p>
                <a:pPr algn="ctr"/>
                <a:endParaRPr lang="ru-RU" sz="2000" dirty="0">
                  <a:solidFill>
                    <a:srgbClr val="2C3E50"/>
                  </a:solidFill>
                </a:endParaRPr>
              </a:p>
            </p:txBody>
          </p:sp>
          <p:sp>
            <p:nvSpPr>
              <p:cNvPr id="16" name="Прямоугольник: усеченные противолежащие углы 15">
                <a:extLst>
                  <a:ext uri="{FF2B5EF4-FFF2-40B4-BE49-F238E27FC236}">
                    <a16:creationId xmlns:a16="http://schemas.microsoft.com/office/drawing/2014/main" id="{44EECF6B-F8E1-4F54-AE3B-DFC401365626}"/>
                  </a:ext>
                </a:extLst>
              </p:cNvPr>
              <p:cNvSpPr/>
              <p:nvPr/>
            </p:nvSpPr>
            <p:spPr>
              <a:xfrm rot="16200000">
                <a:off x="7453953" y="3240791"/>
                <a:ext cx="1519238" cy="1640433"/>
              </a:xfrm>
              <a:prstGeom prst="snip2DiagRect">
                <a:avLst>
                  <a:gd name="adj1" fmla="val 836"/>
                  <a:gd name="adj2" fmla="val 14159"/>
                </a:avLst>
              </a:prstGeom>
              <a:blipFill dpi="0" rotWithShape="0">
                <a:blip r:embed="rId3"/>
                <a:srcRect/>
                <a:stretch>
                  <a:fillRect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Прямоугольник: усеченные противолежащие углы 16">
                <a:extLst>
                  <a:ext uri="{FF2B5EF4-FFF2-40B4-BE49-F238E27FC236}">
                    <a16:creationId xmlns:a16="http://schemas.microsoft.com/office/drawing/2014/main" id="{0F5A4DF0-8981-4E53-9A03-AD9ED9BED3D3}"/>
                  </a:ext>
                </a:extLst>
              </p:cNvPr>
              <p:cNvSpPr/>
              <p:nvPr/>
            </p:nvSpPr>
            <p:spPr>
              <a:xfrm rot="5400000" flipV="1">
                <a:off x="14101974" y="2180985"/>
                <a:ext cx="1519238" cy="3769211"/>
              </a:xfrm>
              <a:prstGeom prst="snip2DiagRect">
                <a:avLst>
                  <a:gd name="adj1" fmla="val 836"/>
                  <a:gd name="adj2" fmla="val 1415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ru-RU" sz="2000" b="1" i="0" dirty="0">
                    <a:solidFill>
                      <a:schemeClr val="bg1"/>
                    </a:solidFill>
                    <a:effectLst/>
                    <a:latin typeface="quote-cjk-patch"/>
                  </a:rPr>
                  <a:t>Потребность в централизации:</a:t>
                </a:r>
                <a:r>
                  <a:rPr lang="ru-RU" sz="2000" b="0" i="0" dirty="0">
                    <a:solidFill>
                      <a:schemeClr val="bg1"/>
                    </a:solidFill>
                    <a:effectLst/>
                    <a:latin typeface="quote-cjk-patch"/>
                  </a:rPr>
                  <a:t> Необходимость структурированного хранения описаний проектов, статей и данных экспериментов в одном месте.</a:t>
                </a:r>
              </a:p>
              <a:p>
                <a:pPr algn="ctr"/>
                <a:endParaRPr lang="ru-RU" sz="2000" dirty="0">
                  <a:solidFill>
                    <a:srgbClr val="2C3E50"/>
                  </a:solidFill>
                </a:endParaRPr>
              </a:p>
            </p:txBody>
          </p:sp>
        </p:grpSp>
        <p:sp>
          <p:nvSpPr>
            <p:cNvPr id="12" name="Прямоугольник: усеченные противолежащие углы 11">
              <a:extLst>
                <a:ext uri="{FF2B5EF4-FFF2-40B4-BE49-F238E27FC236}">
                  <a16:creationId xmlns:a16="http://schemas.microsoft.com/office/drawing/2014/main" id="{882F9ED9-0B94-4ED0-AFC7-F5BE7082D688}"/>
                </a:ext>
              </a:extLst>
            </p:cNvPr>
            <p:cNvSpPr/>
            <p:nvPr/>
          </p:nvSpPr>
          <p:spPr>
            <a:xfrm rot="16200000">
              <a:off x="8976308" y="3314090"/>
              <a:ext cx="1519238" cy="3309392"/>
            </a:xfrm>
            <a:prstGeom prst="snip2DiagRect">
              <a:avLst>
                <a:gd name="adj1" fmla="val 836"/>
                <a:gd name="adj2" fmla="val 14159"/>
              </a:avLst>
            </a:prstGeom>
            <a:blipFill dpi="0" rotWithShape="0">
              <a:blip r:embed="rId4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3" name="Прямоугольник: усеченные противолежащие углы 12">
              <a:extLst>
                <a:ext uri="{FF2B5EF4-FFF2-40B4-BE49-F238E27FC236}">
                  <a16:creationId xmlns:a16="http://schemas.microsoft.com/office/drawing/2014/main" id="{1BBCE688-3DB4-458E-8175-8B970222DEA6}"/>
                </a:ext>
              </a:extLst>
            </p:cNvPr>
            <p:cNvSpPr/>
            <p:nvPr/>
          </p:nvSpPr>
          <p:spPr>
            <a:xfrm rot="5400000" flipV="1">
              <a:off x="13383674" y="2407445"/>
              <a:ext cx="1519238" cy="5122680"/>
            </a:xfrm>
            <a:prstGeom prst="snip2DiagRect">
              <a:avLst>
                <a:gd name="adj1" fmla="val 836"/>
                <a:gd name="adj2" fmla="val 14159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ru-RU" sz="2000" b="1" i="0" dirty="0">
                  <a:solidFill>
                    <a:schemeClr val="bg1"/>
                  </a:solidFill>
                  <a:effectLst/>
                  <a:latin typeface="quote-cjk-patch"/>
                </a:rPr>
                <a:t>Интерактивность:</a:t>
              </a:r>
              <a:r>
                <a:rPr lang="ru-RU" sz="2000" b="0" i="0" dirty="0">
                  <a:solidFill>
                    <a:schemeClr val="bg1"/>
                  </a:solidFill>
                  <a:effectLst/>
                  <a:latin typeface="quote-cjk-patch"/>
                </a:rPr>
                <a:t> Важность </a:t>
              </a:r>
            </a:p>
            <a:p>
              <a:pPr algn="ctr"/>
              <a:r>
                <a:rPr lang="ru-RU" sz="2000" b="0" i="0" dirty="0">
                  <a:solidFill>
                    <a:schemeClr val="bg1"/>
                  </a:solidFill>
                  <a:effectLst/>
                  <a:latin typeface="quote-cjk-patch"/>
                </a:rPr>
                <a:t>наглядной демонстрации результатов </a:t>
              </a:r>
            </a:p>
            <a:p>
              <a:pPr algn="ctr"/>
              <a:r>
                <a:rPr lang="ru-RU" sz="2000" b="0" i="0" dirty="0">
                  <a:solidFill>
                    <a:schemeClr val="bg1"/>
                  </a:solidFill>
                  <a:effectLst/>
                  <a:latin typeface="quote-cjk-patch"/>
                </a:rPr>
                <a:t>испытаний роботов (вместо статичных визиток/страниц).</a:t>
              </a:r>
            </a:p>
            <a:p>
              <a:pPr algn="just"/>
              <a:endParaRPr lang="ru-RU" sz="2000" dirty="0">
                <a:solidFill>
                  <a:srgbClr val="2C3E50"/>
                </a:solidFill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71133-1B2F-4550-A449-F7E96683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36" y="120769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2C3E50"/>
                </a:solidFill>
                <a:latin typeface="Arial Black" panose="020B0A04020102020204" pitchFamily="34" charset="0"/>
              </a:rPr>
              <a:t>Актуальность</a:t>
            </a:r>
            <a:br>
              <a:rPr lang="ru-RU" b="1" dirty="0">
                <a:solidFill>
                  <a:srgbClr val="2C3E50"/>
                </a:solidFill>
                <a:latin typeface="Arial Black" panose="020B0A04020102020204" pitchFamily="34" charset="0"/>
              </a:rPr>
            </a:br>
            <a:r>
              <a:rPr lang="ru-RU" b="1" dirty="0">
                <a:solidFill>
                  <a:srgbClr val="2C3E50"/>
                </a:solidFill>
                <a:latin typeface="Arial Black" panose="020B0A04020102020204" pitchFamily="34" charset="0"/>
              </a:rPr>
              <a:t>разработки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5DDF12EA-DE66-4E10-AC76-5F3A98FCC1D7}"/>
              </a:ext>
            </a:extLst>
          </p:cNvPr>
          <p:cNvSpPr/>
          <p:nvPr/>
        </p:nvSpPr>
        <p:spPr>
          <a:xfrm>
            <a:off x="670560" y="-2042160"/>
            <a:ext cx="822960" cy="822960"/>
          </a:xfrm>
          <a:prstGeom prst="ellipse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9C587B1-C03C-42AC-A239-BE139F6056F3}"/>
              </a:ext>
            </a:extLst>
          </p:cNvPr>
          <p:cNvSpPr/>
          <p:nvPr/>
        </p:nvSpPr>
        <p:spPr>
          <a:xfrm>
            <a:off x="1645920" y="-2042160"/>
            <a:ext cx="822960" cy="822960"/>
          </a:xfrm>
          <a:prstGeom prst="ellipse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F540BB9-36B7-43A3-8FA5-3DB26A8C7794}"/>
              </a:ext>
            </a:extLst>
          </p:cNvPr>
          <p:cNvSpPr/>
          <p:nvPr/>
        </p:nvSpPr>
        <p:spPr>
          <a:xfrm>
            <a:off x="2621280" y="-2042160"/>
            <a:ext cx="822960" cy="822960"/>
          </a:xfrm>
          <a:prstGeom prst="ellipse">
            <a:avLst/>
          </a:prstGeom>
          <a:solidFill>
            <a:srgbClr val="DBE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D25EBCE6-2718-4879-9098-97361192E6A3}"/>
              </a:ext>
            </a:extLst>
          </p:cNvPr>
          <p:cNvSpPr/>
          <p:nvPr/>
        </p:nvSpPr>
        <p:spPr>
          <a:xfrm>
            <a:off x="3596640" y="-2038005"/>
            <a:ext cx="822960" cy="822960"/>
          </a:xfrm>
          <a:prstGeom prst="ellipse">
            <a:avLst/>
          </a:prstGeom>
          <a:solidFill>
            <a:srgbClr val="F9F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806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33C48-EA8E-4E01-93F9-10F420F17A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0782" y="-398417"/>
            <a:ext cx="5143725" cy="765483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71133-1B2F-4550-A449-F7E96683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45" y="487802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Актуальность</a:t>
            </a:r>
            <a:b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</a:br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разработки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5DDF12EA-DE66-4E10-AC76-5F3A98FCC1D7}"/>
              </a:ext>
            </a:extLst>
          </p:cNvPr>
          <p:cNvSpPr/>
          <p:nvPr/>
        </p:nvSpPr>
        <p:spPr>
          <a:xfrm>
            <a:off x="670560" y="-2042160"/>
            <a:ext cx="822960" cy="822960"/>
          </a:xfrm>
          <a:prstGeom prst="ellipse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9C587B1-C03C-42AC-A239-BE139F6056F3}"/>
              </a:ext>
            </a:extLst>
          </p:cNvPr>
          <p:cNvSpPr/>
          <p:nvPr/>
        </p:nvSpPr>
        <p:spPr>
          <a:xfrm>
            <a:off x="1645920" y="-2042160"/>
            <a:ext cx="822960" cy="822960"/>
          </a:xfrm>
          <a:prstGeom prst="ellipse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F540BB9-36B7-43A3-8FA5-3DB26A8C7794}"/>
              </a:ext>
            </a:extLst>
          </p:cNvPr>
          <p:cNvSpPr/>
          <p:nvPr/>
        </p:nvSpPr>
        <p:spPr>
          <a:xfrm>
            <a:off x="2621280" y="-2042160"/>
            <a:ext cx="822960" cy="822960"/>
          </a:xfrm>
          <a:prstGeom prst="ellipse">
            <a:avLst/>
          </a:prstGeom>
          <a:solidFill>
            <a:srgbClr val="DBE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D25EBCE6-2718-4879-9098-97361192E6A3}"/>
              </a:ext>
            </a:extLst>
          </p:cNvPr>
          <p:cNvSpPr/>
          <p:nvPr/>
        </p:nvSpPr>
        <p:spPr>
          <a:xfrm>
            <a:off x="3596640" y="-2038005"/>
            <a:ext cx="822960" cy="822960"/>
          </a:xfrm>
          <a:prstGeom prst="ellipse">
            <a:avLst/>
          </a:prstGeom>
          <a:solidFill>
            <a:srgbClr val="F9F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5F18EF-63D2-4106-818A-61B20135362C}"/>
              </a:ext>
            </a:extLst>
          </p:cNvPr>
          <p:cNvSpPr txBox="1"/>
          <p:nvPr/>
        </p:nvSpPr>
        <p:spPr>
          <a:xfrm>
            <a:off x="942340" y="2394469"/>
            <a:ext cx="61315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Потребность в централизации:</a:t>
            </a:r>
            <a:r>
              <a:rPr lang="ru-RU" b="0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 Необходимость структурированного хранения описаний проектов, статей и данных экспериментов в одном месте.</a:t>
            </a:r>
            <a:endParaRPr lang="en-US" b="0" i="0" dirty="0">
              <a:solidFill>
                <a:srgbClr val="2C3E5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2C3E5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Интерактивность:</a:t>
            </a:r>
            <a:r>
              <a:rPr lang="ru-RU" b="0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 Важность наглядной демонстрации результатов испытаний роботов (вместо статичных визиток/страниц).</a:t>
            </a:r>
            <a:endParaRPr lang="en-US" b="0" i="0" dirty="0">
              <a:solidFill>
                <a:srgbClr val="2C3E5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2C3E5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Коммуникация:</a:t>
            </a:r>
            <a:r>
              <a:rPr lang="ru-RU" b="0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 Создание канала связи с сообществом через научный блог для обсуждения идей и методологий.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C134A4-E35B-4B53-9685-E351EDB6E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605" y="424647"/>
            <a:ext cx="1620795" cy="162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171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73B6900-F837-458F-A777-75F05D1E0F4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9A33C48-EA8E-4E01-93F9-10F420F17A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137" y="7426337"/>
            <a:ext cx="5143725" cy="765483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971133-1B2F-4550-A449-F7E96683A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545" y="487802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Актуальность</a:t>
            </a:r>
            <a:b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</a:br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разработки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5DDF12EA-DE66-4E10-AC76-5F3A98FCC1D7}"/>
              </a:ext>
            </a:extLst>
          </p:cNvPr>
          <p:cNvSpPr/>
          <p:nvPr/>
        </p:nvSpPr>
        <p:spPr>
          <a:xfrm>
            <a:off x="670560" y="-2042160"/>
            <a:ext cx="822960" cy="822960"/>
          </a:xfrm>
          <a:prstGeom prst="ellipse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9C587B1-C03C-42AC-A239-BE139F6056F3}"/>
              </a:ext>
            </a:extLst>
          </p:cNvPr>
          <p:cNvSpPr/>
          <p:nvPr/>
        </p:nvSpPr>
        <p:spPr>
          <a:xfrm>
            <a:off x="1645920" y="-2042160"/>
            <a:ext cx="822960" cy="822960"/>
          </a:xfrm>
          <a:prstGeom prst="ellipse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AF540BB9-36B7-43A3-8FA5-3DB26A8C7794}"/>
              </a:ext>
            </a:extLst>
          </p:cNvPr>
          <p:cNvSpPr/>
          <p:nvPr/>
        </p:nvSpPr>
        <p:spPr>
          <a:xfrm>
            <a:off x="2621280" y="-2042160"/>
            <a:ext cx="822960" cy="822960"/>
          </a:xfrm>
          <a:prstGeom prst="ellipse">
            <a:avLst/>
          </a:prstGeom>
          <a:solidFill>
            <a:srgbClr val="DBE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D25EBCE6-2718-4879-9098-97361192E6A3}"/>
              </a:ext>
            </a:extLst>
          </p:cNvPr>
          <p:cNvSpPr/>
          <p:nvPr/>
        </p:nvSpPr>
        <p:spPr>
          <a:xfrm>
            <a:off x="3596640" y="-2038005"/>
            <a:ext cx="822960" cy="822960"/>
          </a:xfrm>
          <a:prstGeom prst="ellipse">
            <a:avLst/>
          </a:prstGeom>
          <a:solidFill>
            <a:srgbClr val="F9F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C5F18EF-63D2-4106-818A-61B20135362C}"/>
              </a:ext>
            </a:extLst>
          </p:cNvPr>
          <p:cNvSpPr txBox="1"/>
          <p:nvPr/>
        </p:nvSpPr>
        <p:spPr>
          <a:xfrm>
            <a:off x="942340" y="2394469"/>
            <a:ext cx="61315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Потребность в централизации:</a:t>
            </a:r>
            <a:r>
              <a:rPr lang="ru-RU" b="0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 Необходимость структурированного хранения описаний проектов, статей и данных экспериментов в одном месте.</a:t>
            </a:r>
            <a:endParaRPr lang="en-US" b="0" i="0" dirty="0">
              <a:solidFill>
                <a:srgbClr val="2C3E5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2C3E5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Интерактивность:</a:t>
            </a:r>
            <a:r>
              <a:rPr lang="ru-RU" b="0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 Важность наглядной демонстрации результатов испытаний роботов (вместо статичных визиток/страниц).</a:t>
            </a:r>
            <a:endParaRPr lang="en-US" b="0" i="0" dirty="0">
              <a:solidFill>
                <a:srgbClr val="2C3E5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ru-RU" b="0" i="0" dirty="0">
              <a:solidFill>
                <a:srgbClr val="2C3E50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Коммуникация:</a:t>
            </a:r>
            <a:r>
              <a:rPr lang="ru-RU" b="0" i="0" dirty="0">
                <a:solidFill>
                  <a:srgbClr val="2C3E50"/>
                </a:solidFill>
                <a:effectLst/>
                <a:latin typeface="Century Gothic" panose="020B0502020202020204" pitchFamily="34" charset="0"/>
              </a:rPr>
              <a:t> Создание канала связи с сообществом через научный блог для обсуждения идей и методологий.</a:t>
            </a: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7C134A4-E35B-4B53-9685-E351EDB6E7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605" y="340185"/>
            <a:ext cx="1620795" cy="162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333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один скругленный угол 1">
            <a:extLst>
              <a:ext uri="{FF2B5EF4-FFF2-40B4-BE49-F238E27FC236}">
                <a16:creationId xmlns:a16="http://schemas.microsoft.com/office/drawing/2014/main" id="{C565BBA6-387D-4C0A-BEE3-ED841914FA92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F6A0095-A7CF-49F1-9FC5-955D8254A994}"/>
              </a:ext>
            </a:extLst>
          </p:cNvPr>
          <p:cNvSpPr/>
          <p:nvPr/>
        </p:nvSpPr>
        <p:spPr>
          <a:xfrm>
            <a:off x="0" y="5752618"/>
            <a:ext cx="12192000" cy="1105382"/>
          </a:xfrm>
          <a:prstGeom prst="rect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45ABC7C6-E2E1-4DA9-8F71-258A70671656}"/>
              </a:ext>
            </a:extLst>
          </p:cNvPr>
          <p:cNvSpPr/>
          <p:nvPr/>
        </p:nvSpPr>
        <p:spPr>
          <a:xfrm>
            <a:off x="569953" y="2032434"/>
            <a:ext cx="4572000" cy="2926080"/>
          </a:xfrm>
          <a:prstGeom prst="roundRect">
            <a:avLst/>
          </a:prstGeom>
          <a:solidFill>
            <a:srgbClr val="F5E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24675E67-F4A6-4443-A50D-820157ED726F}"/>
              </a:ext>
            </a:extLst>
          </p:cNvPr>
          <p:cNvSpPr/>
          <p:nvPr/>
        </p:nvSpPr>
        <p:spPr>
          <a:xfrm>
            <a:off x="5873884" y="2032434"/>
            <a:ext cx="5759235" cy="2926080"/>
          </a:xfrm>
          <a:prstGeom prst="round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150760A-C9B2-476D-8FA9-A8018A4D3439}"/>
              </a:ext>
            </a:extLst>
          </p:cNvPr>
          <p:cNvSpPr/>
          <p:nvPr/>
        </p:nvSpPr>
        <p:spPr>
          <a:xfrm>
            <a:off x="897858" y="2270831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77B8A"/>
                </a:solidFill>
                <a:latin typeface="Century Gothic" panose="020B0502020202020204" pitchFamily="34" charset="0"/>
                <a:cs typeface="Times New Roman" panose="02020603050405020304" pitchFamily="18" charset="0"/>
              </a:rPr>
              <a:t>ПРОБЛЕМА</a:t>
            </a: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A7D5A00-8483-44E0-BE93-A70DCA2088CA}"/>
              </a:ext>
            </a:extLst>
          </p:cNvPr>
          <p:cNvSpPr/>
          <p:nvPr/>
        </p:nvSpPr>
        <p:spPr>
          <a:xfrm>
            <a:off x="806418" y="2636591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A"/>
                </a:solidFill>
                <a:latin typeface="Century Gothic" panose="020B0502020202020204" pitchFamily="34" charset="0"/>
                <a:ea typeface="Arial" pitchFamily="34" charset="-122"/>
                <a:cs typeface="Arial" panose="020B0604020202020204" pitchFamily="34" charset="0"/>
              </a:rPr>
              <a:t>Нет единого места для хранения данных группы</a:t>
            </a:r>
            <a:endParaRPr lang="en-US" sz="1600" dirty="0">
              <a:solidFill>
                <a:srgbClr val="577B8A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A"/>
                </a:solidFill>
                <a:latin typeface="Century Gothic" panose="020B0502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Статичные визитки не отражают инновационность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A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Отсутствует интерактивная демонстрация экспериментов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9FC697C9-2CFA-4B8D-A111-12686C23B595}"/>
              </a:ext>
            </a:extLst>
          </p:cNvPr>
          <p:cNvSpPr/>
          <p:nvPr/>
        </p:nvSpPr>
        <p:spPr>
          <a:xfrm>
            <a:off x="6117723" y="2270831"/>
            <a:ext cx="407464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577B8E"/>
                </a:solidFill>
                <a:latin typeface="Century Gothic" panose="020B0502020202020204" pitchFamily="34" charset="0"/>
              </a:rPr>
              <a:t>РЕШЕНИЕ</a:t>
            </a:r>
            <a:endParaRPr lang="en-US" sz="2000" b="1" dirty="0">
              <a:solidFill>
                <a:srgbClr val="577B8E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79612011-6B91-4D1F-BC2D-26FADE77E978}"/>
              </a:ext>
            </a:extLst>
          </p:cNvPr>
          <p:cNvSpPr/>
          <p:nvPr/>
        </p:nvSpPr>
        <p:spPr>
          <a:xfrm>
            <a:off x="6087243" y="2636591"/>
            <a:ext cx="528924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Многофункциональный сайт-портфолио на PHP/MySQL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Централизованное хранение: статьи, проекты, блог, данные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Ролевая модель: администратор + посетитель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577B8E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Адаптивный дизайн для любых устройств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B752CE-A343-45B7-B72B-4305BE21BE56}"/>
              </a:ext>
            </a:extLst>
          </p:cNvPr>
          <p:cNvSpPr txBox="1"/>
          <p:nvPr/>
        </p:nvSpPr>
        <p:spPr>
          <a:xfrm>
            <a:off x="569953" y="5952941"/>
            <a:ext cx="95726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F9F9F9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Без современного веб-ресурса научная группа теряет видимость, партнёров и возможность обмена данными</a:t>
            </a:r>
            <a:endParaRPr lang="ru-RU" dirty="0">
              <a:solidFill>
                <a:srgbClr val="F9F9F9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CD6258C5-DF54-4FA9-89A2-97C320900171}"/>
              </a:ext>
            </a:extLst>
          </p:cNvPr>
          <p:cNvSpPr/>
          <p:nvPr/>
        </p:nvSpPr>
        <p:spPr>
          <a:xfrm>
            <a:off x="1722120" y="-2042160"/>
            <a:ext cx="822960" cy="822960"/>
          </a:xfrm>
          <a:prstGeom prst="ellipse">
            <a:avLst/>
          </a:prstGeom>
          <a:solidFill>
            <a:srgbClr val="F9F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1579D518-DF78-497E-9C08-A8F0E0622C83}"/>
              </a:ext>
            </a:extLst>
          </p:cNvPr>
          <p:cNvSpPr/>
          <p:nvPr/>
        </p:nvSpPr>
        <p:spPr>
          <a:xfrm>
            <a:off x="670560" y="-2042160"/>
            <a:ext cx="822960" cy="822960"/>
          </a:xfrm>
          <a:prstGeom prst="ellipse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FA82F0C7-AAEE-4066-8BAE-130228FEA464}"/>
              </a:ext>
            </a:extLst>
          </p:cNvPr>
          <p:cNvGrpSpPr/>
          <p:nvPr/>
        </p:nvGrpSpPr>
        <p:grpSpPr>
          <a:xfrm>
            <a:off x="556360" y="-112281"/>
            <a:ext cx="10515600" cy="1325563"/>
            <a:chOff x="509286" y="256139"/>
            <a:chExt cx="10515600" cy="1325563"/>
          </a:xfrm>
        </p:grpSpPr>
        <p:sp>
          <p:nvSpPr>
            <p:cNvPr id="4" name="Заголовок 1">
              <a:extLst>
                <a:ext uri="{FF2B5EF4-FFF2-40B4-BE49-F238E27FC236}">
                  <a16:creationId xmlns:a16="http://schemas.microsoft.com/office/drawing/2014/main" id="{048D9CFF-0B98-4278-99E3-06D767ACBA8A}"/>
                </a:ext>
              </a:extLst>
            </p:cNvPr>
            <p:cNvSpPr txBox="1">
              <a:spLocks/>
            </p:cNvSpPr>
            <p:nvPr/>
          </p:nvSpPr>
          <p:spPr>
            <a:xfrm>
              <a:off x="509286" y="256139"/>
              <a:ext cx="1051560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>
                  <a:solidFill>
                    <a:srgbClr val="2C3E50"/>
                  </a:solidFill>
                  <a:latin typeface="Century Gothic" panose="020B0502020202020204" pitchFamily="34" charset="0"/>
                  <a:ea typeface="Arial Black" pitchFamily="34" charset="-122"/>
                  <a:cs typeface="Arial Black" pitchFamily="34" charset="-120"/>
                </a:rPr>
                <a:t>Актуальность темы</a:t>
              </a:r>
              <a:endParaRPr lang="en-US" dirty="0">
                <a:solidFill>
                  <a:srgbClr val="2C3E50"/>
                </a:solidFill>
                <a:latin typeface="Century Gothic" panose="020B0502020202020204" pitchFamily="34" charset="0"/>
              </a:endParaRP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E93AC3EC-21C7-4DE7-8F1D-D4C8E98971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0516" y="425402"/>
              <a:ext cx="912617" cy="912617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812311C0-AF87-42B7-BC66-8AC3C73A5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71853" y="473666"/>
              <a:ext cx="847897" cy="847897"/>
            </a:xfrm>
            <a:prstGeom prst="rect">
              <a:avLst/>
            </a:prstGeom>
          </p:spPr>
        </p:pic>
      </p:grpSp>
      <p:pic>
        <p:nvPicPr>
          <p:cNvPr id="18" name="Picture 4">
            <a:extLst>
              <a:ext uri="{FF2B5EF4-FFF2-40B4-BE49-F238E27FC236}">
                <a16:creationId xmlns:a16="http://schemas.microsoft.com/office/drawing/2014/main" id="{FADB8467-267A-4648-AFF2-889A8BEFA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4632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Овал 22">
            <a:extLst>
              <a:ext uri="{FF2B5EF4-FFF2-40B4-BE49-F238E27FC236}">
                <a16:creationId xmlns:a16="http://schemas.microsoft.com/office/drawing/2014/main" id="{196B47A2-9A0F-4102-B607-5DDD649A5E81}"/>
              </a:ext>
            </a:extLst>
          </p:cNvPr>
          <p:cNvSpPr/>
          <p:nvPr/>
        </p:nvSpPr>
        <p:spPr>
          <a:xfrm>
            <a:off x="-4693920" y="-1143000"/>
            <a:ext cx="822960" cy="822960"/>
          </a:xfrm>
          <a:prstGeom prst="ellipse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894061E8-89E6-4087-90CA-E46B4A154CAB}"/>
              </a:ext>
            </a:extLst>
          </p:cNvPr>
          <p:cNvSpPr/>
          <p:nvPr/>
        </p:nvSpPr>
        <p:spPr>
          <a:xfrm>
            <a:off x="-3718560" y="-1143000"/>
            <a:ext cx="822960" cy="822960"/>
          </a:xfrm>
          <a:prstGeom prst="ellipse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34357482-7D02-448E-9A7D-8F6492660415}"/>
              </a:ext>
            </a:extLst>
          </p:cNvPr>
          <p:cNvSpPr/>
          <p:nvPr/>
        </p:nvSpPr>
        <p:spPr>
          <a:xfrm>
            <a:off x="-2743200" y="-1143000"/>
            <a:ext cx="822960" cy="822960"/>
          </a:xfrm>
          <a:prstGeom prst="ellipse">
            <a:avLst/>
          </a:prstGeom>
          <a:solidFill>
            <a:srgbClr val="DBE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68FDC083-23C5-4473-964B-1CC11DC9200B}"/>
              </a:ext>
            </a:extLst>
          </p:cNvPr>
          <p:cNvSpPr/>
          <p:nvPr/>
        </p:nvSpPr>
        <p:spPr>
          <a:xfrm>
            <a:off x="-1767840" y="-1138845"/>
            <a:ext cx="822960" cy="822960"/>
          </a:xfrm>
          <a:prstGeom prst="ellipse">
            <a:avLst/>
          </a:prstGeom>
          <a:solidFill>
            <a:srgbClr val="F9F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5378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2758CC2-8190-4694-BCAB-66CDB830FCBE}"/>
              </a:ext>
            </a:extLst>
          </p:cNvPr>
          <p:cNvSpPr/>
          <p:nvPr/>
        </p:nvSpPr>
        <p:spPr>
          <a:xfrm>
            <a:off x="693821" y="1334788"/>
            <a:ext cx="10765116" cy="1227661"/>
          </a:xfrm>
          <a:prstGeom prst="roundRect">
            <a:avLst/>
          </a:prstGeom>
          <a:solidFill>
            <a:srgbClr val="F5E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: скругленные верхние углы 12">
            <a:extLst>
              <a:ext uri="{FF2B5EF4-FFF2-40B4-BE49-F238E27FC236}">
                <a16:creationId xmlns:a16="http://schemas.microsoft.com/office/drawing/2014/main" id="{BBAB3284-3196-4C84-9BBB-7DBDAA887E85}"/>
              </a:ext>
            </a:extLst>
          </p:cNvPr>
          <p:cNvSpPr/>
          <p:nvPr/>
        </p:nvSpPr>
        <p:spPr>
          <a:xfrm rot="16200000">
            <a:off x="580035" y="1437851"/>
            <a:ext cx="1227660" cy="1000085"/>
          </a:xfrm>
          <a:prstGeom prst="round2SameRect">
            <a:avLst>
              <a:gd name="adj1" fmla="val 27375"/>
              <a:gd name="adj2" fmla="val 0"/>
            </a:avLst>
          </a:prstGeom>
          <a:solidFill>
            <a:srgbClr val="577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ru-RU" sz="4000" dirty="0"/>
              <a:t>1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6CF66B2-9879-4D64-B513-C63B33C4D81C}"/>
              </a:ext>
            </a:extLst>
          </p:cNvPr>
          <p:cNvSpPr/>
          <p:nvPr/>
        </p:nvSpPr>
        <p:spPr>
          <a:xfrm>
            <a:off x="0" y="5752618"/>
            <a:ext cx="12192000" cy="110538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89C8B469-84B0-46B6-9550-B2F2A685F2BF}"/>
              </a:ext>
            </a:extLst>
          </p:cNvPr>
          <p:cNvSpPr/>
          <p:nvPr/>
        </p:nvSpPr>
        <p:spPr>
          <a:xfrm>
            <a:off x="693821" y="4265175"/>
            <a:ext cx="10765116" cy="1227661"/>
          </a:xfrm>
          <a:prstGeom prst="roundRect">
            <a:avLst/>
          </a:prstGeom>
          <a:solidFill>
            <a:srgbClr val="F5E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7" name="Прямоугольник: скругленные верхние углы 16">
            <a:extLst>
              <a:ext uri="{FF2B5EF4-FFF2-40B4-BE49-F238E27FC236}">
                <a16:creationId xmlns:a16="http://schemas.microsoft.com/office/drawing/2014/main" id="{11F91AF2-DE6A-4B2B-856D-468E82AC4D2B}"/>
              </a:ext>
            </a:extLst>
          </p:cNvPr>
          <p:cNvSpPr/>
          <p:nvPr/>
        </p:nvSpPr>
        <p:spPr>
          <a:xfrm rot="16200000">
            <a:off x="580035" y="4376476"/>
            <a:ext cx="1227660" cy="1000085"/>
          </a:xfrm>
          <a:prstGeom prst="round2SameRect">
            <a:avLst>
              <a:gd name="adj1" fmla="val 27375"/>
              <a:gd name="adj2" fmla="val 0"/>
            </a:avLst>
          </a:prstGeom>
          <a:solidFill>
            <a:srgbClr val="577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ru-RU" sz="4000" dirty="0"/>
              <a:t>3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67E0ACA-BDC0-499A-B2BD-8C26922CCEBB}"/>
              </a:ext>
            </a:extLst>
          </p:cNvPr>
          <p:cNvSpPr/>
          <p:nvPr/>
        </p:nvSpPr>
        <p:spPr>
          <a:xfrm>
            <a:off x="693821" y="2745562"/>
            <a:ext cx="10765116" cy="1227658"/>
          </a:xfrm>
          <a:prstGeom prst="roundRect">
            <a:avLst/>
          </a:prstGeom>
          <a:solidFill>
            <a:srgbClr val="F5EF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верхние углы 14">
            <a:extLst>
              <a:ext uri="{FF2B5EF4-FFF2-40B4-BE49-F238E27FC236}">
                <a16:creationId xmlns:a16="http://schemas.microsoft.com/office/drawing/2014/main" id="{A5A0A3E5-6DA0-42FE-B8DA-2C26C9C74169}"/>
              </a:ext>
            </a:extLst>
          </p:cNvPr>
          <p:cNvSpPr/>
          <p:nvPr/>
        </p:nvSpPr>
        <p:spPr>
          <a:xfrm rot="16200000">
            <a:off x="580036" y="2860182"/>
            <a:ext cx="1227658" cy="1000085"/>
          </a:xfrm>
          <a:prstGeom prst="round2SameRect">
            <a:avLst>
              <a:gd name="adj1" fmla="val 27375"/>
              <a:gd name="adj2" fmla="val 0"/>
            </a:avLst>
          </a:prstGeom>
          <a:solidFill>
            <a:srgbClr val="577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ru-RU" sz="4000" dirty="0"/>
              <a:t>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381214B-36FD-4615-91A3-0D0E9CBBC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29" y="5989587"/>
            <a:ext cx="12104572" cy="50328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Структура</a:t>
            </a:r>
            <a:r>
              <a:rPr lang="en-US" sz="1800" b="1" dirty="0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 </a:t>
            </a:r>
            <a:r>
              <a:rPr lang="en-US" sz="1800" b="1" dirty="0" err="1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проекта</a:t>
            </a:r>
            <a:r>
              <a:rPr lang="en-US" sz="1800" b="1" dirty="0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: /admin/ · /assets/</a:t>
            </a:r>
            <a:r>
              <a:rPr lang="en-US" sz="1800" b="1" dirty="0" err="1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css</a:t>
            </a:r>
            <a:r>
              <a:rPr lang="en-US" sz="1800" b="1" dirty="0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/ · /assets/</a:t>
            </a:r>
            <a:r>
              <a:rPr lang="en-US" sz="1800" b="1" dirty="0" err="1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js</a:t>
            </a:r>
            <a:r>
              <a:rPr lang="en-US" sz="1800" b="1" dirty="0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/ · /</a:t>
            </a:r>
            <a:r>
              <a:rPr lang="en-US" sz="1800" b="1" dirty="0" err="1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obschee</a:t>
            </a:r>
            <a:r>
              <a:rPr lang="en-US" sz="1800" b="1" dirty="0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/ · </a:t>
            </a:r>
            <a:r>
              <a:rPr lang="en-US" sz="1800" b="1" dirty="0" err="1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index.php</a:t>
            </a:r>
            <a:r>
              <a:rPr lang="en-US" sz="1800" b="1" dirty="0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 · </a:t>
            </a:r>
            <a:r>
              <a:rPr lang="en-US" sz="1800" b="1" dirty="0" err="1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config.php</a:t>
            </a:r>
            <a:r>
              <a:rPr lang="en-US" sz="1800" b="1" dirty="0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 · </a:t>
            </a:r>
            <a:r>
              <a:rPr lang="en-US" sz="1800" b="1" dirty="0" err="1">
                <a:solidFill>
                  <a:srgbClr val="F9F9F9"/>
                </a:solidFill>
                <a:latin typeface="Century Gothic" panose="020B0502020202020204" pitchFamily="34" charset="0"/>
                <a:cs typeface="Arial" pitchFamily="34" charset="-120"/>
              </a:rPr>
              <a:t>database.php</a:t>
            </a:r>
            <a:endParaRPr lang="en-US" sz="1800" b="1" dirty="0">
              <a:solidFill>
                <a:srgbClr val="F9F9F9"/>
              </a:solidFill>
              <a:latin typeface="Century Gothic" panose="020B0502020202020204" pitchFamily="34" charset="0"/>
              <a:cs typeface="Arial" pitchFamily="34" charset="-120"/>
            </a:endParaRPr>
          </a:p>
        </p:txBody>
      </p:sp>
      <p:sp>
        <p:nvSpPr>
          <p:cNvPr id="4" name="Прямоугольник: один скругленный угол 3">
            <a:extLst>
              <a:ext uri="{FF2B5EF4-FFF2-40B4-BE49-F238E27FC236}">
                <a16:creationId xmlns:a16="http://schemas.microsoft.com/office/drawing/2014/main" id="{B895E85D-F9FF-4017-B60D-19EB1E6D8E1B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B39DF2-3583-427D-A46E-6508BCA7F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821" y="0"/>
            <a:ext cx="10515600" cy="1087095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solidFill>
                  <a:srgbClr val="2C3E50"/>
                </a:solidFill>
                <a:latin typeface="Century Gothic" panose="020B0502020202020204" pitchFamily="34" charset="0"/>
              </a:rPr>
              <a:t>Архитектура</a:t>
            </a:r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</a:rPr>
              <a:t> </a:t>
            </a:r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ПО</a:t>
            </a:r>
            <a:endParaRPr lang="en-US" b="1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B55B5114-06D1-4E61-AD35-DA7F58903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798986" y="-258728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C3E69B-FDDD-49ED-8409-FE5EFDE331C0}"/>
              </a:ext>
            </a:extLst>
          </p:cNvPr>
          <p:cNvSpPr txBox="1"/>
          <p:nvPr/>
        </p:nvSpPr>
        <p:spPr>
          <a:xfrm>
            <a:off x="1801463" y="1324063"/>
            <a:ext cx="9388337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800" dirty="0">
                <a:solidFill>
                  <a:srgbClr val="2F415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 (Модель): Классы и функции PHP, отвечающие за непосредственную работу с данными в MySQL (SQL-запросы).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D9B951-12C9-4D43-AEA0-095CE52FEAF4}"/>
              </a:ext>
            </a:extLst>
          </p:cNvPr>
          <p:cNvSpPr txBox="1"/>
          <p:nvPr/>
        </p:nvSpPr>
        <p:spPr>
          <a:xfrm>
            <a:off x="1812549" y="4222697"/>
            <a:ext cx="9396872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800" dirty="0" err="1">
                <a:solidFill>
                  <a:srgbClr val="2F415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Controller</a:t>
            </a:r>
            <a:r>
              <a:rPr lang="ru-RU" sz="1800" dirty="0">
                <a:solidFill>
                  <a:srgbClr val="2F415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(Контроллер): PHP-скрипты (например, </a:t>
            </a:r>
            <a:r>
              <a:rPr lang="ru-RU" sz="1800" dirty="0" err="1">
                <a:solidFill>
                  <a:srgbClr val="2F415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index.php</a:t>
            </a:r>
            <a:r>
              <a:rPr lang="ru-RU" sz="1800" dirty="0">
                <a:solidFill>
                  <a:srgbClr val="2F415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1800" dirty="0" err="1">
                <a:solidFill>
                  <a:srgbClr val="2F415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admin.php</a:t>
            </a:r>
            <a:r>
              <a:rPr lang="ru-RU" sz="1800" dirty="0">
                <a:solidFill>
                  <a:srgbClr val="2F415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которые принимают входящие HTTP-запросы, вызывают соответствующие методы для обработки данных и передают результат пользователю.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CAD2CB-7095-4355-A128-E5CFA12F6F2A}"/>
              </a:ext>
            </a:extLst>
          </p:cNvPr>
          <p:cNvSpPr txBox="1"/>
          <p:nvPr/>
        </p:nvSpPr>
        <p:spPr>
          <a:xfrm>
            <a:off x="1801463" y="2744728"/>
            <a:ext cx="939687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ru-RU" sz="1800" dirty="0">
                <a:solidFill>
                  <a:srgbClr val="2F4157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View (Представление): HTML-страницы, которые наполняются данными, полученными от контроллера.</a:t>
            </a:r>
          </a:p>
        </p:txBody>
      </p:sp>
    </p:spTree>
    <p:extLst>
      <p:ext uri="{BB962C8B-B14F-4D97-AF65-F5344CB8AC3E}">
        <p14:creationId xmlns:p14="http://schemas.microsoft.com/office/powerpoint/2010/main" val="250626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C02EAA5A-99E9-418E-9AEF-390D94D91B73}"/>
              </a:ext>
            </a:extLst>
          </p:cNvPr>
          <p:cNvGrpSpPr/>
          <p:nvPr/>
        </p:nvGrpSpPr>
        <p:grpSpPr>
          <a:xfrm>
            <a:off x="2379964" y="1761808"/>
            <a:ext cx="7432071" cy="4433615"/>
            <a:chOff x="2668386" y="1946841"/>
            <a:chExt cx="5303520" cy="3163824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EE35F6B9-B77B-4744-9623-13B084B40897}"/>
                </a:ext>
              </a:extLst>
            </p:cNvPr>
            <p:cNvSpPr/>
            <p:nvPr/>
          </p:nvSpPr>
          <p:spPr>
            <a:xfrm>
              <a:off x="2668386" y="1946841"/>
              <a:ext cx="5303520" cy="914400"/>
            </a:xfrm>
            <a:prstGeom prst="roundRect">
              <a:avLst/>
            </a:prstGeom>
            <a:solidFill>
              <a:srgbClr val="577C8E"/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022358A3-C326-4167-AD3B-A34C41182668}"/>
                </a:ext>
              </a:extLst>
            </p:cNvPr>
            <p:cNvSpPr/>
            <p:nvPr/>
          </p:nvSpPr>
          <p:spPr>
            <a:xfrm>
              <a:off x="2714106" y="2019993"/>
              <a:ext cx="5212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2000" b="1" dirty="0">
                  <a:solidFill>
                    <a:srgbClr val="FFFFFF"/>
                  </a:solidFill>
                  <a:latin typeface="Century Gothic" panose="020B0502020202020204" pitchFamily="34" charset="0"/>
                </a:rPr>
                <a:t>HTML · CSS · JavaScript</a:t>
              </a:r>
              <a:endParaRPr lang="en-US" sz="2000" dirty="0">
                <a:latin typeface="Century Gothic" panose="020B0502020202020204" pitchFamily="34" charset="0"/>
              </a:endParaRPr>
            </a:p>
          </p:txBody>
        </p:sp>
        <p:sp>
          <p:nvSpPr>
            <p:cNvPr id="11" name="Text 5">
              <a:extLst>
                <a:ext uri="{FF2B5EF4-FFF2-40B4-BE49-F238E27FC236}">
                  <a16:creationId xmlns:a16="http://schemas.microsoft.com/office/drawing/2014/main" id="{DE3026EA-EB81-4542-8026-8EAA697A38AF}"/>
                </a:ext>
              </a:extLst>
            </p:cNvPr>
            <p:cNvSpPr/>
            <p:nvPr/>
          </p:nvSpPr>
          <p:spPr>
            <a:xfrm>
              <a:off x="2714106" y="2422329"/>
              <a:ext cx="52120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algn="ctr"/>
              <a:r>
                <a:rPr lang="en-US" sz="1600" dirty="0" err="1">
                  <a:solidFill>
                    <a:srgbClr val="FFFFFF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Семантическая</a:t>
              </a:r>
              <a:r>
                <a:rPr lang="en-US" sz="1600" dirty="0">
                  <a:solidFill>
                    <a:srgbClr val="FFFFFF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FFFFFF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разметка</a:t>
              </a:r>
              <a:r>
                <a:rPr lang="en-US" sz="1600" dirty="0">
                  <a:solidFill>
                    <a:srgbClr val="FFFFFF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ru-RU" sz="1600" dirty="0">
                  <a:solidFill>
                    <a:srgbClr val="FFFFFF"/>
                  </a:solidFill>
                  <a:latin typeface="Century Gothic" panose="020B0502020202020204" pitchFamily="34" charset="0"/>
                  <a:ea typeface="Calibri" pitchFamily="34" charset="-122"/>
                  <a:cs typeface="Calibri" pitchFamily="34" charset="-120"/>
                </a:rPr>
                <a:t>а</a:t>
              </a:r>
              <a:r>
                <a:rPr lang="en-US" sz="1600" dirty="0" err="1">
                  <a:solidFill>
                    <a:srgbClr val="FFFFFF"/>
                  </a:solidFill>
                  <a:latin typeface="Century Gothic" panose="020B0502020202020204" pitchFamily="34" charset="0"/>
                  <a:cs typeface="Calibri" pitchFamily="34" charset="-120"/>
                </a:rPr>
                <a:t>даптивный</a:t>
              </a:r>
              <a:r>
                <a:rPr lang="en-US" sz="1600" dirty="0">
                  <a:solidFill>
                    <a:srgbClr val="FFFFFF"/>
                  </a:solidFill>
                  <a:latin typeface="Century Gothic" panose="020B0502020202020204" pitchFamily="34" charset="0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FFFFFF"/>
                  </a:solidFill>
                  <a:latin typeface="Century Gothic" panose="020B0502020202020204" pitchFamily="34" charset="0"/>
                  <a:cs typeface="Calibri" pitchFamily="34" charset="-120"/>
                </a:rPr>
                <a:t>дизайн</a:t>
              </a:r>
              <a:r>
                <a:rPr lang="en-US" sz="1600" dirty="0">
                  <a:solidFill>
                    <a:srgbClr val="FFFFFF"/>
                  </a:solidFill>
                  <a:latin typeface="Century Gothic" panose="020B0502020202020204" pitchFamily="34" charset="0"/>
                  <a:cs typeface="Calibri" pitchFamily="34" charset="-120"/>
                </a:rPr>
                <a:t>, Grid, </a:t>
              </a:r>
              <a:r>
                <a:rPr lang="en-US" sz="1600" dirty="0" err="1">
                  <a:solidFill>
                    <a:srgbClr val="FFFFFF"/>
                  </a:solidFill>
                  <a:latin typeface="Century Gothic" panose="020B0502020202020204" pitchFamily="34" charset="0"/>
                  <a:cs typeface="Calibri" pitchFamily="34" charset="-120"/>
                </a:rPr>
                <a:t>анимации</a:t>
              </a:r>
              <a:endParaRPr lang="en-US" sz="1600" dirty="0">
                <a:solidFill>
                  <a:srgbClr val="FFFFFF"/>
                </a:solidFill>
                <a:latin typeface="Century Gothic" panose="020B0502020202020204" pitchFamily="34" charset="0"/>
                <a:cs typeface="Calibri" pitchFamily="34" charset="-120"/>
              </a:endParaRPr>
            </a:p>
            <a:p>
              <a:pPr marL="0" indent="0" algn="ctr">
                <a:buNone/>
              </a:pPr>
              <a:endParaRPr lang="en-US" sz="1600" dirty="0">
                <a:solidFill>
                  <a:srgbClr val="FFFFFF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04213AA7-103E-40D6-A287-66C0999AF8F3}"/>
                </a:ext>
              </a:extLst>
            </p:cNvPr>
            <p:cNvSpPr/>
            <p:nvPr/>
          </p:nvSpPr>
          <p:spPr>
            <a:xfrm>
              <a:off x="2668386" y="3071553"/>
              <a:ext cx="5303520" cy="914400"/>
            </a:xfrm>
            <a:prstGeom prst="roundRect">
              <a:avLst/>
            </a:prstGeom>
            <a:solidFill>
              <a:srgbClr val="2C3E50"/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7F22E73D-A10C-45CF-95A6-7B1BE8EAF5CB}"/>
                </a:ext>
              </a:extLst>
            </p:cNvPr>
            <p:cNvSpPr/>
            <p:nvPr/>
          </p:nvSpPr>
          <p:spPr>
            <a:xfrm>
              <a:off x="2714106" y="3144705"/>
              <a:ext cx="5212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Century Gothic" panose="020B0502020202020204" pitchFamily="34" charset="0"/>
                </a:rPr>
                <a:t>PHP · MVC</a:t>
              </a:r>
            </a:p>
          </p:txBody>
        </p:sp>
        <p:sp>
          <p:nvSpPr>
            <p:cNvPr id="14" name="Text 8">
              <a:extLst>
                <a:ext uri="{FF2B5EF4-FFF2-40B4-BE49-F238E27FC236}">
                  <a16:creationId xmlns:a16="http://schemas.microsoft.com/office/drawing/2014/main" id="{10BF57B4-EBF0-4652-9EEE-34767561A8CC}"/>
                </a:ext>
              </a:extLst>
            </p:cNvPr>
            <p:cNvSpPr/>
            <p:nvPr/>
          </p:nvSpPr>
          <p:spPr>
            <a:xfrm>
              <a:off x="2714106" y="3492177"/>
              <a:ext cx="52120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ru-RU" sz="1600" dirty="0">
                  <a:solidFill>
                    <a:srgbClr val="FFFFFF"/>
                  </a:solidFill>
                  <a:latin typeface="Century Gothic" panose="020B0502020202020204" pitchFamily="34" charset="0"/>
                  <a:cs typeface="Calibri" pitchFamily="34" charset="-120"/>
                </a:rPr>
                <a:t>Объектно-ориентированное программирование (ООП), архитектура MVC, автозагрузка классов</a:t>
              </a:r>
              <a:endParaRPr lang="en-US" sz="1600" dirty="0">
                <a:solidFill>
                  <a:srgbClr val="FFFFFF"/>
                </a:solidFill>
                <a:latin typeface="Century Gothic" panose="020B0502020202020204" pitchFamily="34" charset="0"/>
                <a:cs typeface="Calibri" pitchFamily="34" charset="-120"/>
              </a:endParaRPr>
            </a:p>
          </p:txBody>
        </p:sp>
        <p:sp>
          <p:nvSpPr>
            <p:cNvPr id="15" name="Shape 9">
              <a:extLst>
                <a:ext uri="{FF2B5EF4-FFF2-40B4-BE49-F238E27FC236}">
                  <a16:creationId xmlns:a16="http://schemas.microsoft.com/office/drawing/2014/main" id="{A5CF8E3C-C2E2-4AD3-BA11-E893966571A5}"/>
                </a:ext>
              </a:extLst>
            </p:cNvPr>
            <p:cNvSpPr/>
            <p:nvPr/>
          </p:nvSpPr>
          <p:spPr>
            <a:xfrm>
              <a:off x="2668386" y="4196265"/>
              <a:ext cx="5303520" cy="914400"/>
            </a:xfrm>
            <a:prstGeom prst="roundRect">
              <a:avLst/>
            </a:prstGeom>
            <a:solidFill>
              <a:srgbClr val="0B1B36"/>
            </a:solidFill>
            <a:ln w="12700">
              <a:noFill/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</p:sp>
        <p:sp>
          <p:nvSpPr>
            <p:cNvPr id="16" name="Text 10">
              <a:extLst>
                <a:ext uri="{FF2B5EF4-FFF2-40B4-BE49-F238E27FC236}">
                  <a16:creationId xmlns:a16="http://schemas.microsoft.com/office/drawing/2014/main" id="{35541880-A4CC-4DD9-8CBE-E5E68B2FD049}"/>
                </a:ext>
              </a:extLst>
            </p:cNvPr>
            <p:cNvSpPr/>
            <p:nvPr/>
          </p:nvSpPr>
          <p:spPr>
            <a:xfrm>
              <a:off x="2714106" y="4269417"/>
              <a:ext cx="521208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000" b="1" dirty="0">
                  <a:solidFill>
                    <a:srgbClr val="FFFFFF"/>
                  </a:solidFill>
                  <a:latin typeface="Century Gothic" panose="020B0502020202020204" pitchFamily="34" charset="0"/>
                </a:rPr>
                <a:t>MySQL · PDO · phpMyAdmin</a:t>
              </a:r>
              <a:endParaRPr lang="en-US" sz="2000" dirty="0">
                <a:latin typeface="Century Gothic" panose="020B0502020202020204" pitchFamily="34" charset="0"/>
              </a:endParaRPr>
            </a:p>
          </p:txBody>
        </p:sp>
        <p:sp>
          <p:nvSpPr>
            <p:cNvPr id="17" name="Text 11">
              <a:extLst>
                <a:ext uri="{FF2B5EF4-FFF2-40B4-BE49-F238E27FC236}">
                  <a16:creationId xmlns:a16="http://schemas.microsoft.com/office/drawing/2014/main" id="{5EAFA24B-EEF1-4FD9-BD6F-E3CC73C7E43E}"/>
                </a:ext>
              </a:extLst>
            </p:cNvPr>
            <p:cNvSpPr/>
            <p:nvPr/>
          </p:nvSpPr>
          <p:spPr>
            <a:xfrm>
              <a:off x="2714106" y="4616889"/>
              <a:ext cx="52120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ru-RU" sz="1600" dirty="0">
                  <a:solidFill>
                    <a:srgbClr val="D0ECF8"/>
                  </a:solidFill>
                  <a:latin typeface="Century Gothic" panose="020B0502020202020204" pitchFamily="34" charset="0"/>
                </a:rPr>
                <a:t>База данных, сложные запросы, связи таблиц, PDO (подготовленные запросы)</a:t>
              </a:r>
              <a:endParaRPr lang="en-US" sz="1600" dirty="0">
                <a:solidFill>
                  <a:srgbClr val="D0ECF8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8" name="Shape 12">
              <a:extLst>
                <a:ext uri="{FF2B5EF4-FFF2-40B4-BE49-F238E27FC236}">
                  <a16:creationId xmlns:a16="http://schemas.microsoft.com/office/drawing/2014/main" id="{DC495D8B-857E-4590-AA46-D4A6718FD9B5}"/>
                </a:ext>
              </a:extLst>
            </p:cNvPr>
            <p:cNvSpPr/>
            <p:nvPr/>
          </p:nvSpPr>
          <p:spPr>
            <a:xfrm>
              <a:off x="5023104" y="2861241"/>
              <a:ext cx="595376" cy="210312"/>
            </a:xfrm>
            <a:prstGeom prst="rect">
              <a:avLst/>
            </a:prstGeom>
            <a:gradFill>
              <a:gsLst>
                <a:gs pos="0">
                  <a:srgbClr val="577C8E"/>
                </a:gs>
                <a:gs pos="100000">
                  <a:srgbClr val="2C3E50"/>
                </a:gs>
              </a:gsLst>
              <a:lin ang="5400000" scaled="1"/>
            </a:gradFill>
            <a:ln w="12700">
              <a:noFill/>
              <a:prstDash val="solid"/>
            </a:ln>
          </p:spPr>
        </p:sp>
        <p:sp>
          <p:nvSpPr>
            <p:cNvPr id="19" name="Shape 13">
              <a:extLst>
                <a:ext uri="{FF2B5EF4-FFF2-40B4-BE49-F238E27FC236}">
                  <a16:creationId xmlns:a16="http://schemas.microsoft.com/office/drawing/2014/main" id="{8BCE6F47-2FC8-4A61-942E-73B307C630B5}"/>
                </a:ext>
              </a:extLst>
            </p:cNvPr>
            <p:cNvSpPr/>
            <p:nvPr/>
          </p:nvSpPr>
          <p:spPr>
            <a:xfrm>
              <a:off x="5023104" y="3985953"/>
              <a:ext cx="595376" cy="210312"/>
            </a:xfrm>
            <a:prstGeom prst="rect">
              <a:avLst/>
            </a:prstGeom>
            <a:gradFill>
              <a:gsLst>
                <a:gs pos="0">
                  <a:srgbClr val="2C3E50"/>
                </a:gs>
                <a:gs pos="100000">
                  <a:srgbClr val="0B1B36"/>
                </a:gs>
              </a:gsLst>
              <a:lin ang="5400000" scaled="1"/>
            </a:gradFill>
            <a:ln w="12700">
              <a:noFill/>
              <a:prstDash val="solid"/>
            </a:ln>
          </p:spPr>
        </p:sp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D35070F7-3AB0-46B8-8D24-72DD22A0F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38832" y="-9108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Овал 20">
            <a:extLst>
              <a:ext uri="{FF2B5EF4-FFF2-40B4-BE49-F238E27FC236}">
                <a16:creationId xmlns:a16="http://schemas.microsoft.com/office/drawing/2014/main" id="{E6AFCC8F-7D63-4B9E-BFF5-77C58A2F315D}"/>
              </a:ext>
            </a:extLst>
          </p:cNvPr>
          <p:cNvSpPr/>
          <p:nvPr/>
        </p:nvSpPr>
        <p:spPr>
          <a:xfrm>
            <a:off x="0" y="-1051560"/>
            <a:ext cx="822960" cy="822960"/>
          </a:xfrm>
          <a:prstGeom prst="ellipse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один скругленный угол 25">
            <a:extLst>
              <a:ext uri="{FF2B5EF4-FFF2-40B4-BE49-F238E27FC236}">
                <a16:creationId xmlns:a16="http://schemas.microsoft.com/office/drawing/2014/main" id="{2F2B7128-2584-4332-B685-B23DFCBBCEBF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BF3555E5-8D14-4067-A69B-AECA40B694D1}"/>
              </a:ext>
            </a:extLst>
          </p:cNvPr>
          <p:cNvSpPr txBox="1">
            <a:spLocks/>
          </p:cNvSpPr>
          <p:nvPr/>
        </p:nvSpPr>
        <p:spPr>
          <a:xfrm>
            <a:off x="534001" y="-89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С</a:t>
            </a:r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</a:rPr>
              <a:t>редства разработки</a:t>
            </a:r>
          </a:p>
        </p:txBody>
      </p:sp>
      <p:pic>
        <p:nvPicPr>
          <p:cNvPr id="24" name="Объект 4">
            <a:extLst>
              <a:ext uri="{FF2B5EF4-FFF2-40B4-BE49-F238E27FC236}">
                <a16:creationId xmlns:a16="http://schemas.microsoft.com/office/drawing/2014/main" id="{EF4D9219-D13C-46FF-B423-4843D85E36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9355" y="86204"/>
            <a:ext cx="974709" cy="974709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B27D526-CCFA-48C0-A755-F048094E28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78360" y="214184"/>
            <a:ext cx="742236" cy="74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096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один скругленный угол 3">
            <a:extLst>
              <a:ext uri="{FF2B5EF4-FFF2-40B4-BE49-F238E27FC236}">
                <a16:creationId xmlns:a16="http://schemas.microsoft.com/office/drawing/2014/main" id="{F550F60F-F0C1-4A11-9329-084B7E65D1E3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4DD3E72-3681-4244-AECA-2155C77A4828}"/>
              </a:ext>
            </a:extLst>
          </p:cNvPr>
          <p:cNvSpPr txBox="1">
            <a:spLocks/>
          </p:cNvSpPr>
          <p:nvPr/>
        </p:nvSpPr>
        <p:spPr>
          <a:xfrm>
            <a:off x="534001" y="-89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2C3E50"/>
                </a:solidFill>
                <a:latin typeface="Century Gothic" panose="020B0502020202020204" pitchFamily="34" charset="0"/>
              </a:rPr>
              <a:t>Функционал</a:t>
            </a:r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rgbClr val="2C3E50"/>
                </a:solidFill>
                <a:latin typeface="Century Gothic" panose="020B0502020202020204" pitchFamily="34" charset="0"/>
              </a:rPr>
              <a:t>системы</a:t>
            </a:r>
            <a:endParaRPr lang="en-US" b="1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AC591266-2825-43FA-9AFD-80A29F0E2725}"/>
              </a:ext>
            </a:extLst>
          </p:cNvPr>
          <p:cNvSpPr/>
          <p:nvPr/>
        </p:nvSpPr>
        <p:spPr>
          <a:xfrm>
            <a:off x="415637" y="1307274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4B23311-F4EB-4E4C-9B0C-E1B898079C2D}"/>
              </a:ext>
            </a:extLst>
          </p:cNvPr>
          <p:cNvSpPr/>
          <p:nvPr/>
        </p:nvSpPr>
        <p:spPr>
          <a:xfrm>
            <a:off x="1366613" y="152673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F4157"/>
                </a:solidFill>
                <a:latin typeface="Century Gothic" panose="020B0502020202020204" pitchFamily="34" charset="0"/>
              </a:rPr>
              <a:t>Публикации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867D906C-2F47-40EA-A8BF-04CC1CE78DC6}"/>
              </a:ext>
            </a:extLst>
          </p:cNvPr>
          <p:cNvSpPr/>
          <p:nvPr/>
        </p:nvSpPr>
        <p:spPr>
          <a:xfrm>
            <a:off x="659477" y="2160714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Список статей, фильтр,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016B9A2A-EB8F-4E6D-B48E-E01AC158B673}"/>
              </a:ext>
            </a:extLst>
          </p:cNvPr>
          <p:cNvSpPr/>
          <p:nvPr/>
        </p:nvSpPr>
        <p:spPr>
          <a:xfrm>
            <a:off x="4158581" y="1307274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2AF705B3-D0C5-412E-A531-458C4A2F4227}"/>
              </a:ext>
            </a:extLst>
          </p:cNvPr>
          <p:cNvSpPr/>
          <p:nvPr/>
        </p:nvSpPr>
        <p:spPr>
          <a:xfrm>
            <a:off x="5109557" y="152673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F4157"/>
                </a:solidFill>
                <a:latin typeface="Century Gothic" panose="020B0502020202020204" pitchFamily="34" charset="0"/>
              </a:rPr>
              <a:t>Проекты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4C4BD42-091F-48D2-BBF3-4978817F6156}"/>
              </a:ext>
            </a:extLst>
          </p:cNvPr>
          <p:cNvSpPr/>
          <p:nvPr/>
        </p:nvSpPr>
        <p:spPr>
          <a:xfrm>
            <a:off x="4402421" y="2160714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Карточки проектов, статус, детальный просмотр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8C0C836-1134-4544-AEB0-1B3C0D9A84B8}"/>
              </a:ext>
            </a:extLst>
          </p:cNvPr>
          <p:cNvSpPr/>
          <p:nvPr/>
        </p:nvSpPr>
        <p:spPr>
          <a:xfrm>
            <a:off x="7901525" y="1307274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9FBF9A65-BE18-4B33-9D32-FE6DCF58E00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2F4157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3871096" y="6048624"/>
            <a:ext cx="585216" cy="585216"/>
          </a:xfrm>
          <a:prstGeom prst="rect">
            <a:avLst/>
          </a:prstGeom>
        </p:spPr>
      </p:pic>
      <p:sp>
        <p:nvSpPr>
          <p:cNvPr id="16" name="Text 13">
            <a:extLst>
              <a:ext uri="{FF2B5EF4-FFF2-40B4-BE49-F238E27FC236}">
                <a16:creationId xmlns:a16="http://schemas.microsoft.com/office/drawing/2014/main" id="{95316387-2C6B-46AB-AE16-7EEE94776C3D}"/>
              </a:ext>
            </a:extLst>
          </p:cNvPr>
          <p:cNvSpPr/>
          <p:nvPr/>
        </p:nvSpPr>
        <p:spPr>
          <a:xfrm>
            <a:off x="8852501" y="152673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F4157"/>
                </a:solidFill>
                <a:latin typeface="Century Gothic" panose="020B0502020202020204" pitchFamily="34" charset="0"/>
              </a:rPr>
              <a:t>Блог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7DDC6FB7-85F2-46EE-914A-22DEBE6B0A85}"/>
              </a:ext>
            </a:extLst>
          </p:cNvPr>
          <p:cNvSpPr/>
          <p:nvPr/>
        </p:nvSpPr>
        <p:spPr>
          <a:xfrm>
            <a:off x="8145365" y="2160714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Записи с тегами, поиск по автору и дате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9F1AC8AF-E3EB-4221-8703-0317A00EC0A8}"/>
              </a:ext>
            </a:extLst>
          </p:cNvPr>
          <p:cNvSpPr/>
          <p:nvPr/>
        </p:nvSpPr>
        <p:spPr>
          <a:xfrm>
            <a:off x="415637" y="3465258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4783EBB-7085-4648-B0EC-BDCE8E2F0817}"/>
              </a:ext>
            </a:extLst>
          </p:cNvPr>
          <p:cNvSpPr/>
          <p:nvPr/>
        </p:nvSpPr>
        <p:spPr>
          <a:xfrm>
            <a:off x="1366613" y="3684714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F4157"/>
                </a:solidFill>
                <a:latin typeface="Century Gothic" panose="020B0502020202020204" pitchFamily="34" charset="0"/>
              </a:rPr>
              <a:t>Науч. данные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052219A0-1DD7-4015-998F-AEECF401DF63}"/>
              </a:ext>
            </a:extLst>
          </p:cNvPr>
          <p:cNvSpPr/>
          <p:nvPr/>
        </p:nvSpPr>
        <p:spPr>
          <a:xfrm>
            <a:off x="659477" y="4318698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Наборы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данных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, фильтрация по доступу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F7C954CA-41CF-40DD-A8AA-980BC5DF4344}"/>
              </a:ext>
            </a:extLst>
          </p:cNvPr>
          <p:cNvSpPr/>
          <p:nvPr/>
        </p:nvSpPr>
        <p:spPr>
          <a:xfrm>
            <a:off x="4158581" y="3465258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3" name="Image 5" descr="preencoded.png">
            <a:extLst>
              <a:ext uri="{FF2B5EF4-FFF2-40B4-BE49-F238E27FC236}">
                <a16:creationId xmlns:a16="http://schemas.microsoft.com/office/drawing/2014/main" id="{73DC371F-8568-4AB2-9CAE-B8ADF861E86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577C8E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3871096" y="1390401"/>
            <a:ext cx="585216" cy="585216"/>
          </a:xfrm>
          <a:prstGeom prst="rect">
            <a:avLst/>
          </a:prstGeom>
        </p:spPr>
      </p:pic>
      <p:sp>
        <p:nvSpPr>
          <p:cNvPr id="24" name="Text 21">
            <a:extLst>
              <a:ext uri="{FF2B5EF4-FFF2-40B4-BE49-F238E27FC236}">
                <a16:creationId xmlns:a16="http://schemas.microsoft.com/office/drawing/2014/main" id="{76B6F00C-61CA-47CB-90E5-93E87411E6B5}"/>
              </a:ext>
            </a:extLst>
          </p:cNvPr>
          <p:cNvSpPr/>
          <p:nvPr/>
        </p:nvSpPr>
        <p:spPr>
          <a:xfrm>
            <a:off x="5109557" y="3684714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b="1" dirty="0">
                <a:solidFill>
                  <a:srgbClr val="2F4157"/>
                </a:solidFill>
                <a:latin typeface="Century Gothic" panose="020B0502020202020204" pitchFamily="34" charset="0"/>
              </a:rPr>
              <a:t>Главная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0EDB90F-10AD-4378-A41A-DBBEB424C753}"/>
              </a:ext>
            </a:extLst>
          </p:cNvPr>
          <p:cNvSpPr/>
          <p:nvPr/>
        </p:nvSpPr>
        <p:spPr>
          <a:xfrm>
            <a:off x="4402421" y="4318698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Краткая информация о группе и последние работы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D7038259-1270-45C9-AC34-2D589923391B}"/>
              </a:ext>
            </a:extLst>
          </p:cNvPr>
          <p:cNvSpPr/>
          <p:nvPr/>
        </p:nvSpPr>
        <p:spPr>
          <a:xfrm>
            <a:off x="7901525" y="3465258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27" name="Image 6" descr="preencoded.png">
            <a:extLst>
              <a:ext uri="{FF2B5EF4-FFF2-40B4-BE49-F238E27FC236}">
                <a16:creationId xmlns:a16="http://schemas.microsoft.com/office/drawing/2014/main" id="{E5FD7778-9C44-4588-93D2-9ACBACCD8EA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2F4157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3831300" y="3454456"/>
            <a:ext cx="585216" cy="585216"/>
          </a:xfrm>
          <a:prstGeom prst="rect">
            <a:avLst/>
          </a:prstGeom>
        </p:spPr>
      </p:pic>
      <p:sp>
        <p:nvSpPr>
          <p:cNvPr id="28" name="Text 25">
            <a:extLst>
              <a:ext uri="{FF2B5EF4-FFF2-40B4-BE49-F238E27FC236}">
                <a16:creationId xmlns:a16="http://schemas.microsoft.com/office/drawing/2014/main" id="{00D71AA2-7648-4B33-A982-AC5D95773B1C}"/>
              </a:ext>
            </a:extLst>
          </p:cNvPr>
          <p:cNvSpPr/>
          <p:nvPr/>
        </p:nvSpPr>
        <p:spPr>
          <a:xfrm>
            <a:off x="8852501" y="3684714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F4157"/>
                </a:solidFill>
                <a:latin typeface="Century Gothic" panose="020B0502020202020204" pitchFamily="34" charset="0"/>
              </a:rPr>
              <a:t>Админ-панель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17DF209-427B-4339-BD12-88734887C4E9}"/>
              </a:ext>
            </a:extLst>
          </p:cNvPr>
          <p:cNvSpPr/>
          <p:nvPr/>
        </p:nvSpPr>
        <p:spPr>
          <a:xfrm>
            <a:off x="8145365" y="4318698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CRUD-операции,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авторизация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ABC27926-E26C-4E9D-8940-107B878BC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4632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 descr="Книги со сплошной заливкой">
            <a:extLst>
              <a:ext uri="{FF2B5EF4-FFF2-40B4-BE49-F238E27FC236}">
                <a16:creationId xmlns:a16="http://schemas.microsoft.com/office/drawing/2014/main" id="{1F9F8AA0-3229-42F9-B2B8-7B316B9D41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2153" y="1476571"/>
            <a:ext cx="735640" cy="735640"/>
          </a:xfrm>
          <a:prstGeom prst="rect">
            <a:avLst/>
          </a:prstGeom>
        </p:spPr>
      </p:pic>
      <p:pic>
        <p:nvPicPr>
          <p:cNvPr id="32" name="Рисунок 31" descr="Мозг со сплошной заливкой">
            <a:extLst>
              <a:ext uri="{FF2B5EF4-FFF2-40B4-BE49-F238E27FC236}">
                <a16:creationId xmlns:a16="http://schemas.microsoft.com/office/drawing/2014/main" id="{50B0763A-D29F-43DA-8553-8C4D2BFA393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017399" y="3603808"/>
            <a:ext cx="816814" cy="816814"/>
          </a:xfrm>
          <a:prstGeom prst="rect">
            <a:avLst/>
          </a:prstGeom>
        </p:spPr>
      </p:pic>
      <p:pic>
        <p:nvPicPr>
          <p:cNvPr id="34" name="Рисунок 33" descr="Портфель со сплошной заливкой">
            <a:extLst>
              <a:ext uri="{FF2B5EF4-FFF2-40B4-BE49-F238E27FC236}">
                <a16:creationId xmlns:a16="http://schemas.microsoft.com/office/drawing/2014/main" id="{FB633611-C306-4BF8-BEE9-D5A1D1A6DD1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42097" y="1476571"/>
            <a:ext cx="718692" cy="718692"/>
          </a:xfrm>
          <a:prstGeom prst="rect">
            <a:avLst/>
          </a:prstGeom>
        </p:spPr>
      </p:pic>
      <p:pic>
        <p:nvPicPr>
          <p:cNvPr id="36" name="Рисунок 35" descr="Здание со сплошной заливкой">
            <a:extLst>
              <a:ext uri="{FF2B5EF4-FFF2-40B4-BE49-F238E27FC236}">
                <a16:creationId xmlns:a16="http://schemas.microsoft.com/office/drawing/2014/main" id="{9386924D-FA27-4149-9273-C9C9F8BE8B7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280501" y="3603808"/>
            <a:ext cx="798576" cy="798576"/>
          </a:xfrm>
          <a:prstGeom prst="rect">
            <a:avLst/>
          </a:prstGeom>
        </p:spPr>
      </p:pic>
      <p:pic>
        <p:nvPicPr>
          <p:cNvPr id="38" name="Рисунок 37" descr="Компьютер со сплошной заливкой">
            <a:extLst>
              <a:ext uri="{FF2B5EF4-FFF2-40B4-BE49-F238E27FC236}">
                <a16:creationId xmlns:a16="http://schemas.microsoft.com/office/drawing/2014/main" id="{15A3F9D3-4BCE-4AF9-A08E-5A72286C63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3766474" y="4805131"/>
            <a:ext cx="914400" cy="914400"/>
          </a:xfrm>
          <a:prstGeom prst="rect">
            <a:avLst/>
          </a:prstGeom>
        </p:spPr>
      </p:pic>
      <p:pic>
        <p:nvPicPr>
          <p:cNvPr id="40" name="Рисунок 39" descr="База данных со сплошной заливкой">
            <a:extLst>
              <a:ext uri="{FF2B5EF4-FFF2-40B4-BE49-F238E27FC236}">
                <a16:creationId xmlns:a16="http://schemas.microsoft.com/office/drawing/2014/main" id="{FC35C5EF-0D3C-4CC1-9458-B97AFA416CD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34001" y="3631558"/>
            <a:ext cx="789064" cy="789064"/>
          </a:xfrm>
          <a:prstGeom prst="rect">
            <a:avLst/>
          </a:prstGeom>
        </p:spPr>
      </p:pic>
      <p:pic>
        <p:nvPicPr>
          <p:cNvPr id="42" name="Рисунок 41" descr="Документ со сплошной заливкой">
            <a:extLst>
              <a:ext uri="{FF2B5EF4-FFF2-40B4-BE49-F238E27FC236}">
                <a16:creationId xmlns:a16="http://schemas.microsoft.com/office/drawing/2014/main" id="{1CEFBE4A-0E14-482A-A0AF-7F5E2154C64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112946" y="1526730"/>
            <a:ext cx="718692" cy="718692"/>
          </a:xfrm>
          <a:prstGeom prst="rect">
            <a:avLst/>
          </a:prstGeom>
        </p:spPr>
      </p:pic>
      <p:pic>
        <p:nvPicPr>
          <p:cNvPr id="44" name="Рисунок 43" descr="Интернет со сплошной заливкой">
            <a:extLst>
              <a:ext uri="{FF2B5EF4-FFF2-40B4-BE49-F238E27FC236}">
                <a16:creationId xmlns:a16="http://schemas.microsoft.com/office/drawing/2014/main" id="{202F04A6-732D-4919-9C3A-3E139611DB1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602308" y="4958778"/>
            <a:ext cx="914400" cy="914400"/>
          </a:xfrm>
          <a:prstGeom prst="rect">
            <a:avLst/>
          </a:prstGeom>
        </p:spPr>
      </p:pic>
      <p:pic>
        <p:nvPicPr>
          <p:cNvPr id="46" name="Рисунок 45" descr="Ноутбук со сплошной заливкой">
            <a:extLst>
              <a:ext uri="{FF2B5EF4-FFF2-40B4-BE49-F238E27FC236}">
                <a16:creationId xmlns:a16="http://schemas.microsoft.com/office/drawing/2014/main" id="{627B9C56-5E81-4157-A436-AC0F7435ACB8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602308" y="5768157"/>
            <a:ext cx="914400" cy="91440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B6EC0857-E395-4997-9C05-3043751A2DBE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t="10166" b="16570"/>
          <a:stretch/>
        </p:blipFill>
        <p:spPr>
          <a:xfrm>
            <a:off x="1109" y="6083354"/>
            <a:ext cx="12201173" cy="762319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77165EAC-36D4-4F3C-A988-9A2446DFC8EE}"/>
              </a:ext>
            </a:extLst>
          </p:cNvPr>
          <p:cNvSpPr txBox="1"/>
          <p:nvPr/>
        </p:nvSpPr>
        <p:spPr>
          <a:xfrm>
            <a:off x="374074" y="5643330"/>
            <a:ext cx="6133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6 </a:t>
            </a:r>
            <a:r>
              <a:rPr lang="en-US" sz="1800" b="1" dirty="0" err="1">
                <a:solidFill>
                  <a:srgbClr val="2F4157"/>
                </a:solidFill>
                <a:latin typeface="Century Gothic" panose="020B0502020202020204" pitchFamily="34" charset="0"/>
              </a:rPr>
              <a:t>разделов</a:t>
            </a:r>
            <a:r>
              <a:rPr lang="en-US" sz="18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 · 2 </a:t>
            </a:r>
            <a:r>
              <a:rPr lang="en-US" sz="1800" b="1" dirty="0" err="1">
                <a:solidFill>
                  <a:srgbClr val="2F4157"/>
                </a:solidFill>
                <a:latin typeface="Century Gothic" panose="020B0502020202020204" pitchFamily="34" charset="0"/>
              </a:rPr>
              <a:t>роли</a:t>
            </a:r>
            <a:r>
              <a:rPr lang="en-US" sz="18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 · </a:t>
            </a:r>
            <a:r>
              <a:rPr lang="en-US" sz="1800" b="1" dirty="0" err="1">
                <a:solidFill>
                  <a:srgbClr val="2F4157"/>
                </a:solidFill>
                <a:latin typeface="Century Gothic" panose="020B0502020202020204" pitchFamily="34" charset="0"/>
              </a:rPr>
              <a:t>Адаптивный</a:t>
            </a:r>
            <a:r>
              <a:rPr lang="en-US" sz="18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 </a:t>
            </a:r>
            <a:r>
              <a:rPr lang="en-US" sz="1800" b="1" dirty="0" err="1">
                <a:solidFill>
                  <a:srgbClr val="2F4157"/>
                </a:solidFill>
                <a:latin typeface="Century Gothic" panose="020B0502020202020204" pitchFamily="34" charset="0"/>
              </a:rPr>
              <a:t>дизайн</a:t>
            </a:r>
            <a:r>
              <a:rPr lang="en-US" sz="18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 · CRUD</a:t>
            </a:r>
            <a:endParaRPr lang="ru-RU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A67906-112D-4A2D-8C13-A1B5FFDEFEC5}"/>
              </a:ext>
            </a:extLst>
          </p:cNvPr>
          <p:cNvSpPr txBox="1"/>
          <p:nvPr/>
        </p:nvSpPr>
        <p:spPr>
          <a:xfrm>
            <a:off x="8376671" y="5808692"/>
            <a:ext cx="4175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rgbClr val="577C8E"/>
                </a:solidFill>
                <a:latin typeface="Century Gothic" panose="020B0502020202020204" pitchFamily="34" charset="0"/>
              </a:rPr>
              <a:t>*Ниже представлена навигация с сайта</a:t>
            </a:r>
            <a:endParaRPr lang="ru-RU" sz="1400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9" name="Рисунок 38" descr="Книги со сплошной заливкой">
            <a:extLst>
              <a:ext uri="{FF2B5EF4-FFF2-40B4-BE49-F238E27FC236}">
                <a16:creationId xmlns:a16="http://schemas.microsoft.com/office/drawing/2014/main" id="{DC5C125D-04FC-4F9E-BC04-398F323CBF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804153" y="175443"/>
            <a:ext cx="735640" cy="735640"/>
          </a:xfrm>
          <a:prstGeom prst="rect">
            <a:avLst/>
          </a:prstGeom>
        </p:spPr>
      </p:pic>
      <p:pic>
        <p:nvPicPr>
          <p:cNvPr id="41" name="Рисунок 40" descr="Мозг со сплошной заливкой">
            <a:extLst>
              <a:ext uri="{FF2B5EF4-FFF2-40B4-BE49-F238E27FC236}">
                <a16:creationId xmlns:a16="http://schemas.microsoft.com/office/drawing/2014/main" id="{38CCE11A-F198-4903-9B5A-59EF2A035A9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86048" y="2357657"/>
            <a:ext cx="816814" cy="816814"/>
          </a:xfrm>
          <a:prstGeom prst="rect">
            <a:avLst/>
          </a:prstGeom>
        </p:spPr>
      </p:pic>
      <p:pic>
        <p:nvPicPr>
          <p:cNvPr id="43" name="Рисунок 42" descr="Портфель со сплошной заливкой">
            <a:extLst>
              <a:ext uri="{FF2B5EF4-FFF2-40B4-BE49-F238E27FC236}">
                <a16:creationId xmlns:a16="http://schemas.microsoft.com/office/drawing/2014/main" id="{7D63481C-3797-4635-8822-D5B9B844825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733719" y="1246581"/>
            <a:ext cx="718692" cy="718692"/>
          </a:xfrm>
          <a:prstGeom prst="rect">
            <a:avLst/>
          </a:prstGeom>
        </p:spPr>
      </p:pic>
      <p:pic>
        <p:nvPicPr>
          <p:cNvPr id="45" name="Рисунок 44" descr="Здание со сплошной заливкой">
            <a:extLst>
              <a:ext uri="{FF2B5EF4-FFF2-40B4-BE49-F238E27FC236}">
                <a16:creationId xmlns:a16="http://schemas.microsoft.com/office/drawing/2014/main" id="{4BCA8D46-10AF-4945-83F3-43BE7B87116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72123" y="3373818"/>
            <a:ext cx="798576" cy="798576"/>
          </a:xfrm>
          <a:prstGeom prst="rect">
            <a:avLst/>
          </a:prstGeom>
        </p:spPr>
      </p:pic>
      <p:pic>
        <p:nvPicPr>
          <p:cNvPr id="47" name="Рисунок 46" descr="База данных со сплошной заливкой">
            <a:extLst>
              <a:ext uri="{FF2B5EF4-FFF2-40B4-BE49-F238E27FC236}">
                <a16:creationId xmlns:a16="http://schemas.microsoft.com/office/drawing/2014/main" id="{71AA5082-B1F8-4D36-A4F6-90AA029704C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26001" y="2330430"/>
            <a:ext cx="789064" cy="789064"/>
          </a:xfrm>
          <a:prstGeom prst="rect">
            <a:avLst/>
          </a:prstGeom>
        </p:spPr>
      </p:pic>
      <p:pic>
        <p:nvPicPr>
          <p:cNvPr id="49" name="Рисунок 48" descr="Документ со сплошной заливкой">
            <a:extLst>
              <a:ext uri="{FF2B5EF4-FFF2-40B4-BE49-F238E27FC236}">
                <a16:creationId xmlns:a16="http://schemas.microsoft.com/office/drawing/2014/main" id="{255ABF60-B321-4034-BC97-571D4EAC20B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3781595" y="280579"/>
            <a:ext cx="718692" cy="71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717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1920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9056" y="97536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Функционал системы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0" y="792480"/>
            <a:ext cx="12192000" cy="7315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99744"/>
            <a:ext cx="3535680" cy="195072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99744"/>
            <a:ext cx="146304" cy="1950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84" y="1267968"/>
            <a:ext cx="585216" cy="5852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16736" y="121920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B1B36"/>
                </a:solidFill>
              </a:rPr>
              <a:t>Публикации</a:t>
            </a:r>
            <a:endParaRPr lang="en-US" sz="1867" dirty="0"/>
          </a:p>
        </p:txBody>
      </p:sp>
      <p:sp>
        <p:nvSpPr>
          <p:cNvPr id="10" name="Text 6"/>
          <p:cNvSpPr/>
          <p:nvPr/>
        </p:nvSpPr>
        <p:spPr>
          <a:xfrm>
            <a:off x="609600" y="1853184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статей, фильтр, </a:t>
            </a:r>
            <a:r>
              <a:rPr lang="en-US" sz="1467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467" dirty="0"/>
          </a:p>
        </p:txBody>
      </p:sp>
      <p:sp>
        <p:nvSpPr>
          <p:cNvPr id="11" name="Shape 7"/>
          <p:cNvSpPr/>
          <p:nvPr/>
        </p:nvSpPr>
        <p:spPr>
          <a:xfrm>
            <a:off x="4108704" y="999744"/>
            <a:ext cx="3535680" cy="195072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08704" y="999744"/>
            <a:ext cx="146304" cy="19507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6928" y="1267968"/>
            <a:ext cx="585216" cy="58521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059680" y="121920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B1B36"/>
                </a:solidFill>
              </a:rPr>
              <a:t>Проекты</a:t>
            </a:r>
            <a:endParaRPr lang="en-US" sz="1867" dirty="0"/>
          </a:p>
        </p:txBody>
      </p:sp>
      <p:sp>
        <p:nvSpPr>
          <p:cNvPr id="15" name="Text 10"/>
          <p:cNvSpPr/>
          <p:nvPr/>
        </p:nvSpPr>
        <p:spPr>
          <a:xfrm>
            <a:off x="4352544" y="1853184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проектов, статус, детальный просмотр</a:t>
            </a:r>
            <a:endParaRPr lang="en-US" sz="1467" dirty="0"/>
          </a:p>
        </p:txBody>
      </p:sp>
      <p:sp>
        <p:nvSpPr>
          <p:cNvPr id="16" name="Shape 11"/>
          <p:cNvSpPr/>
          <p:nvPr/>
        </p:nvSpPr>
        <p:spPr>
          <a:xfrm>
            <a:off x="7851648" y="999744"/>
            <a:ext cx="3535680" cy="195072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851648" y="999744"/>
            <a:ext cx="146304" cy="19507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2" y="1267968"/>
            <a:ext cx="585216" cy="58521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02624" y="1219200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B1B36"/>
                </a:solidFill>
              </a:rPr>
              <a:t>Блог</a:t>
            </a:r>
            <a:endParaRPr lang="en-US" sz="1867" dirty="0"/>
          </a:p>
        </p:txBody>
      </p:sp>
      <p:sp>
        <p:nvSpPr>
          <p:cNvPr id="20" name="Text 14"/>
          <p:cNvSpPr/>
          <p:nvPr/>
        </p:nvSpPr>
        <p:spPr>
          <a:xfrm>
            <a:off x="8095488" y="1853184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Записи с тегами, поиск по автору и дате</a:t>
            </a:r>
            <a:endParaRPr lang="en-US" sz="1467" dirty="0"/>
          </a:p>
        </p:txBody>
      </p:sp>
      <p:sp>
        <p:nvSpPr>
          <p:cNvPr id="21" name="Shape 15"/>
          <p:cNvSpPr/>
          <p:nvPr/>
        </p:nvSpPr>
        <p:spPr>
          <a:xfrm>
            <a:off x="365760" y="3157728"/>
            <a:ext cx="3535680" cy="195072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65760" y="3157728"/>
            <a:ext cx="146304" cy="1950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984" y="3425952"/>
            <a:ext cx="585216" cy="58521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16736" y="3377184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B1B36"/>
                </a:solidFill>
              </a:rPr>
              <a:t>Науч. данные</a:t>
            </a:r>
            <a:endParaRPr lang="en-US" sz="1867" dirty="0"/>
          </a:p>
        </p:txBody>
      </p:sp>
      <p:sp>
        <p:nvSpPr>
          <p:cNvPr id="25" name="Text 18"/>
          <p:cNvSpPr/>
          <p:nvPr/>
        </p:nvSpPr>
        <p:spPr>
          <a:xfrm>
            <a:off x="609600" y="4011168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Наборы</a:t>
            </a:r>
            <a:r>
              <a:rPr lang="en-US" sz="1467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67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</a:t>
            </a:r>
            <a:r>
              <a:rPr lang="en-US" sz="1467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фильтрация по доступу</a:t>
            </a:r>
            <a:endParaRPr lang="en-US" sz="1467" dirty="0"/>
          </a:p>
        </p:txBody>
      </p:sp>
      <p:sp>
        <p:nvSpPr>
          <p:cNvPr id="26" name="Shape 19"/>
          <p:cNvSpPr/>
          <p:nvPr/>
        </p:nvSpPr>
        <p:spPr>
          <a:xfrm>
            <a:off x="4108704" y="3157728"/>
            <a:ext cx="3535680" cy="195072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108704" y="3157728"/>
            <a:ext cx="146304" cy="19507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6928" y="3425952"/>
            <a:ext cx="585216" cy="58521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059680" y="3377184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867" b="1" dirty="0">
                <a:solidFill>
                  <a:srgbClr val="0B1B36"/>
                </a:solidFill>
              </a:rPr>
              <a:t>Главная</a:t>
            </a:r>
            <a:endParaRPr lang="en-US" sz="1867" dirty="0"/>
          </a:p>
        </p:txBody>
      </p:sp>
      <p:sp>
        <p:nvSpPr>
          <p:cNvPr id="30" name="Text 22"/>
          <p:cNvSpPr/>
          <p:nvPr/>
        </p:nvSpPr>
        <p:spPr>
          <a:xfrm>
            <a:off x="4352544" y="4011168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67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Краткая информация о группе и последние работы</a:t>
            </a:r>
            <a:endParaRPr lang="en-US" sz="1467" dirty="0"/>
          </a:p>
        </p:txBody>
      </p:sp>
      <p:sp>
        <p:nvSpPr>
          <p:cNvPr id="31" name="Shape 23"/>
          <p:cNvSpPr/>
          <p:nvPr/>
        </p:nvSpPr>
        <p:spPr>
          <a:xfrm>
            <a:off x="7851648" y="3157728"/>
            <a:ext cx="3535680" cy="195072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7851648" y="3157728"/>
            <a:ext cx="146304" cy="1950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19872" y="3425952"/>
            <a:ext cx="585216" cy="58521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802624" y="3377184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B1B36"/>
                </a:solidFill>
              </a:rPr>
              <a:t>Админ-панель</a:t>
            </a:r>
            <a:endParaRPr lang="en-US" sz="1867" dirty="0"/>
          </a:p>
        </p:txBody>
      </p:sp>
      <p:sp>
        <p:nvSpPr>
          <p:cNvPr id="35" name="Text 26"/>
          <p:cNvSpPr/>
          <p:nvPr/>
        </p:nvSpPr>
        <p:spPr>
          <a:xfrm>
            <a:off x="8095488" y="4011168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CRUD-операции, загрузка файлов, авторизация</a:t>
            </a:r>
            <a:endParaRPr lang="en-US" sz="1467" dirty="0"/>
          </a:p>
        </p:txBody>
      </p:sp>
      <p:sp>
        <p:nvSpPr>
          <p:cNvPr id="36" name="Shape 27"/>
          <p:cNvSpPr/>
          <p:nvPr/>
        </p:nvSpPr>
        <p:spPr>
          <a:xfrm>
            <a:off x="365760" y="5827776"/>
            <a:ext cx="11460480" cy="792480"/>
          </a:xfrm>
          <a:prstGeom prst="rect">
            <a:avLst/>
          </a:prstGeom>
          <a:solidFill>
            <a:srgbClr val="0B1B36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609600" y="5876544"/>
            <a:ext cx="109728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✅ 6 разделов · 2 роли · Адаптивный дизайн · CRUD + загрузка файлов · Глобальный поиск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один скругленный угол 3">
            <a:extLst>
              <a:ext uri="{FF2B5EF4-FFF2-40B4-BE49-F238E27FC236}">
                <a16:creationId xmlns:a16="http://schemas.microsoft.com/office/drawing/2014/main" id="{2E52F73C-0666-4E72-A006-24C332090BD6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AA527F4-0880-4C07-93A5-1340F5F19409}"/>
              </a:ext>
            </a:extLst>
          </p:cNvPr>
          <p:cNvSpPr txBox="1">
            <a:spLocks/>
          </p:cNvSpPr>
          <p:nvPr/>
        </p:nvSpPr>
        <p:spPr>
          <a:xfrm>
            <a:off x="534001" y="-89222"/>
            <a:ext cx="95645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Пример страницы </a:t>
            </a:r>
            <a:r>
              <a:rPr lang="ru-RU" b="1" dirty="0">
                <a:solidFill>
                  <a:schemeClr val="bg1"/>
                </a:solidFill>
                <a:latin typeface="Century Gothic" panose="020B0502020202020204" pitchFamily="34" charset="0"/>
              </a:rPr>
              <a:t>Главная</a:t>
            </a:r>
            <a:endParaRPr lang="en-US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EAE3E9D-B581-46ED-8BB0-3135CF79267A}"/>
              </a:ext>
            </a:extLst>
          </p:cNvPr>
          <p:cNvSpPr/>
          <p:nvPr/>
        </p:nvSpPr>
        <p:spPr>
          <a:xfrm>
            <a:off x="534001" y="7707697"/>
            <a:ext cx="3885599" cy="1965771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9FEAA0D-A87D-44DF-AF76-2ADCA11D9E89}"/>
              </a:ext>
            </a:extLst>
          </p:cNvPr>
          <p:cNvSpPr/>
          <p:nvPr/>
        </p:nvSpPr>
        <p:spPr>
          <a:xfrm>
            <a:off x="783049" y="7906267"/>
            <a:ext cx="3520801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4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На странице Главная:</a:t>
            </a:r>
            <a:endParaRPr lang="en-US" sz="2400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D604FF9-DBCD-4439-85AA-BA8A8F81E35F}"/>
              </a:ext>
            </a:extLst>
          </p:cNvPr>
          <p:cNvSpPr/>
          <p:nvPr/>
        </p:nvSpPr>
        <p:spPr>
          <a:xfrm>
            <a:off x="783049" y="8523499"/>
            <a:ext cx="3345360" cy="794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Отображаются последние публикации с остальных страниц: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EC0B39F-1B65-4817-9E97-52231E1DD65B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9" r="9956" b="60874"/>
          <a:stretch/>
        </p:blipFill>
        <p:spPr bwMode="auto">
          <a:xfrm>
            <a:off x="677069" y="1158028"/>
            <a:ext cx="6068101" cy="560735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Shape 3">
            <a:extLst>
              <a:ext uri="{FF2B5EF4-FFF2-40B4-BE49-F238E27FC236}">
                <a16:creationId xmlns:a16="http://schemas.microsoft.com/office/drawing/2014/main" id="{69F4BDF3-3CF4-4EA9-BCCE-8F82B34C293E}"/>
              </a:ext>
            </a:extLst>
          </p:cNvPr>
          <p:cNvSpPr/>
          <p:nvPr/>
        </p:nvSpPr>
        <p:spPr>
          <a:xfrm>
            <a:off x="1534501" y="9851155"/>
            <a:ext cx="2244187" cy="903201"/>
          </a:xfrm>
          <a:prstGeom prst="roundRect">
            <a:avLst/>
          </a:prstGeom>
          <a:solidFill>
            <a:srgbClr val="F5EFEB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B30769-800D-4851-AFAC-5BC2ED5864E3}"/>
              </a:ext>
            </a:extLst>
          </p:cNvPr>
          <p:cNvSpPr txBox="1"/>
          <p:nvPr/>
        </p:nvSpPr>
        <p:spPr>
          <a:xfrm>
            <a:off x="2455213" y="10103454"/>
            <a:ext cx="1187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Проекты</a:t>
            </a:r>
            <a:endParaRPr lang="ru-RU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4091905F-BBC6-4E07-ACFD-5F4967A1E9DE}"/>
              </a:ext>
            </a:extLst>
          </p:cNvPr>
          <p:cNvSpPr/>
          <p:nvPr/>
        </p:nvSpPr>
        <p:spPr>
          <a:xfrm>
            <a:off x="1534501" y="11019186"/>
            <a:ext cx="2244187" cy="903201"/>
          </a:xfrm>
          <a:prstGeom prst="roundRect">
            <a:avLst/>
          </a:prstGeom>
          <a:solidFill>
            <a:srgbClr val="F5EFEB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B79A5069-5F1F-4030-8ECD-F8A7FCE3580F}"/>
              </a:ext>
            </a:extLst>
          </p:cNvPr>
          <p:cNvSpPr/>
          <p:nvPr/>
        </p:nvSpPr>
        <p:spPr>
          <a:xfrm>
            <a:off x="1534501" y="12188273"/>
            <a:ext cx="2244187" cy="903201"/>
          </a:xfrm>
          <a:prstGeom prst="roundRect">
            <a:avLst/>
          </a:prstGeom>
          <a:solidFill>
            <a:srgbClr val="F5EFEB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A00224-6BC4-4333-A443-5C49BDE7D86D}"/>
              </a:ext>
            </a:extLst>
          </p:cNvPr>
          <p:cNvSpPr txBox="1"/>
          <p:nvPr/>
        </p:nvSpPr>
        <p:spPr>
          <a:xfrm>
            <a:off x="2455213" y="11270822"/>
            <a:ext cx="1090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Статьи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4AC438-5B10-47AF-ACD5-25B3FAF06356}"/>
              </a:ext>
            </a:extLst>
          </p:cNvPr>
          <p:cNvSpPr txBox="1"/>
          <p:nvPr/>
        </p:nvSpPr>
        <p:spPr>
          <a:xfrm>
            <a:off x="2455213" y="12317031"/>
            <a:ext cx="13234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Блог</a:t>
            </a:r>
          </a:p>
          <a:p>
            <a:r>
              <a:rPr lang="ru-RU" sz="18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(новости)</a:t>
            </a:r>
            <a:endParaRPr lang="ru-RU" dirty="0"/>
          </a:p>
        </p:txBody>
      </p:sp>
      <p:sp>
        <p:nvSpPr>
          <p:cNvPr id="24" name="Прямоугольник: скругленные верхние углы 23">
            <a:extLst>
              <a:ext uri="{FF2B5EF4-FFF2-40B4-BE49-F238E27FC236}">
                <a16:creationId xmlns:a16="http://schemas.microsoft.com/office/drawing/2014/main" id="{E19298AD-FD0B-4452-95E0-D302553B3941}"/>
              </a:ext>
            </a:extLst>
          </p:cNvPr>
          <p:cNvSpPr/>
          <p:nvPr/>
        </p:nvSpPr>
        <p:spPr>
          <a:xfrm rot="16200000">
            <a:off x="1283487" y="9802712"/>
            <a:ext cx="903200" cy="1000085"/>
          </a:xfrm>
          <a:prstGeom prst="round2SameRect">
            <a:avLst>
              <a:gd name="adj1" fmla="val 27375"/>
              <a:gd name="adj2" fmla="val 0"/>
            </a:avLst>
          </a:prstGeom>
          <a:solidFill>
            <a:srgbClr val="577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ru-RU" sz="4000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25" name="Прямоугольник: скругленные верхние углы 24">
            <a:extLst>
              <a:ext uri="{FF2B5EF4-FFF2-40B4-BE49-F238E27FC236}">
                <a16:creationId xmlns:a16="http://schemas.microsoft.com/office/drawing/2014/main" id="{5D00DF1A-3806-4475-9981-274B7775477A}"/>
              </a:ext>
            </a:extLst>
          </p:cNvPr>
          <p:cNvSpPr/>
          <p:nvPr/>
        </p:nvSpPr>
        <p:spPr>
          <a:xfrm rot="16200000">
            <a:off x="1283487" y="12138771"/>
            <a:ext cx="903201" cy="1000085"/>
          </a:xfrm>
          <a:prstGeom prst="round2SameRect">
            <a:avLst>
              <a:gd name="adj1" fmla="val 27375"/>
              <a:gd name="adj2" fmla="val 0"/>
            </a:avLst>
          </a:prstGeom>
          <a:solidFill>
            <a:srgbClr val="577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ru-RU" sz="4000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26" name="Прямоугольник: скругленные верхние углы 25">
            <a:extLst>
              <a:ext uri="{FF2B5EF4-FFF2-40B4-BE49-F238E27FC236}">
                <a16:creationId xmlns:a16="http://schemas.microsoft.com/office/drawing/2014/main" id="{AEE89444-7F6A-4A93-9942-7F263C0A3E10}"/>
              </a:ext>
            </a:extLst>
          </p:cNvPr>
          <p:cNvSpPr/>
          <p:nvPr/>
        </p:nvSpPr>
        <p:spPr>
          <a:xfrm rot="16200000">
            <a:off x="1283486" y="10970742"/>
            <a:ext cx="903200" cy="1000085"/>
          </a:xfrm>
          <a:prstGeom prst="round2SameRect">
            <a:avLst>
              <a:gd name="adj1" fmla="val 27375"/>
              <a:gd name="adj2" fmla="val 0"/>
            </a:avLst>
          </a:prstGeom>
          <a:solidFill>
            <a:srgbClr val="577C8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ru-RU" sz="4000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A5333C1D-66B6-4366-A685-4C3B11B2D3DC}"/>
              </a:ext>
            </a:extLst>
          </p:cNvPr>
          <p:cNvSpPr/>
          <p:nvPr/>
        </p:nvSpPr>
        <p:spPr>
          <a:xfrm>
            <a:off x="4709571" y="9851155"/>
            <a:ext cx="3175263" cy="3239924"/>
          </a:xfrm>
          <a:prstGeom prst="roundRect">
            <a:avLst/>
          </a:prstGeom>
          <a:solidFill>
            <a:srgbClr val="577C8E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F7FA26-3DF6-45AA-87BD-B37D4283B323}"/>
              </a:ext>
            </a:extLst>
          </p:cNvPr>
          <p:cNvSpPr txBox="1"/>
          <p:nvPr/>
        </p:nvSpPr>
        <p:spPr>
          <a:xfrm>
            <a:off x="4956667" y="10003521"/>
            <a:ext cx="269956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Футер: </a:t>
            </a:r>
          </a:p>
          <a:p>
            <a:endParaRPr lang="ru-RU" sz="1800" dirty="0">
              <a:solidFill>
                <a:schemeClr val="bg1"/>
              </a:solidFill>
              <a:latin typeface="Century Gothic" panose="020B0502020202020204" pitchFamily="34" charset="0"/>
              <a:ea typeface="Arial" pitchFamily="34" charset="-122"/>
              <a:cs typeface="Arial" pitchFamily="34" charset="-120"/>
            </a:endParaRPr>
          </a:p>
          <a:p>
            <a:pPr marL="285750" indent="-285750">
              <a:buFontTx/>
              <a:buChar char="-"/>
            </a:pPr>
            <a:r>
              <a:rPr lang="ru-RU" sz="18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Контактная информация (почта, телефон, адрес)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Быстрые ссылки</a:t>
            </a:r>
          </a:p>
          <a:p>
            <a:pPr marL="285750" indent="-285750">
              <a:buFontTx/>
              <a:buChar char="-"/>
            </a:pPr>
            <a:r>
              <a:rPr lang="ru-RU" sz="18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Год создания</a:t>
            </a:r>
          </a:p>
          <a:p>
            <a:pPr marL="285750" indent="-285750">
              <a:buFontTx/>
              <a:buChar char="-"/>
            </a:pPr>
            <a:r>
              <a:rPr lang="ru-RU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Наименование сайта</a:t>
            </a:r>
            <a:endParaRPr lang="ru-RU" sz="1800" dirty="0">
              <a:solidFill>
                <a:schemeClr val="bg1"/>
              </a:solidFill>
              <a:latin typeface="Century Gothic" panose="020B0502020202020204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EB1DAFB7-2A3E-4AAC-A220-1296336DD0A6}"/>
              </a:ext>
            </a:extLst>
          </p:cNvPr>
          <p:cNvSpPr/>
          <p:nvPr/>
        </p:nvSpPr>
        <p:spPr>
          <a:xfrm>
            <a:off x="4709571" y="7707697"/>
            <a:ext cx="3175263" cy="1965771"/>
          </a:xfrm>
          <a:prstGeom prst="roundRect">
            <a:avLst/>
          </a:prstGeom>
          <a:solidFill>
            <a:srgbClr val="F5EFEB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3089C7-2F18-43C1-BFC5-2E1D406AFEB2}"/>
              </a:ext>
            </a:extLst>
          </p:cNvPr>
          <p:cNvSpPr txBox="1"/>
          <p:nvPr/>
        </p:nvSpPr>
        <p:spPr>
          <a:xfrm>
            <a:off x="4956667" y="7805366"/>
            <a:ext cx="281358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Навигационная панель:</a:t>
            </a:r>
          </a:p>
          <a:p>
            <a:endParaRPr lang="ru-RU" sz="1800" b="1" dirty="0">
              <a:solidFill>
                <a:srgbClr val="546E7A"/>
              </a:solidFill>
              <a:latin typeface="Century Gothic" panose="020B0502020202020204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ru-RU" sz="18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Контактная информация (почта, телефон, адрес)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A3EEF05C-F1AA-4CD9-9C60-1C4D2BB8131A}"/>
              </a:ext>
            </a:extLst>
          </p:cNvPr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9" t="40295" r="9956" b="10137"/>
          <a:stretch/>
        </p:blipFill>
        <p:spPr bwMode="auto">
          <a:xfrm>
            <a:off x="6985448" y="1195734"/>
            <a:ext cx="4764402" cy="557766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00483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один скругленный угол 3">
            <a:extLst>
              <a:ext uri="{FF2B5EF4-FFF2-40B4-BE49-F238E27FC236}">
                <a16:creationId xmlns:a16="http://schemas.microsoft.com/office/drawing/2014/main" id="{2E52F73C-0666-4E72-A006-24C332090BD6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AA527F4-0880-4C07-93A5-1340F5F19409}"/>
              </a:ext>
            </a:extLst>
          </p:cNvPr>
          <p:cNvSpPr txBox="1">
            <a:spLocks/>
          </p:cNvSpPr>
          <p:nvPr/>
        </p:nvSpPr>
        <p:spPr>
          <a:xfrm>
            <a:off x="534001" y="-89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Пример страницы Контакты</a:t>
            </a:r>
            <a:endParaRPr lang="en-US" b="1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4B1DA9D-DC0C-431E-9DBB-6AE958181A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87" b="20444"/>
          <a:stretch/>
        </p:blipFill>
        <p:spPr>
          <a:xfrm>
            <a:off x="4873742" y="1236341"/>
            <a:ext cx="6897530" cy="5455920"/>
          </a:xfrm>
          <a:prstGeom prst="rect">
            <a:avLst/>
          </a:prstGeom>
        </p:spPr>
      </p:pic>
      <p:sp>
        <p:nvSpPr>
          <p:cNvPr id="9" name="Shape 3">
            <a:extLst>
              <a:ext uri="{FF2B5EF4-FFF2-40B4-BE49-F238E27FC236}">
                <a16:creationId xmlns:a16="http://schemas.microsoft.com/office/drawing/2014/main" id="{FEAE3E9D-B581-46ED-8BB0-3135CF79267A}"/>
              </a:ext>
            </a:extLst>
          </p:cNvPr>
          <p:cNvSpPr/>
          <p:nvPr/>
        </p:nvSpPr>
        <p:spPr>
          <a:xfrm>
            <a:off x="534001" y="1768877"/>
            <a:ext cx="3885599" cy="4096623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9FEAA0D-A87D-44DF-AF76-2ADCA11D9E89}"/>
              </a:ext>
            </a:extLst>
          </p:cNvPr>
          <p:cNvSpPr/>
          <p:nvPr/>
        </p:nvSpPr>
        <p:spPr>
          <a:xfrm>
            <a:off x="1269173" y="2233012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0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На странице Контакты есть:</a:t>
            </a:r>
            <a:endParaRPr lang="en-US" sz="2000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9D604FF9-DBCD-4439-85AA-BA8A8F81E35F}"/>
              </a:ext>
            </a:extLst>
          </p:cNvPr>
          <p:cNvSpPr/>
          <p:nvPr/>
        </p:nvSpPr>
        <p:spPr>
          <a:xfrm>
            <a:off x="1028197" y="3184827"/>
            <a:ext cx="3169920" cy="646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6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-Контактная информация (почта, телефон, адрес)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570878-C86E-4F84-97FC-CDF5C54E9714}"/>
              </a:ext>
            </a:extLst>
          </p:cNvPr>
          <p:cNvSpPr txBox="1"/>
          <p:nvPr/>
        </p:nvSpPr>
        <p:spPr>
          <a:xfrm>
            <a:off x="1028197" y="4158999"/>
            <a:ext cx="316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-Связаться с нами (поля для заполнения пользователем)</a:t>
            </a:r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F2E28636-5514-4E21-A78C-97A7669524F3}"/>
              </a:ext>
            </a:extLst>
          </p:cNvPr>
          <p:cNvSpPr/>
          <p:nvPr/>
        </p:nvSpPr>
        <p:spPr>
          <a:xfrm>
            <a:off x="-5508372" y="1767975"/>
            <a:ext cx="3885599" cy="4096623"/>
          </a:xfrm>
          <a:prstGeom prst="roundRect">
            <a:avLst>
              <a:gd name="adj" fmla="val 9816"/>
            </a:avLst>
          </a:prstGeom>
          <a:solidFill>
            <a:srgbClr val="577C8E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A2A73B25-440B-4B88-B093-67682E1B1C87}"/>
              </a:ext>
            </a:extLst>
          </p:cNvPr>
          <p:cNvSpPr/>
          <p:nvPr/>
        </p:nvSpPr>
        <p:spPr>
          <a:xfrm>
            <a:off x="-4784774" y="2062195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На странице Контакты есть:</a:t>
            </a:r>
            <a:endParaRPr lang="en-US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B4302CFB-08DA-4FDB-A9BB-07A50EC1C461}"/>
              </a:ext>
            </a:extLst>
          </p:cNvPr>
          <p:cNvSpPr/>
          <p:nvPr/>
        </p:nvSpPr>
        <p:spPr>
          <a:xfrm>
            <a:off x="-5797408" y="2844095"/>
            <a:ext cx="4463668" cy="1068852"/>
          </a:xfrm>
          <a:prstGeom prst="roundRect">
            <a:avLst/>
          </a:prstGeom>
          <a:solidFill>
            <a:srgbClr val="2F4157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51015744-F7DA-44D1-A5B9-8D106E96A405}"/>
              </a:ext>
            </a:extLst>
          </p:cNvPr>
          <p:cNvSpPr/>
          <p:nvPr/>
        </p:nvSpPr>
        <p:spPr>
          <a:xfrm>
            <a:off x="-5150534" y="2989227"/>
            <a:ext cx="3169920" cy="6463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-Контактная информация (почта, телефон, адрес)</a:t>
            </a:r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E0814D10-30DF-459B-A87A-88CF698E661E}"/>
              </a:ext>
            </a:extLst>
          </p:cNvPr>
          <p:cNvSpPr/>
          <p:nvPr/>
        </p:nvSpPr>
        <p:spPr>
          <a:xfrm>
            <a:off x="-5797408" y="4029996"/>
            <a:ext cx="4463668" cy="1068852"/>
          </a:xfrm>
          <a:prstGeom prst="roundRect">
            <a:avLst/>
          </a:prstGeom>
          <a:solidFill>
            <a:srgbClr val="2F4157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36D821-C7E0-4878-9753-7824206B0F0E}"/>
              </a:ext>
            </a:extLst>
          </p:cNvPr>
          <p:cNvSpPr txBox="1"/>
          <p:nvPr/>
        </p:nvSpPr>
        <p:spPr>
          <a:xfrm>
            <a:off x="-5150534" y="4272035"/>
            <a:ext cx="3169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-Связаться с нами (поля для заполнения пользователем)</a:t>
            </a:r>
          </a:p>
        </p:txBody>
      </p:sp>
    </p:spTree>
    <p:extLst>
      <p:ext uri="{BB962C8B-B14F-4D97-AF65-F5344CB8AC3E}">
        <p14:creationId xmlns:p14="http://schemas.microsoft.com/office/powerpoint/2010/main" val="559539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один скругленный угол 3">
            <a:extLst>
              <a:ext uri="{FF2B5EF4-FFF2-40B4-BE49-F238E27FC236}">
                <a16:creationId xmlns:a16="http://schemas.microsoft.com/office/drawing/2014/main" id="{2E52F73C-0666-4E72-A006-24C332090BD6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AA527F4-0880-4C07-93A5-1340F5F19409}"/>
              </a:ext>
            </a:extLst>
          </p:cNvPr>
          <p:cNvSpPr txBox="1">
            <a:spLocks/>
          </p:cNvSpPr>
          <p:nvPr/>
        </p:nvSpPr>
        <p:spPr>
          <a:xfrm>
            <a:off x="534001" y="-892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Пример страницы </a:t>
            </a:r>
            <a:r>
              <a:rPr lang="ru-RU" b="1" dirty="0">
                <a:solidFill>
                  <a:schemeClr val="bg1"/>
                </a:solidFill>
                <a:latin typeface="Century Gothic" panose="020B0502020202020204" pitchFamily="34" charset="0"/>
              </a:rPr>
              <a:t>Блог</a:t>
            </a:r>
            <a:endParaRPr lang="en-US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1220C20-600A-4499-B224-5275A1531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98" y="1236341"/>
            <a:ext cx="7425570" cy="5483084"/>
          </a:xfrm>
          <a:prstGeom prst="rect">
            <a:avLst/>
          </a:prstGeom>
        </p:spPr>
      </p:pic>
      <p:sp>
        <p:nvSpPr>
          <p:cNvPr id="6" name="Shape 3">
            <a:extLst>
              <a:ext uri="{FF2B5EF4-FFF2-40B4-BE49-F238E27FC236}">
                <a16:creationId xmlns:a16="http://schemas.microsoft.com/office/drawing/2014/main" id="{702445AC-41F1-4F9D-953F-C7E260AB6CF0}"/>
              </a:ext>
            </a:extLst>
          </p:cNvPr>
          <p:cNvSpPr/>
          <p:nvPr/>
        </p:nvSpPr>
        <p:spPr>
          <a:xfrm>
            <a:off x="8018203" y="1560533"/>
            <a:ext cx="3885599" cy="4096623"/>
          </a:xfrm>
          <a:prstGeom prst="roundRect">
            <a:avLst/>
          </a:prstGeom>
          <a:solidFill>
            <a:srgbClr val="577C8E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0CBC38-6EDF-4371-A71C-5941C688D594}"/>
              </a:ext>
            </a:extLst>
          </p:cNvPr>
          <p:cNvSpPr/>
          <p:nvPr/>
        </p:nvSpPr>
        <p:spPr>
          <a:xfrm>
            <a:off x="8611565" y="1854757"/>
            <a:ext cx="2847372" cy="657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На странице Научные статьи есть:</a:t>
            </a:r>
            <a:endParaRPr lang="en-US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DE98332-5654-4D69-96A4-DAA8CFB62875}"/>
              </a:ext>
            </a:extLst>
          </p:cNvPr>
          <p:cNvSpPr/>
          <p:nvPr/>
        </p:nvSpPr>
        <p:spPr>
          <a:xfrm>
            <a:off x="8450291" y="2725302"/>
            <a:ext cx="3169920" cy="334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Заголовок</a:t>
            </a:r>
            <a:endParaRPr lang="en-US" sz="16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86F6F-8B3F-44CC-997B-D43C05A19757}"/>
              </a:ext>
            </a:extLst>
          </p:cNvPr>
          <p:cNvSpPr txBox="1"/>
          <p:nvPr/>
        </p:nvSpPr>
        <p:spPr>
          <a:xfrm>
            <a:off x="8450291" y="3272602"/>
            <a:ext cx="31699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Блок статьи:</a:t>
            </a:r>
          </a:p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Заголовок</a:t>
            </a:r>
          </a:p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Дата</a:t>
            </a:r>
          </a:p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Журнал</a:t>
            </a:r>
          </a:p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Авторы</a:t>
            </a:r>
          </a:p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Краткое описание</a:t>
            </a:r>
          </a:p>
          <a:p>
            <a:pPr marL="285750" indent="-285750">
              <a:buFont typeface="Century Gothic" panose="020B0502020202020204" pitchFamily="34" charset="0"/>
              <a:buChar char="–"/>
            </a:pPr>
            <a:r>
              <a:rPr lang="ru-RU" sz="1600" dirty="0">
                <a:solidFill>
                  <a:schemeClr val="bg1"/>
                </a:solidFill>
                <a:latin typeface="Century Gothic" panose="020B0502020202020204" pitchFamily="34" charset="0"/>
                <a:cs typeface="Arial" pitchFamily="34" charset="-120"/>
              </a:rPr>
              <a:t>Кнопка «Читать статьи»</a:t>
            </a:r>
          </a:p>
        </p:txBody>
      </p:sp>
    </p:spTree>
    <p:extLst>
      <p:ext uri="{BB962C8B-B14F-4D97-AF65-F5344CB8AC3E}">
        <p14:creationId xmlns:p14="http://schemas.microsoft.com/office/powerpoint/2010/main" val="4187495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1920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9056" y="97536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Информационная модель системы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0" y="792480"/>
            <a:ext cx="12192000" cy="7315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68224" y="999744"/>
            <a:ext cx="3657600" cy="1731264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68224" y="999744"/>
            <a:ext cx="365760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0144" y="1048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users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4528" y="1487424"/>
            <a:ext cx="34137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login · email · password_hash · role · first_name</a:t>
            </a:r>
            <a:endParaRPr lang="en-US" sz="1267" dirty="0"/>
          </a:p>
        </p:txBody>
      </p:sp>
      <p:sp>
        <p:nvSpPr>
          <p:cNvPr id="10" name="Shape 7"/>
          <p:cNvSpPr/>
          <p:nvPr/>
        </p:nvSpPr>
        <p:spPr>
          <a:xfrm>
            <a:off x="4096512" y="999744"/>
            <a:ext cx="3657600" cy="1731264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96512" y="999744"/>
            <a:ext cx="365760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18432" y="1048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projects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242816" y="1487424"/>
            <a:ext cx="34137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slug · description · objectives · status · team_members · gallery</a:t>
            </a:r>
            <a:endParaRPr lang="en-US" sz="1267" dirty="0"/>
          </a:p>
        </p:txBody>
      </p:sp>
      <p:sp>
        <p:nvSpPr>
          <p:cNvPr id="14" name="Shape 11"/>
          <p:cNvSpPr/>
          <p:nvPr/>
        </p:nvSpPr>
        <p:spPr>
          <a:xfrm>
            <a:off x="7924800" y="999744"/>
            <a:ext cx="3657600" cy="1731264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924800" y="999744"/>
            <a:ext cx="3657600" cy="43891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46720" y="1048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articles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071104" y="1487424"/>
            <a:ext cx="34137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abstract · content · authors · journal · publication_date · status</a:t>
            </a:r>
            <a:endParaRPr lang="en-US" sz="1267" dirty="0"/>
          </a:p>
        </p:txBody>
      </p:sp>
      <p:sp>
        <p:nvSpPr>
          <p:cNvPr id="18" name="Shape 15"/>
          <p:cNvSpPr/>
          <p:nvPr/>
        </p:nvSpPr>
        <p:spPr>
          <a:xfrm>
            <a:off x="268224" y="2901696"/>
            <a:ext cx="3657600" cy="1731264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68224" y="2901696"/>
            <a:ext cx="3657600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0144" y="29504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blog_posts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14528" y="3389376"/>
            <a:ext cx="34137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slug · excerpt · content · author_id · tags · status</a:t>
            </a:r>
            <a:endParaRPr lang="en-US" sz="1267" dirty="0"/>
          </a:p>
        </p:txBody>
      </p:sp>
      <p:sp>
        <p:nvSpPr>
          <p:cNvPr id="22" name="Shape 19"/>
          <p:cNvSpPr/>
          <p:nvPr/>
        </p:nvSpPr>
        <p:spPr>
          <a:xfrm>
            <a:off x="4096512" y="2901696"/>
            <a:ext cx="3657600" cy="1731264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096512" y="2901696"/>
            <a:ext cx="365760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18432" y="29504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datasets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242816" y="3389376"/>
            <a:ext cx="34137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description · access_level · related_project_id</a:t>
            </a:r>
            <a:endParaRPr lang="en-US" sz="1267" dirty="0"/>
          </a:p>
        </p:txBody>
      </p:sp>
      <p:sp>
        <p:nvSpPr>
          <p:cNvPr id="26" name="Shape 23"/>
          <p:cNvSpPr/>
          <p:nvPr/>
        </p:nvSpPr>
        <p:spPr>
          <a:xfrm>
            <a:off x="7924800" y="2901696"/>
            <a:ext cx="3657600" cy="1731264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924800" y="2901696"/>
            <a:ext cx="3657600" cy="4389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0" y="29504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</a:rPr>
              <a:t>activity_logs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071104" y="3389376"/>
            <a:ext cx="341376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user_id · action · entity_type · ip_address · created_at</a:t>
            </a:r>
            <a:endParaRPr lang="en-US" sz="1267" dirty="0"/>
          </a:p>
        </p:txBody>
      </p:sp>
      <p:sp>
        <p:nvSpPr>
          <p:cNvPr id="30" name="Shape 27"/>
          <p:cNvSpPr/>
          <p:nvPr/>
        </p:nvSpPr>
        <p:spPr>
          <a:xfrm>
            <a:off x="268224" y="5388864"/>
            <a:ext cx="11655552" cy="1219200"/>
          </a:xfrm>
          <a:prstGeom prst="rect">
            <a:avLst/>
          </a:prstGeom>
          <a:solidFill>
            <a:srgbClr val="FFF8E1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512064" y="5462016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57C00"/>
                </a:solidFill>
              </a:rPr>
              <a:t>Связи между таблицами: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12064" y="5827776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→ blog_posts (1:N) — автор записей</a:t>
            </a:r>
            <a:endParaRPr lang="en-US" sz="1467" dirty="0"/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→ datasets (1:N) — данные экспериментов</a:t>
            </a:r>
            <a:endParaRPr lang="en-US" sz="1467" dirty="0"/>
          </a:p>
          <a:p>
            <a:pPr marL="457189" indent="-457189">
              <a:buSzPct val="100000"/>
              <a:buChar char="•"/>
            </a:pPr>
            <a:r>
              <a:rPr lang="en-US" sz="1467" dirty="0">
                <a:solidFill>
                  <a:srgbClr val="0B1B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↔ articles (M:N) — таблица-связка project_publication</a:t>
            </a:r>
            <a:endParaRPr lang="en-US" sz="1467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один скругленный угол 3">
            <a:extLst>
              <a:ext uri="{FF2B5EF4-FFF2-40B4-BE49-F238E27FC236}">
                <a16:creationId xmlns:a16="http://schemas.microsoft.com/office/drawing/2014/main" id="{BF6EB891-3194-4593-A8A0-3602F56A5569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4DC86AE-8908-40C5-B899-283A8366459B}"/>
              </a:ext>
            </a:extLst>
          </p:cNvPr>
          <p:cNvSpPr txBox="1">
            <a:spLocks/>
          </p:cNvSpPr>
          <p:nvPr/>
        </p:nvSpPr>
        <p:spPr>
          <a:xfrm>
            <a:off x="693821" y="0"/>
            <a:ext cx="10515600" cy="1087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Руководство пользователя</a:t>
            </a:r>
            <a:endParaRPr lang="en-US" b="1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38D7366-1E81-4A50-BE8D-071BA4C5EE4F}"/>
              </a:ext>
            </a:extLst>
          </p:cNvPr>
          <p:cNvSpPr/>
          <p:nvPr/>
        </p:nvSpPr>
        <p:spPr>
          <a:xfrm>
            <a:off x="1527048" y="2273808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C23EB49-AD8B-4967-88A2-6DCBE85E9D9F}"/>
              </a:ext>
            </a:extLst>
          </p:cNvPr>
          <p:cNvSpPr/>
          <p:nvPr/>
        </p:nvSpPr>
        <p:spPr>
          <a:xfrm>
            <a:off x="1527048" y="2273808"/>
            <a:ext cx="2743200" cy="329184"/>
          </a:xfrm>
          <a:prstGeom prst="rect">
            <a:avLst/>
          </a:prstGeom>
          <a:solidFill>
            <a:srgbClr val="2F4157"/>
          </a:solidFill>
          <a:ln w="12700">
            <a:noFill/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E52404DB-2416-426F-A8EF-E06E21B1D706}"/>
              </a:ext>
            </a:extLst>
          </p:cNvPr>
          <p:cNvSpPr/>
          <p:nvPr/>
        </p:nvSpPr>
        <p:spPr>
          <a:xfrm>
            <a:off x="1618488" y="2310384"/>
            <a:ext cx="46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users</a:t>
            </a:r>
            <a:endParaRPr lang="en-US" sz="1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57BA048-81EE-4D59-9B6F-38DC4D13B925}"/>
              </a:ext>
            </a:extLst>
          </p:cNvPr>
          <p:cNvSpPr/>
          <p:nvPr/>
        </p:nvSpPr>
        <p:spPr>
          <a:xfrm>
            <a:off x="1636776" y="26395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login · email · password_hash · role · first_name</a:t>
            </a:r>
            <a:endParaRPr lang="en-US" sz="9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543456CC-5CFC-4919-BF46-64CCD3A5BC01}"/>
              </a:ext>
            </a:extLst>
          </p:cNvPr>
          <p:cNvSpPr/>
          <p:nvPr/>
        </p:nvSpPr>
        <p:spPr>
          <a:xfrm>
            <a:off x="4398264" y="2273808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D716698E-7E34-4F74-A44F-28C825B2A1AF}"/>
              </a:ext>
            </a:extLst>
          </p:cNvPr>
          <p:cNvSpPr/>
          <p:nvPr/>
        </p:nvSpPr>
        <p:spPr>
          <a:xfrm>
            <a:off x="4398264" y="2273808"/>
            <a:ext cx="274320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5307AAD-26C8-400A-952E-78257EB154E7}"/>
              </a:ext>
            </a:extLst>
          </p:cNvPr>
          <p:cNvSpPr/>
          <p:nvPr/>
        </p:nvSpPr>
        <p:spPr>
          <a:xfrm>
            <a:off x="4489704" y="231038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projects</a:t>
            </a:r>
            <a:endParaRPr lang="en-US" sz="12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92AD145A-08C3-4522-B68D-2467CBEE5E31}"/>
              </a:ext>
            </a:extLst>
          </p:cNvPr>
          <p:cNvSpPr/>
          <p:nvPr/>
        </p:nvSpPr>
        <p:spPr>
          <a:xfrm>
            <a:off x="4507992" y="26395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slug · description · objectives · status · team_members · gallery</a:t>
            </a:r>
            <a:endParaRPr lang="en-US" sz="950" dirty="0"/>
          </a:p>
        </p:txBody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5A2F5152-3468-4AD8-A445-C8CC6982C4B9}"/>
              </a:ext>
            </a:extLst>
          </p:cNvPr>
          <p:cNvSpPr/>
          <p:nvPr/>
        </p:nvSpPr>
        <p:spPr>
          <a:xfrm>
            <a:off x="7269480" y="2273808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956558AC-C477-4BFE-B2E2-E6548CFD6EE8}"/>
              </a:ext>
            </a:extLst>
          </p:cNvPr>
          <p:cNvSpPr/>
          <p:nvPr/>
        </p:nvSpPr>
        <p:spPr>
          <a:xfrm>
            <a:off x="7269480" y="2273808"/>
            <a:ext cx="2743200" cy="329184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08E22D5F-1C1F-43AF-A9C2-876CF8B42787}"/>
              </a:ext>
            </a:extLst>
          </p:cNvPr>
          <p:cNvSpPr/>
          <p:nvPr/>
        </p:nvSpPr>
        <p:spPr>
          <a:xfrm>
            <a:off x="7360920" y="2310384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articles</a:t>
            </a:r>
            <a:endParaRPr lang="en-US" sz="120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47E0E642-72CD-47E6-B46E-A8EBEDCC7FFD}"/>
              </a:ext>
            </a:extLst>
          </p:cNvPr>
          <p:cNvSpPr/>
          <p:nvPr/>
        </p:nvSpPr>
        <p:spPr>
          <a:xfrm>
            <a:off x="7379208" y="26395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abstract · content · authors · journal · publication_date · status</a:t>
            </a:r>
            <a:endParaRPr lang="en-US" sz="950" dirty="0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B847F00C-E4EB-4D44-8142-173837F09102}"/>
              </a:ext>
            </a:extLst>
          </p:cNvPr>
          <p:cNvSpPr/>
          <p:nvPr/>
        </p:nvSpPr>
        <p:spPr>
          <a:xfrm>
            <a:off x="1527048" y="3700272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CE84EC42-7873-46E6-AF65-7AB42243D90F}"/>
              </a:ext>
            </a:extLst>
          </p:cNvPr>
          <p:cNvSpPr/>
          <p:nvPr/>
        </p:nvSpPr>
        <p:spPr>
          <a:xfrm>
            <a:off x="1527048" y="3700272"/>
            <a:ext cx="2743200" cy="329184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BD120E36-CAD5-4174-B91B-987D3FD154EB}"/>
              </a:ext>
            </a:extLst>
          </p:cNvPr>
          <p:cNvSpPr/>
          <p:nvPr/>
        </p:nvSpPr>
        <p:spPr>
          <a:xfrm>
            <a:off x="1618488" y="373684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blog_posts</a:t>
            </a:r>
            <a:endParaRPr lang="en-US" sz="12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5F357D35-035E-473F-8D9A-91CD422F6B84}"/>
              </a:ext>
            </a:extLst>
          </p:cNvPr>
          <p:cNvSpPr/>
          <p:nvPr/>
        </p:nvSpPr>
        <p:spPr>
          <a:xfrm>
            <a:off x="1636776" y="40660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slug · excerpt · content · author_id · tags · status</a:t>
            </a:r>
            <a:endParaRPr lang="en-US" sz="95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BC51D8CE-D9C2-45E0-842F-A0D9B1C4D244}"/>
              </a:ext>
            </a:extLst>
          </p:cNvPr>
          <p:cNvSpPr/>
          <p:nvPr/>
        </p:nvSpPr>
        <p:spPr>
          <a:xfrm>
            <a:off x="4398264" y="3700272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1449A16A-D4D4-44BD-8905-C2438B228DD6}"/>
              </a:ext>
            </a:extLst>
          </p:cNvPr>
          <p:cNvSpPr/>
          <p:nvPr/>
        </p:nvSpPr>
        <p:spPr>
          <a:xfrm>
            <a:off x="4398264" y="3700272"/>
            <a:ext cx="2743200" cy="329184"/>
          </a:xfrm>
          <a:prstGeom prst="rect">
            <a:avLst/>
          </a:prstGeom>
          <a:solidFill>
            <a:srgbClr val="2F4157"/>
          </a:solidFill>
          <a:ln w="12700">
            <a:noFill/>
            <a:prstDash val="solid"/>
          </a:ln>
        </p:spPr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E377AA9D-1F19-43B9-965C-937B854814D8}"/>
              </a:ext>
            </a:extLst>
          </p:cNvPr>
          <p:cNvSpPr/>
          <p:nvPr/>
        </p:nvSpPr>
        <p:spPr>
          <a:xfrm>
            <a:off x="4489704" y="3736848"/>
            <a:ext cx="710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datasets</a:t>
            </a:r>
            <a:endParaRPr lang="en-US" sz="120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351E60FD-D92E-4199-ABDE-064EE3E85F02}"/>
              </a:ext>
            </a:extLst>
          </p:cNvPr>
          <p:cNvSpPr/>
          <p:nvPr/>
        </p:nvSpPr>
        <p:spPr>
          <a:xfrm>
            <a:off x="4507992" y="40660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description · access_level · related_project_id</a:t>
            </a:r>
            <a:endParaRPr lang="en-US" sz="950" dirty="0"/>
          </a:p>
        </p:txBody>
      </p:sp>
      <p:sp>
        <p:nvSpPr>
          <p:cNvPr id="29" name="Shape 23">
            <a:extLst>
              <a:ext uri="{FF2B5EF4-FFF2-40B4-BE49-F238E27FC236}">
                <a16:creationId xmlns:a16="http://schemas.microsoft.com/office/drawing/2014/main" id="{81A4C6D0-F082-4472-A409-BAC8971CE333}"/>
              </a:ext>
            </a:extLst>
          </p:cNvPr>
          <p:cNvSpPr/>
          <p:nvPr/>
        </p:nvSpPr>
        <p:spPr>
          <a:xfrm>
            <a:off x="7269480" y="3700272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5A793209-12AE-4CCF-B663-3DDA0373DEB4}"/>
              </a:ext>
            </a:extLst>
          </p:cNvPr>
          <p:cNvSpPr/>
          <p:nvPr/>
        </p:nvSpPr>
        <p:spPr>
          <a:xfrm>
            <a:off x="7269480" y="3700272"/>
            <a:ext cx="2743200" cy="329184"/>
          </a:xfrm>
          <a:prstGeom prst="rect">
            <a:avLst/>
          </a:prstGeom>
          <a:solidFill>
            <a:srgbClr val="00838F"/>
          </a:solidFill>
          <a:ln w="12700">
            <a:noFill/>
            <a:prstDash val="solid"/>
          </a:ln>
        </p:spPr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E4981D96-731F-4400-A3D9-4BFB1E482DBB}"/>
              </a:ext>
            </a:extLst>
          </p:cNvPr>
          <p:cNvSpPr/>
          <p:nvPr/>
        </p:nvSpPr>
        <p:spPr>
          <a:xfrm>
            <a:off x="7360920" y="3736848"/>
            <a:ext cx="8869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activity_logs</a:t>
            </a:r>
            <a:endParaRPr lang="en-US" sz="12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2C61457B-C80E-458D-98E5-E60BB5A710C7}"/>
              </a:ext>
            </a:extLst>
          </p:cNvPr>
          <p:cNvSpPr/>
          <p:nvPr/>
        </p:nvSpPr>
        <p:spPr>
          <a:xfrm>
            <a:off x="7379208" y="40660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user_id · action · entity_type · ip_address · created_at</a:t>
            </a:r>
            <a:endParaRPr lang="en-US" sz="950" dirty="0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105DDFB5-1FF8-45AC-A2EA-515C560CFA56}"/>
              </a:ext>
            </a:extLst>
          </p:cNvPr>
          <p:cNvSpPr/>
          <p:nvPr/>
        </p:nvSpPr>
        <p:spPr>
          <a:xfrm>
            <a:off x="1197864" y="5659094"/>
            <a:ext cx="8741664" cy="914400"/>
          </a:xfrm>
          <a:prstGeom prst="rect">
            <a:avLst/>
          </a:prstGeom>
          <a:solidFill>
            <a:srgbClr val="F5EFEB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84343467-BF32-4EC4-B737-8830745FA22F}"/>
              </a:ext>
            </a:extLst>
          </p:cNvPr>
          <p:cNvSpPr/>
          <p:nvPr/>
        </p:nvSpPr>
        <p:spPr>
          <a:xfrm>
            <a:off x="1380744" y="571395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4157"/>
                </a:solidFill>
              </a:rPr>
              <a:t>Связи между таблицами:</a:t>
            </a:r>
            <a:endParaRPr lang="en-US" sz="1200" dirty="0">
              <a:solidFill>
                <a:srgbClr val="2F4157"/>
              </a:solidFill>
            </a:endParaRP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A7733F8E-EAF6-4913-B700-0E312C2FCA3E}"/>
              </a:ext>
            </a:extLst>
          </p:cNvPr>
          <p:cNvSpPr/>
          <p:nvPr/>
        </p:nvSpPr>
        <p:spPr>
          <a:xfrm>
            <a:off x="1380744" y="598827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→ blog_posts (1:N) — автор записей</a:t>
            </a:r>
            <a:endParaRPr lang="en-US" sz="1100" dirty="0">
              <a:solidFill>
                <a:srgbClr val="577C8E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→ datasets (1:N) — данные экспериментов</a:t>
            </a:r>
            <a:endParaRPr lang="en-US" sz="1100" dirty="0">
              <a:solidFill>
                <a:srgbClr val="577C8E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↔ articles (M:N) — таблица-связка project_publication</a:t>
            </a:r>
            <a:endParaRPr lang="en-US" sz="1100" dirty="0">
              <a:solidFill>
                <a:srgbClr val="577C8E"/>
              </a:solidFill>
            </a:endParaRPr>
          </a:p>
        </p:txBody>
      </p:sp>
      <p:pic>
        <p:nvPicPr>
          <p:cNvPr id="36" name="Picture 4">
            <a:extLst>
              <a:ext uri="{FF2B5EF4-FFF2-40B4-BE49-F238E27FC236}">
                <a16:creationId xmlns:a16="http://schemas.microsoft.com/office/drawing/2014/main" id="{97C513F4-3831-4269-A79C-E1385F65E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4632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Овал 36">
            <a:extLst>
              <a:ext uri="{FF2B5EF4-FFF2-40B4-BE49-F238E27FC236}">
                <a16:creationId xmlns:a16="http://schemas.microsoft.com/office/drawing/2014/main" id="{63827279-2140-488C-B8AB-CE61ADAD4317}"/>
              </a:ext>
            </a:extLst>
          </p:cNvPr>
          <p:cNvSpPr/>
          <p:nvPr/>
        </p:nvSpPr>
        <p:spPr>
          <a:xfrm>
            <a:off x="-4693920" y="-1143000"/>
            <a:ext cx="822960" cy="822960"/>
          </a:xfrm>
          <a:prstGeom prst="ellipse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860AF81F-FC88-466C-B5ED-8066B9AA6FA9}"/>
              </a:ext>
            </a:extLst>
          </p:cNvPr>
          <p:cNvSpPr/>
          <p:nvPr/>
        </p:nvSpPr>
        <p:spPr>
          <a:xfrm>
            <a:off x="-3718560" y="-1143000"/>
            <a:ext cx="822960" cy="822960"/>
          </a:xfrm>
          <a:prstGeom prst="ellipse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77171000-D4C6-4950-99B2-835BBF780AF6}"/>
              </a:ext>
            </a:extLst>
          </p:cNvPr>
          <p:cNvSpPr/>
          <p:nvPr/>
        </p:nvSpPr>
        <p:spPr>
          <a:xfrm>
            <a:off x="-2743200" y="-1143000"/>
            <a:ext cx="822960" cy="822960"/>
          </a:xfrm>
          <a:prstGeom prst="ellipse">
            <a:avLst/>
          </a:prstGeom>
          <a:solidFill>
            <a:srgbClr val="DBE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D4241D93-8477-489D-8FEA-3F7C03D05C55}"/>
              </a:ext>
            </a:extLst>
          </p:cNvPr>
          <p:cNvSpPr/>
          <p:nvPr/>
        </p:nvSpPr>
        <p:spPr>
          <a:xfrm>
            <a:off x="-1767840" y="-1138845"/>
            <a:ext cx="822960" cy="822960"/>
          </a:xfrm>
          <a:prstGeom prst="ellipse">
            <a:avLst/>
          </a:prstGeom>
          <a:solidFill>
            <a:srgbClr val="F9F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434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3">
            <a:extLst>
              <a:ext uri="{FF2B5EF4-FFF2-40B4-BE49-F238E27FC236}">
                <a16:creationId xmlns:a16="http://schemas.microsoft.com/office/drawing/2014/main" id="{533D1742-3C9C-4B09-A49A-75E8CBDE6375}"/>
              </a:ext>
            </a:extLst>
          </p:cNvPr>
          <p:cNvSpPr/>
          <p:nvPr/>
        </p:nvSpPr>
        <p:spPr>
          <a:xfrm>
            <a:off x="1527048" y="2273808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7E06E492-C4F4-4801-BA3D-AD252EB427D0}"/>
              </a:ext>
            </a:extLst>
          </p:cNvPr>
          <p:cNvSpPr/>
          <p:nvPr/>
        </p:nvSpPr>
        <p:spPr>
          <a:xfrm>
            <a:off x="1527048" y="2273808"/>
            <a:ext cx="2743200" cy="329184"/>
          </a:xfrm>
          <a:prstGeom prst="rect">
            <a:avLst/>
          </a:prstGeom>
          <a:solidFill>
            <a:srgbClr val="2F4157"/>
          </a:solidFill>
          <a:ln w="12700">
            <a:noFill/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BA502CEF-818F-4AE5-A424-AC3D3FF6B7E4}"/>
              </a:ext>
            </a:extLst>
          </p:cNvPr>
          <p:cNvSpPr/>
          <p:nvPr/>
        </p:nvSpPr>
        <p:spPr>
          <a:xfrm>
            <a:off x="1618488" y="2310384"/>
            <a:ext cx="46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users</a:t>
            </a:r>
            <a:endParaRPr lang="en-US" sz="12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0ED036DB-519D-43DA-BF1B-85247CE1E99A}"/>
              </a:ext>
            </a:extLst>
          </p:cNvPr>
          <p:cNvSpPr/>
          <p:nvPr/>
        </p:nvSpPr>
        <p:spPr>
          <a:xfrm>
            <a:off x="1636776" y="26395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id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login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email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password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 err="1">
                <a:solidFill>
                  <a:srgbClr val="546E7A"/>
                </a:solidFill>
                <a:latin typeface="Consolas" pitchFamily="34" charset="0"/>
              </a:rPr>
              <a:t>first_name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 err="1">
                <a:solidFill>
                  <a:srgbClr val="546E7A"/>
                </a:solidFill>
                <a:latin typeface="Consolas" pitchFamily="34" charset="0"/>
              </a:rPr>
              <a:t>last_name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bio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 err="1">
                <a:solidFill>
                  <a:srgbClr val="546E7A"/>
                </a:solidFill>
                <a:latin typeface="Consolas" pitchFamily="34" charset="0"/>
              </a:rPr>
              <a:t>photo_url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role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5BC2FCA3-D171-4F80-8BC8-D9A4E010FD8C}"/>
              </a:ext>
            </a:extLst>
          </p:cNvPr>
          <p:cNvSpPr/>
          <p:nvPr/>
        </p:nvSpPr>
        <p:spPr>
          <a:xfrm>
            <a:off x="4398264" y="2273808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1BD56555-DDE9-4676-A6D6-A8AF03E905F0}"/>
              </a:ext>
            </a:extLst>
          </p:cNvPr>
          <p:cNvSpPr/>
          <p:nvPr/>
        </p:nvSpPr>
        <p:spPr>
          <a:xfrm>
            <a:off x="4398264" y="2273808"/>
            <a:ext cx="2743200" cy="329184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680B8E9-595C-4E59-9222-DA622B8C506A}"/>
              </a:ext>
            </a:extLst>
          </p:cNvPr>
          <p:cNvSpPr/>
          <p:nvPr/>
        </p:nvSpPr>
        <p:spPr>
          <a:xfrm>
            <a:off x="4489704" y="2310384"/>
            <a:ext cx="612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projects</a:t>
            </a:r>
            <a:endParaRPr lang="en-US" sz="12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5197615F-20D5-45B2-A85B-200C1C56EA89}"/>
              </a:ext>
            </a:extLst>
          </p:cNvPr>
          <p:cNvSpPr/>
          <p:nvPr/>
        </p:nvSpPr>
        <p:spPr>
          <a:xfrm>
            <a:off x="4507992" y="26395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slug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 ·</a:t>
            </a:r>
            <a:r>
              <a:rPr lang="ru-RU" sz="950" dirty="0">
                <a:solidFill>
                  <a:srgbClr val="546E7A"/>
                </a:solidFill>
                <a:latin typeface="Consolas" pitchFamily="34" charset="0"/>
              </a:rPr>
              <a:t> </a:t>
            </a:r>
            <a:r>
              <a:rPr lang="en-US" sz="950" dirty="0" err="1">
                <a:solidFill>
                  <a:srgbClr val="546E7A"/>
                </a:solidFill>
                <a:latin typeface="Consolas" pitchFamily="34" charset="0"/>
              </a:rPr>
              <a:t>short_description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·</a:t>
            </a:r>
            <a:r>
              <a:rPr lang="ru-RU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dirty="0" err="1">
                <a:solidFill>
                  <a:srgbClr val="546E7A"/>
                </a:solidFill>
                <a:latin typeface="Consolas" pitchFamily="34" charset="0"/>
              </a:rPr>
              <a:t>full_description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objectives · status · </a:t>
            </a:r>
            <a:r>
              <a:rPr lang="en-US" sz="950" dirty="0" err="1">
                <a:solidFill>
                  <a:srgbClr val="546E7A"/>
                </a:solidFill>
                <a:latin typeface="Consolas" pitchFamily="34" charset="0"/>
              </a:rPr>
              <a:t>start_date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 · </a:t>
            </a:r>
            <a:r>
              <a:rPr lang="en-US" sz="950" dirty="0" err="1">
                <a:solidFill>
                  <a:srgbClr val="546E7A"/>
                </a:solidFill>
                <a:latin typeface="Consolas" pitchFamily="34" charset="0"/>
              </a:rPr>
              <a:t>end_date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 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</a:t>
            </a:r>
            <a:r>
              <a:rPr lang="en-US" sz="950" dirty="0" err="1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team_members</a:t>
            </a:r>
            <a:endParaRPr lang="en-US" sz="950" dirty="0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24885139-5119-49A2-932C-0DB21BC63BBC}"/>
              </a:ext>
            </a:extLst>
          </p:cNvPr>
          <p:cNvSpPr/>
          <p:nvPr/>
        </p:nvSpPr>
        <p:spPr>
          <a:xfrm>
            <a:off x="7269480" y="2273808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92B78297-11F2-43CE-9096-C1643001B6C5}"/>
              </a:ext>
            </a:extLst>
          </p:cNvPr>
          <p:cNvSpPr/>
          <p:nvPr/>
        </p:nvSpPr>
        <p:spPr>
          <a:xfrm>
            <a:off x="7269480" y="2273808"/>
            <a:ext cx="2743200" cy="329184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EB9D58B-5EFE-4FA3-9AF4-2F7CA169F117}"/>
              </a:ext>
            </a:extLst>
          </p:cNvPr>
          <p:cNvSpPr/>
          <p:nvPr/>
        </p:nvSpPr>
        <p:spPr>
          <a:xfrm>
            <a:off x="7360920" y="2310384"/>
            <a:ext cx="630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articles</a:t>
            </a:r>
            <a:endParaRPr lang="en-US" sz="12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9990B48D-EBE2-46D6-B359-FBD99247240A}"/>
              </a:ext>
            </a:extLst>
          </p:cNvPr>
          <p:cNvSpPr/>
          <p:nvPr/>
        </p:nvSpPr>
        <p:spPr>
          <a:xfrm>
            <a:off x="7379208" y="26395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abstract · content · authors · journal · publication_date · status</a:t>
            </a:r>
            <a:endParaRPr lang="en-US" sz="95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73CDFA65-C392-45F4-9598-1D5E090A6FEC}"/>
              </a:ext>
            </a:extLst>
          </p:cNvPr>
          <p:cNvSpPr/>
          <p:nvPr/>
        </p:nvSpPr>
        <p:spPr>
          <a:xfrm>
            <a:off x="1527048" y="3700272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6">
            <a:extLst>
              <a:ext uri="{FF2B5EF4-FFF2-40B4-BE49-F238E27FC236}">
                <a16:creationId xmlns:a16="http://schemas.microsoft.com/office/drawing/2014/main" id="{382A241C-E219-4261-9D27-BB1B39EEE4FF}"/>
              </a:ext>
            </a:extLst>
          </p:cNvPr>
          <p:cNvSpPr/>
          <p:nvPr/>
        </p:nvSpPr>
        <p:spPr>
          <a:xfrm>
            <a:off x="1527048" y="3700272"/>
            <a:ext cx="2743200" cy="329184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0F8ECA76-6BC7-4E08-9832-4C5933E996ED}"/>
              </a:ext>
            </a:extLst>
          </p:cNvPr>
          <p:cNvSpPr/>
          <p:nvPr/>
        </p:nvSpPr>
        <p:spPr>
          <a:xfrm>
            <a:off x="1618488" y="373684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blog_posts</a:t>
            </a:r>
            <a:endParaRPr lang="en-US" sz="12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CDE36075-BFE3-4D9F-A069-465BE6B6ECCB}"/>
              </a:ext>
            </a:extLst>
          </p:cNvPr>
          <p:cNvSpPr/>
          <p:nvPr/>
        </p:nvSpPr>
        <p:spPr>
          <a:xfrm>
            <a:off x="1636776" y="40660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slug · excerpt · content · author_id · tag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s · status · </a:t>
            </a:r>
            <a:r>
              <a:rPr lang="en-US" sz="950" dirty="0" err="1">
                <a:solidFill>
                  <a:srgbClr val="546E7A"/>
                </a:solidFill>
                <a:latin typeface="Consolas" pitchFamily="34" charset="0"/>
              </a:rPr>
              <a:t>views_count</a:t>
            </a:r>
            <a:endParaRPr lang="en-US" sz="950" dirty="0">
              <a:solidFill>
                <a:srgbClr val="546E7A"/>
              </a:solidFill>
              <a:latin typeface="Consolas" pitchFamily="34" charset="0"/>
            </a:endParaRPr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54834142-EC42-4D4E-B3F2-B37B1371928E}"/>
              </a:ext>
            </a:extLst>
          </p:cNvPr>
          <p:cNvSpPr/>
          <p:nvPr/>
        </p:nvSpPr>
        <p:spPr>
          <a:xfrm>
            <a:off x="4398264" y="3700272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451DF399-3650-4986-B4E4-61D42EBE9FB6}"/>
              </a:ext>
            </a:extLst>
          </p:cNvPr>
          <p:cNvSpPr/>
          <p:nvPr/>
        </p:nvSpPr>
        <p:spPr>
          <a:xfrm>
            <a:off x="4398264" y="3700272"/>
            <a:ext cx="2743200" cy="329184"/>
          </a:xfrm>
          <a:prstGeom prst="rect">
            <a:avLst/>
          </a:prstGeom>
          <a:solidFill>
            <a:srgbClr val="2F4157"/>
          </a:solidFill>
          <a:ln w="12700">
            <a:noFill/>
            <a:prstDash val="solid"/>
          </a:ln>
        </p:spPr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32792ECC-3977-4055-853D-A72FEE193A64}"/>
              </a:ext>
            </a:extLst>
          </p:cNvPr>
          <p:cNvSpPr/>
          <p:nvPr/>
        </p:nvSpPr>
        <p:spPr>
          <a:xfrm>
            <a:off x="4489704" y="3736848"/>
            <a:ext cx="710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datasets</a:t>
            </a:r>
            <a:endParaRPr lang="en-US" sz="1200" dirty="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758D016A-E0D1-4539-B626-82FE04DCC005}"/>
              </a:ext>
            </a:extLst>
          </p:cNvPr>
          <p:cNvSpPr/>
          <p:nvPr/>
        </p:nvSpPr>
        <p:spPr>
          <a:xfrm>
            <a:off x="4507992" y="40660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title · description · access_level · </a:t>
            </a:r>
            <a:r>
              <a:rPr lang="en-US" sz="950" dirty="0" err="1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related_</a:t>
            </a:r>
            <a:r>
              <a:rPr lang="en-US" sz="950" dirty="0" err="1">
                <a:solidFill>
                  <a:srgbClr val="546E7A"/>
                </a:solidFill>
                <a:latin typeface="Consolas" pitchFamily="34" charset="0"/>
              </a:rPr>
              <a:t>project_id</a:t>
            </a:r>
            <a:r>
              <a:rPr lang="en-US" sz="950" dirty="0">
                <a:solidFill>
                  <a:srgbClr val="546E7A"/>
                </a:solidFill>
                <a:latin typeface="Consolas" pitchFamily="34" charset="0"/>
              </a:rPr>
              <a:t> ·</a:t>
            </a:r>
            <a:r>
              <a:rPr lang="ru-RU" sz="950" dirty="0">
                <a:solidFill>
                  <a:srgbClr val="546E7A"/>
                </a:solidFill>
                <a:latin typeface="Consolas" pitchFamily="34" charset="0"/>
              </a:rPr>
              <a:t> </a:t>
            </a:r>
            <a:r>
              <a:rPr lang="en-US" sz="950" dirty="0" err="1">
                <a:solidFill>
                  <a:srgbClr val="546E7A"/>
                </a:solidFill>
                <a:latin typeface="Consolas" pitchFamily="34" charset="0"/>
              </a:rPr>
              <a:t>created_by</a:t>
            </a:r>
            <a:endParaRPr lang="en-US" sz="950" dirty="0">
              <a:solidFill>
                <a:srgbClr val="546E7A"/>
              </a:solidFill>
              <a:latin typeface="Consolas" pitchFamily="34" charset="0"/>
            </a:endParaRP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DA398384-22CB-4B07-AD08-D6EFE0235C76}"/>
              </a:ext>
            </a:extLst>
          </p:cNvPr>
          <p:cNvSpPr/>
          <p:nvPr/>
        </p:nvSpPr>
        <p:spPr>
          <a:xfrm>
            <a:off x="7269480" y="3700272"/>
            <a:ext cx="2743200" cy="1298448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Shape 24">
            <a:extLst>
              <a:ext uri="{FF2B5EF4-FFF2-40B4-BE49-F238E27FC236}">
                <a16:creationId xmlns:a16="http://schemas.microsoft.com/office/drawing/2014/main" id="{637BE70C-0FA5-45FF-A655-48A0C558E790}"/>
              </a:ext>
            </a:extLst>
          </p:cNvPr>
          <p:cNvSpPr/>
          <p:nvPr/>
        </p:nvSpPr>
        <p:spPr>
          <a:xfrm>
            <a:off x="7269480" y="3700272"/>
            <a:ext cx="2743200" cy="329184"/>
          </a:xfrm>
          <a:prstGeom prst="rect">
            <a:avLst/>
          </a:prstGeom>
          <a:solidFill>
            <a:srgbClr val="00838F"/>
          </a:solidFill>
          <a:ln w="12700">
            <a:noFill/>
            <a:prstDash val="solid"/>
          </a:ln>
        </p:spPr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029CB324-0521-4C9D-A1AF-AA37E7E8A439}"/>
              </a:ext>
            </a:extLst>
          </p:cNvPr>
          <p:cNvSpPr/>
          <p:nvPr/>
        </p:nvSpPr>
        <p:spPr>
          <a:xfrm>
            <a:off x="7360920" y="3736848"/>
            <a:ext cx="88696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activity_logs</a:t>
            </a:r>
            <a:endParaRPr lang="en-US" sz="1200" dirty="0"/>
          </a:p>
        </p:txBody>
      </p:sp>
      <p:sp>
        <p:nvSpPr>
          <p:cNvPr id="27" name="Text 26">
            <a:extLst>
              <a:ext uri="{FF2B5EF4-FFF2-40B4-BE49-F238E27FC236}">
                <a16:creationId xmlns:a16="http://schemas.microsoft.com/office/drawing/2014/main" id="{A292FCE9-5E1F-4DEF-94C4-795251FE9097}"/>
              </a:ext>
            </a:extLst>
          </p:cNvPr>
          <p:cNvSpPr/>
          <p:nvPr/>
        </p:nvSpPr>
        <p:spPr>
          <a:xfrm>
            <a:off x="7379208" y="406603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· user_id · action · entity_type · ip_address · created_at</a:t>
            </a:r>
            <a:endParaRPr lang="en-US" sz="950" dirty="0"/>
          </a:p>
        </p:txBody>
      </p:sp>
      <p:sp>
        <p:nvSpPr>
          <p:cNvPr id="28" name="Shape 27">
            <a:extLst>
              <a:ext uri="{FF2B5EF4-FFF2-40B4-BE49-F238E27FC236}">
                <a16:creationId xmlns:a16="http://schemas.microsoft.com/office/drawing/2014/main" id="{1F65388C-6073-44D3-A69C-E789726BF744}"/>
              </a:ext>
            </a:extLst>
          </p:cNvPr>
          <p:cNvSpPr/>
          <p:nvPr/>
        </p:nvSpPr>
        <p:spPr>
          <a:xfrm>
            <a:off x="1197864" y="5659094"/>
            <a:ext cx="8741664" cy="914400"/>
          </a:xfrm>
          <a:prstGeom prst="rect">
            <a:avLst/>
          </a:prstGeom>
          <a:solidFill>
            <a:srgbClr val="F5EFEB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26C58FBF-5327-4E3B-8B1A-2B413B5B7365}"/>
              </a:ext>
            </a:extLst>
          </p:cNvPr>
          <p:cNvSpPr/>
          <p:nvPr/>
        </p:nvSpPr>
        <p:spPr>
          <a:xfrm>
            <a:off x="1380744" y="571395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4157"/>
                </a:solidFill>
              </a:rPr>
              <a:t>Связи между таблицами:</a:t>
            </a:r>
            <a:endParaRPr lang="en-US" sz="1200" dirty="0">
              <a:solidFill>
                <a:srgbClr val="2F4157"/>
              </a:solidFill>
            </a:endParaRPr>
          </a:p>
        </p:txBody>
      </p:sp>
      <p:sp>
        <p:nvSpPr>
          <p:cNvPr id="30" name="Text 29">
            <a:extLst>
              <a:ext uri="{FF2B5EF4-FFF2-40B4-BE49-F238E27FC236}">
                <a16:creationId xmlns:a16="http://schemas.microsoft.com/office/drawing/2014/main" id="{AB47D5BF-3781-4506-8CF4-0123536A62DB}"/>
              </a:ext>
            </a:extLst>
          </p:cNvPr>
          <p:cNvSpPr/>
          <p:nvPr/>
        </p:nvSpPr>
        <p:spPr>
          <a:xfrm>
            <a:off x="1380744" y="598827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→ blog_posts (1:</a:t>
            </a:r>
            <a:r>
              <a:rPr lang="ru-RU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автор записей</a:t>
            </a:r>
            <a:endParaRPr lang="en-US" sz="1100" dirty="0">
              <a:solidFill>
                <a:srgbClr val="577C8E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→ datasets (1:</a:t>
            </a:r>
            <a:r>
              <a:rPr lang="ru-RU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</a:t>
            </a:r>
            <a:r>
              <a:rPr lang="en-US" sz="1100" dirty="0" err="1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экспериментов</a:t>
            </a:r>
            <a:endParaRPr lang="en-US" sz="1100" dirty="0">
              <a:solidFill>
                <a:srgbClr val="577C8E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↔ articles (M:</a:t>
            </a:r>
            <a:r>
              <a:rPr lang="ru-RU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r>
              <a:rPr lang="en-US" sz="1100" dirty="0">
                <a:solidFill>
                  <a:srgbClr val="577C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— таблица-связка project_publication</a:t>
            </a:r>
            <a:endParaRPr lang="en-US" sz="1100" dirty="0">
              <a:solidFill>
                <a:srgbClr val="577C8E"/>
              </a:solidFill>
            </a:endParaRPr>
          </a:p>
        </p:txBody>
      </p:sp>
      <p:sp>
        <p:nvSpPr>
          <p:cNvPr id="59" name="Прямоугольник: один скругленный угол 58">
            <a:extLst>
              <a:ext uri="{FF2B5EF4-FFF2-40B4-BE49-F238E27FC236}">
                <a16:creationId xmlns:a16="http://schemas.microsoft.com/office/drawing/2014/main" id="{7729EE6E-079E-4095-A5AF-21333CB6A3FA}"/>
              </a:ext>
            </a:extLst>
          </p:cNvPr>
          <p:cNvSpPr/>
          <p:nvPr/>
        </p:nvSpPr>
        <p:spPr>
          <a:xfrm rot="10800000">
            <a:off x="0" y="-4786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Заголовок 1">
            <a:extLst>
              <a:ext uri="{FF2B5EF4-FFF2-40B4-BE49-F238E27FC236}">
                <a16:creationId xmlns:a16="http://schemas.microsoft.com/office/drawing/2014/main" id="{BB4C1F19-CACE-4B65-A6B3-496BE140A46A}"/>
              </a:ext>
            </a:extLst>
          </p:cNvPr>
          <p:cNvSpPr txBox="1">
            <a:spLocks/>
          </p:cNvSpPr>
          <p:nvPr/>
        </p:nvSpPr>
        <p:spPr>
          <a:xfrm>
            <a:off x="534001" y="-757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2C3E50"/>
                </a:solidFill>
                <a:latin typeface="Century Gothic" panose="020B0502020202020204" pitchFamily="34" charset="0"/>
              </a:rPr>
              <a:t>Информационная</a:t>
            </a:r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rgbClr val="2C3E50"/>
                </a:solidFill>
                <a:latin typeface="Century Gothic" panose="020B0502020202020204" pitchFamily="34" charset="0"/>
              </a:rPr>
              <a:t>модель</a:t>
            </a:r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системы</a:t>
            </a:r>
            <a:endParaRPr lang="en-US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501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1920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9056" y="97536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Информационная безопасность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0" y="792480"/>
            <a:ext cx="12192000" cy="7315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04800" y="999744"/>
            <a:ext cx="3608832" cy="20726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04800" y="999744"/>
            <a:ext cx="121920" cy="2072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219200"/>
            <a:ext cx="512064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8240" y="1219200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565C0"/>
                </a:solidFill>
              </a:rPr>
              <a:t>Хэширование паролей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24256" y="1792224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password_hash() / password_verify() с алгоритмом PASSWORD_DEFAULT. Пароли НИКОГДА не хранятся в открытом виде</a:t>
            </a:r>
            <a:endParaRPr lang="en-US" sz="1333" dirty="0"/>
          </a:p>
        </p:txBody>
      </p:sp>
      <p:sp>
        <p:nvSpPr>
          <p:cNvPr id="11" name="Shape 7"/>
          <p:cNvSpPr/>
          <p:nvPr/>
        </p:nvSpPr>
        <p:spPr>
          <a:xfrm>
            <a:off x="4084320" y="999744"/>
            <a:ext cx="3608832" cy="20726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084320" y="999744"/>
            <a:ext cx="121920" cy="207264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8160" y="1219200"/>
            <a:ext cx="512064" cy="512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37760" y="1219200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838F"/>
                </a:solidFill>
              </a:rPr>
              <a:t>Защита от SQL-инъекций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303776" y="1792224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Statements через PDO. Пользовательский ввод НЕ подставляется в запросы напрямую</a:t>
            </a:r>
            <a:endParaRPr lang="en-US" sz="1333" dirty="0"/>
          </a:p>
        </p:txBody>
      </p:sp>
      <p:sp>
        <p:nvSpPr>
          <p:cNvPr id="16" name="Shape 11"/>
          <p:cNvSpPr/>
          <p:nvPr/>
        </p:nvSpPr>
        <p:spPr>
          <a:xfrm>
            <a:off x="7863840" y="999744"/>
            <a:ext cx="3608832" cy="20726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863840" y="999744"/>
            <a:ext cx="121920" cy="2072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7680" y="1219200"/>
            <a:ext cx="512064" cy="5120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17280" y="1219200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6A1B9A"/>
                </a:solidFill>
              </a:rPr>
              <a:t>Защита от XSS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083296" y="1792224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htmlspecialchars() для всего выводимого контента. Экранирование HTML-символов</a:t>
            </a:r>
            <a:endParaRPr lang="en-US" sz="1333" dirty="0"/>
          </a:p>
        </p:txBody>
      </p:sp>
      <p:sp>
        <p:nvSpPr>
          <p:cNvPr id="21" name="Shape 15"/>
          <p:cNvSpPr/>
          <p:nvPr/>
        </p:nvSpPr>
        <p:spPr>
          <a:xfrm>
            <a:off x="304800" y="3194304"/>
            <a:ext cx="3608832" cy="20726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04800" y="3194304"/>
            <a:ext cx="121920" cy="207264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13760"/>
            <a:ext cx="512064" cy="5120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58240" y="3413760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B71C1C"/>
                </a:solidFill>
              </a:rPr>
              <a:t>CSRF-токены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524256" y="3986784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Одноразовые токены для критических операций в форме → проверка при отправке</a:t>
            </a:r>
            <a:endParaRPr lang="en-US" sz="1333" dirty="0"/>
          </a:p>
        </p:txBody>
      </p:sp>
      <p:sp>
        <p:nvSpPr>
          <p:cNvPr id="26" name="Shape 19"/>
          <p:cNvSpPr/>
          <p:nvPr/>
        </p:nvSpPr>
        <p:spPr>
          <a:xfrm>
            <a:off x="4084320" y="3194304"/>
            <a:ext cx="3608832" cy="20726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084320" y="3194304"/>
            <a:ext cx="121920" cy="20726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8160" y="3413760"/>
            <a:ext cx="512064" cy="51206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937760" y="3413760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E65100"/>
                </a:solidFill>
              </a:rPr>
              <a:t>Файл .htaccess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4303776" y="3986784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 доступа к config.php, .git, .env. Заголовок X-Frame-Options (кликджекинг)</a:t>
            </a:r>
            <a:endParaRPr lang="en-US" sz="1333" dirty="0"/>
          </a:p>
        </p:txBody>
      </p:sp>
      <p:sp>
        <p:nvSpPr>
          <p:cNvPr id="31" name="Shape 23"/>
          <p:cNvSpPr/>
          <p:nvPr/>
        </p:nvSpPr>
        <p:spPr>
          <a:xfrm>
            <a:off x="7863840" y="3194304"/>
            <a:ext cx="3608832" cy="20726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7863840" y="3194304"/>
            <a:ext cx="121920" cy="20726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7680" y="3413760"/>
            <a:ext cx="512064" cy="51206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717280" y="3413760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E7D32"/>
                </a:solidFill>
              </a:rPr>
              <a:t>Сессионная авторизация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8083296" y="3986784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checkAuth() в каждом admin-скрипте. Без валидной сессии — редирект на /login</a:t>
            </a:r>
            <a:endParaRPr lang="en-US" sz="133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80BA97F4-2611-46A8-8F84-CEF6F5EF9B0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777" y="114047"/>
            <a:ext cx="12192001" cy="6743953"/>
          </a:xfrm>
          <a:prstGeom prst="rect">
            <a:avLst/>
          </a:prstGeom>
        </p:spPr>
      </p:pic>
      <p:sp>
        <p:nvSpPr>
          <p:cNvPr id="55" name="Shape 3">
            <a:extLst>
              <a:ext uri="{FF2B5EF4-FFF2-40B4-BE49-F238E27FC236}">
                <a16:creationId xmlns:a16="http://schemas.microsoft.com/office/drawing/2014/main" id="{DE4778E3-4445-4798-BE1C-6F5303746DC6}"/>
              </a:ext>
            </a:extLst>
          </p:cNvPr>
          <p:cNvSpPr/>
          <p:nvPr/>
        </p:nvSpPr>
        <p:spPr>
          <a:xfrm>
            <a:off x="6157886" y="3820938"/>
            <a:ext cx="3608832" cy="207264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E370AE1F-E9F7-457D-A19E-581DA6030349}"/>
              </a:ext>
            </a:extLst>
          </p:cNvPr>
          <p:cNvSpPr/>
          <p:nvPr/>
        </p:nvSpPr>
        <p:spPr>
          <a:xfrm>
            <a:off x="8141809" y="1438048"/>
            <a:ext cx="3608832" cy="207264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3" name="Shape 3">
            <a:extLst>
              <a:ext uri="{FF2B5EF4-FFF2-40B4-BE49-F238E27FC236}">
                <a16:creationId xmlns:a16="http://schemas.microsoft.com/office/drawing/2014/main" id="{3A74C28C-BD28-48A9-B412-1DB3465BFD98}"/>
              </a:ext>
            </a:extLst>
          </p:cNvPr>
          <p:cNvSpPr/>
          <p:nvPr/>
        </p:nvSpPr>
        <p:spPr>
          <a:xfrm>
            <a:off x="4353470" y="1438048"/>
            <a:ext cx="3608832" cy="207264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2" name="Shape 3">
            <a:extLst>
              <a:ext uri="{FF2B5EF4-FFF2-40B4-BE49-F238E27FC236}">
                <a16:creationId xmlns:a16="http://schemas.microsoft.com/office/drawing/2014/main" id="{CF5498DD-981D-4BF6-A357-1A268541FEB8}"/>
              </a:ext>
            </a:extLst>
          </p:cNvPr>
          <p:cNvSpPr/>
          <p:nvPr/>
        </p:nvSpPr>
        <p:spPr>
          <a:xfrm>
            <a:off x="2212142" y="3821581"/>
            <a:ext cx="3608832" cy="207264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" name="Прямоугольник: один скругленный угол 1">
            <a:extLst>
              <a:ext uri="{FF2B5EF4-FFF2-40B4-BE49-F238E27FC236}">
                <a16:creationId xmlns:a16="http://schemas.microsoft.com/office/drawing/2014/main" id="{7CC3F2AB-F40B-4942-B0F2-5363CDBBE415}"/>
              </a:ext>
            </a:extLst>
          </p:cNvPr>
          <p:cNvSpPr/>
          <p:nvPr/>
        </p:nvSpPr>
        <p:spPr>
          <a:xfrm rot="10800000">
            <a:off x="0" y="-4786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F453A05-A8FD-4190-BD86-B5906242131D}"/>
              </a:ext>
            </a:extLst>
          </p:cNvPr>
          <p:cNvSpPr txBox="1">
            <a:spLocks/>
          </p:cNvSpPr>
          <p:nvPr/>
        </p:nvSpPr>
        <p:spPr>
          <a:xfrm>
            <a:off x="534001" y="-757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>
                <a:solidFill>
                  <a:srgbClr val="2C3E50"/>
                </a:solidFill>
                <a:latin typeface="Century Gothic" panose="020B0502020202020204" pitchFamily="34" charset="0"/>
              </a:rPr>
              <a:t>Информационная</a:t>
            </a:r>
            <a:r>
              <a:rPr lang="en-US" b="1" dirty="0">
                <a:solidFill>
                  <a:srgbClr val="2C3E50"/>
                </a:solidFill>
                <a:latin typeface="Century Gothic" panose="020B0502020202020204" pitchFamily="34" charset="0"/>
              </a:rPr>
              <a:t> </a:t>
            </a:r>
            <a:r>
              <a:rPr lang="ru-RU" b="1" dirty="0">
                <a:solidFill>
                  <a:schemeClr val="bg1"/>
                </a:solidFill>
                <a:latin typeface="Century Gothic" panose="020B0502020202020204" pitchFamily="34" charset="0"/>
              </a:rPr>
              <a:t>безопасность</a:t>
            </a:r>
            <a:endParaRPr lang="en-US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8860A49F-F815-4C4E-A5DE-4CDADE866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71100" y="-1541516"/>
            <a:ext cx="512064" cy="512064"/>
          </a:xfrm>
          <a:prstGeom prst="rect">
            <a:avLst/>
          </a:prstGeom>
        </p:spPr>
      </p:pic>
      <p:sp>
        <p:nvSpPr>
          <p:cNvPr id="11" name="Text 9">
            <a:extLst>
              <a:ext uri="{FF2B5EF4-FFF2-40B4-BE49-F238E27FC236}">
                <a16:creationId xmlns:a16="http://schemas.microsoft.com/office/drawing/2014/main" id="{3E87DBCF-E738-486C-91D7-7F72C4135BB5}"/>
              </a:ext>
            </a:extLst>
          </p:cNvPr>
          <p:cNvSpPr/>
          <p:nvPr/>
        </p:nvSpPr>
        <p:spPr>
          <a:xfrm>
            <a:off x="5166961" y="1683131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Защита </a:t>
            </a:r>
            <a:r>
              <a:rPr lang="en-US" sz="1600" b="1" dirty="0" err="1">
                <a:solidFill>
                  <a:srgbClr val="2F4157"/>
                </a:solidFill>
                <a:latin typeface="Century Gothic" panose="020B0502020202020204" pitchFamily="34" charset="0"/>
              </a:rPr>
              <a:t>от</a:t>
            </a:r>
            <a:r>
              <a:rPr lang="en-US" sz="16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 SQL-</a:t>
            </a:r>
            <a:r>
              <a:rPr lang="en-US" sz="1600" b="1" dirty="0" err="1">
                <a:solidFill>
                  <a:srgbClr val="2F4157"/>
                </a:solidFill>
                <a:latin typeface="Century Gothic" panose="020B0502020202020204" pitchFamily="34" charset="0"/>
              </a:rPr>
              <a:t>инъекций</a:t>
            </a:r>
            <a:endParaRPr lang="en-US" sz="1600" b="1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9CAB3AA-02D1-48BF-8CDF-044183EED896}"/>
              </a:ext>
            </a:extLst>
          </p:cNvPr>
          <p:cNvSpPr/>
          <p:nvPr/>
        </p:nvSpPr>
        <p:spPr>
          <a:xfrm>
            <a:off x="4532977" y="2256155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Prepared Statements через PDO. Пользовательский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ввод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не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подставляется в запросы напрямую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pic>
        <p:nvPicPr>
          <p:cNvPr id="14" name="Image 3" descr="preencoded.png">
            <a:extLst>
              <a:ext uri="{FF2B5EF4-FFF2-40B4-BE49-F238E27FC236}">
                <a16:creationId xmlns:a16="http://schemas.microsoft.com/office/drawing/2014/main" id="{8905647F-9D92-4A4D-8205-819715C0F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6761" y="2579243"/>
            <a:ext cx="512064" cy="512064"/>
          </a:xfrm>
          <a:prstGeom prst="rect">
            <a:avLst/>
          </a:prstGeom>
        </p:spPr>
      </p:pic>
      <p:sp>
        <p:nvSpPr>
          <p:cNvPr id="15" name="Text 13">
            <a:extLst>
              <a:ext uri="{FF2B5EF4-FFF2-40B4-BE49-F238E27FC236}">
                <a16:creationId xmlns:a16="http://schemas.microsoft.com/office/drawing/2014/main" id="{BABF6CDA-1812-4289-95F4-809C308C04D9}"/>
              </a:ext>
            </a:extLst>
          </p:cNvPr>
          <p:cNvSpPr/>
          <p:nvPr/>
        </p:nvSpPr>
        <p:spPr>
          <a:xfrm>
            <a:off x="8946481" y="1683131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2F4157"/>
                </a:solidFill>
                <a:latin typeface="Century Gothic" panose="020B0502020202020204" pitchFamily="34" charset="0"/>
              </a:rPr>
              <a:t>Защита</a:t>
            </a:r>
            <a:r>
              <a:rPr lang="en-US" sz="1600" b="1" dirty="0">
                <a:solidFill>
                  <a:srgbClr val="6A1B9A"/>
                </a:solidFill>
              </a:rPr>
              <a:t> </a:t>
            </a:r>
            <a:r>
              <a:rPr lang="en-US" sz="1600" b="1" dirty="0" err="1">
                <a:solidFill>
                  <a:srgbClr val="2F4157"/>
                </a:solidFill>
                <a:latin typeface="Century Gothic" panose="020B0502020202020204" pitchFamily="34" charset="0"/>
              </a:rPr>
              <a:t>от</a:t>
            </a:r>
            <a:r>
              <a:rPr lang="en-US" sz="16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 XSS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A39BF18-3375-4690-9B11-C508A8A4FD09}"/>
              </a:ext>
            </a:extLst>
          </p:cNvPr>
          <p:cNvSpPr/>
          <p:nvPr/>
        </p:nvSpPr>
        <p:spPr>
          <a:xfrm>
            <a:off x="8312497" y="2256155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htmlspecialchars() для всего выводимого контента. Экранирование HTML-символов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1D6986E-3EF2-426B-A97C-6EEBE9D4F024}"/>
              </a:ext>
            </a:extLst>
          </p:cNvPr>
          <p:cNvSpPr/>
          <p:nvPr/>
        </p:nvSpPr>
        <p:spPr>
          <a:xfrm>
            <a:off x="-3770701" y="6186953"/>
            <a:ext cx="3608832" cy="20726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9" name="Image 5" descr="preencoded.png">
            <a:extLst>
              <a:ext uri="{FF2B5EF4-FFF2-40B4-BE49-F238E27FC236}">
                <a16:creationId xmlns:a16="http://schemas.microsoft.com/office/drawing/2014/main" id="{4DEE208C-96D6-4835-883D-2A68222750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0424" y="8769731"/>
            <a:ext cx="512064" cy="512064"/>
          </a:xfrm>
          <a:prstGeom prst="rect">
            <a:avLst/>
          </a:prstGeom>
        </p:spPr>
      </p:pic>
      <p:sp>
        <p:nvSpPr>
          <p:cNvPr id="20" name="Text 21">
            <a:extLst>
              <a:ext uri="{FF2B5EF4-FFF2-40B4-BE49-F238E27FC236}">
                <a16:creationId xmlns:a16="http://schemas.microsoft.com/office/drawing/2014/main" id="{B3C41051-E95A-43C9-BD14-88DAF77C1561}"/>
              </a:ext>
            </a:extLst>
          </p:cNvPr>
          <p:cNvSpPr/>
          <p:nvPr/>
        </p:nvSpPr>
        <p:spPr>
          <a:xfrm>
            <a:off x="3000710" y="4064023"/>
            <a:ext cx="263347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Файл .</a:t>
            </a:r>
            <a:r>
              <a:rPr lang="en-US" sz="1600" b="1" dirty="0" err="1">
                <a:solidFill>
                  <a:srgbClr val="2F4157"/>
                </a:solidFill>
                <a:latin typeface="Century Gothic" panose="020B0502020202020204" pitchFamily="34" charset="0"/>
              </a:rPr>
              <a:t>htaccess</a:t>
            </a:r>
            <a:endParaRPr lang="en-US" sz="1600" b="1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8D311E1A-A342-4E2C-A964-482129615142}"/>
              </a:ext>
            </a:extLst>
          </p:cNvPr>
          <p:cNvSpPr/>
          <p:nvPr/>
        </p:nvSpPr>
        <p:spPr>
          <a:xfrm>
            <a:off x="2366726" y="4637047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Запрет доступа к config.php, .git, .env. Заголовок X-Frame-Options (кликджекинг)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pic>
        <p:nvPicPr>
          <p:cNvPr id="23" name="Image 6" descr="preencoded.png">
            <a:extLst>
              <a:ext uri="{FF2B5EF4-FFF2-40B4-BE49-F238E27FC236}">
                <a16:creationId xmlns:a16="http://schemas.microsoft.com/office/drawing/2014/main" id="{D2F6E261-908C-42E7-9C19-D61D078E3F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74001" y="7223273"/>
            <a:ext cx="512064" cy="512064"/>
          </a:xfrm>
          <a:prstGeom prst="rect">
            <a:avLst/>
          </a:prstGeom>
        </p:spPr>
      </p:pic>
      <p:sp>
        <p:nvSpPr>
          <p:cNvPr id="24" name="Text 25">
            <a:extLst>
              <a:ext uri="{FF2B5EF4-FFF2-40B4-BE49-F238E27FC236}">
                <a16:creationId xmlns:a16="http://schemas.microsoft.com/office/drawing/2014/main" id="{FD7150A2-ABCC-4660-AD30-676E7E1503C7}"/>
              </a:ext>
            </a:extLst>
          </p:cNvPr>
          <p:cNvSpPr/>
          <p:nvPr/>
        </p:nvSpPr>
        <p:spPr>
          <a:xfrm>
            <a:off x="7013161" y="4036637"/>
            <a:ext cx="2515002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2F4157"/>
                </a:solidFill>
                <a:latin typeface="Century Gothic" panose="020B0502020202020204" pitchFamily="34" charset="0"/>
              </a:rPr>
              <a:t>Сессионная</a:t>
            </a:r>
            <a:r>
              <a:rPr lang="en-US" sz="16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 </a:t>
            </a:r>
            <a:r>
              <a:rPr lang="en-US" sz="1600" b="1" dirty="0" err="1">
                <a:solidFill>
                  <a:srgbClr val="2F4157"/>
                </a:solidFill>
                <a:latin typeface="Century Gothic" panose="020B0502020202020204" pitchFamily="34" charset="0"/>
              </a:rPr>
              <a:t>авторизация</a:t>
            </a:r>
            <a:endParaRPr lang="en-US" sz="1600" b="1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A79573FF-75A6-430B-8F44-DDA865B08DB5}"/>
              </a:ext>
            </a:extLst>
          </p:cNvPr>
          <p:cNvSpPr/>
          <p:nvPr/>
        </p:nvSpPr>
        <p:spPr>
          <a:xfrm>
            <a:off x="6308115" y="4609661"/>
            <a:ext cx="3267456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checkAuth() в каждом admin-скрипте. Без валидной сессии — редирект на /login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30" name="Shape 3">
            <a:extLst>
              <a:ext uri="{FF2B5EF4-FFF2-40B4-BE49-F238E27FC236}">
                <a16:creationId xmlns:a16="http://schemas.microsoft.com/office/drawing/2014/main" id="{E60EFF46-756E-4776-8164-C5D30F06DBA5}"/>
              </a:ext>
            </a:extLst>
          </p:cNvPr>
          <p:cNvSpPr/>
          <p:nvPr/>
        </p:nvSpPr>
        <p:spPr>
          <a:xfrm>
            <a:off x="-3706368" y="1249843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8DE13886-14ED-4859-B993-69972E9524D0}"/>
              </a:ext>
            </a:extLst>
          </p:cNvPr>
          <p:cNvSpPr/>
          <p:nvPr/>
        </p:nvSpPr>
        <p:spPr>
          <a:xfrm>
            <a:off x="-2755392" y="1469299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F4157"/>
                </a:solidFill>
                <a:latin typeface="Century Gothic" panose="020B0502020202020204" pitchFamily="34" charset="0"/>
              </a:rPr>
              <a:t>Публикации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5971FF7A-3D23-45A7-89F5-E95773C251C6}"/>
              </a:ext>
            </a:extLst>
          </p:cNvPr>
          <p:cNvSpPr/>
          <p:nvPr/>
        </p:nvSpPr>
        <p:spPr>
          <a:xfrm>
            <a:off x="-3462528" y="2103283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Список статей, фильтр,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pic>
        <p:nvPicPr>
          <p:cNvPr id="33" name="Рисунок 32" descr="Книги со сплошной заливкой">
            <a:extLst>
              <a:ext uri="{FF2B5EF4-FFF2-40B4-BE49-F238E27FC236}">
                <a16:creationId xmlns:a16="http://schemas.microsoft.com/office/drawing/2014/main" id="{429FBB16-DCEE-4E3E-B164-EE0B6674DA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509852" y="1419140"/>
            <a:ext cx="735640" cy="735640"/>
          </a:xfrm>
          <a:prstGeom prst="rect">
            <a:avLst/>
          </a:prstGeom>
        </p:spPr>
      </p:pic>
      <p:sp>
        <p:nvSpPr>
          <p:cNvPr id="38" name="Shape 3">
            <a:extLst>
              <a:ext uri="{FF2B5EF4-FFF2-40B4-BE49-F238E27FC236}">
                <a16:creationId xmlns:a16="http://schemas.microsoft.com/office/drawing/2014/main" id="{00E80E13-B799-43FA-9B4D-5B61FD6A19D2}"/>
              </a:ext>
            </a:extLst>
          </p:cNvPr>
          <p:cNvSpPr/>
          <p:nvPr/>
        </p:nvSpPr>
        <p:spPr>
          <a:xfrm>
            <a:off x="544672" y="1438048"/>
            <a:ext cx="3608832" cy="207264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A944AA41-721E-41A6-B9D9-E036B24E0BD5}"/>
              </a:ext>
            </a:extLst>
          </p:cNvPr>
          <p:cNvSpPr/>
          <p:nvPr/>
        </p:nvSpPr>
        <p:spPr>
          <a:xfrm>
            <a:off x="1484977" y="1657504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 err="1">
                <a:solidFill>
                  <a:srgbClr val="2F4157"/>
                </a:solidFill>
                <a:latin typeface="Century Gothic" panose="020B0502020202020204" pitchFamily="34" charset="0"/>
              </a:rPr>
              <a:t>Хэширование</a:t>
            </a:r>
            <a:r>
              <a:rPr lang="en-US" sz="1600" b="1" dirty="0">
                <a:solidFill>
                  <a:srgbClr val="2F4157"/>
                </a:solidFill>
                <a:latin typeface="Century Gothic" panose="020B0502020202020204" pitchFamily="34" charset="0"/>
              </a:rPr>
              <a:t> </a:t>
            </a:r>
            <a:r>
              <a:rPr lang="en-US" sz="1600" b="1" dirty="0" err="1">
                <a:solidFill>
                  <a:srgbClr val="2F4157"/>
                </a:solidFill>
                <a:latin typeface="Century Gothic" panose="020B0502020202020204" pitchFamily="34" charset="0"/>
              </a:rPr>
              <a:t>паролей</a:t>
            </a:r>
            <a:endParaRPr lang="en-US" sz="1600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F45569BA-8205-40B9-B372-E1F79190D272}"/>
              </a:ext>
            </a:extLst>
          </p:cNvPr>
          <p:cNvSpPr/>
          <p:nvPr/>
        </p:nvSpPr>
        <p:spPr>
          <a:xfrm>
            <a:off x="744638" y="2319389"/>
            <a:ext cx="3169920" cy="12148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password_hash</a:t>
            </a:r>
            <a:r>
              <a:rPr lang="ru-RU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с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алгоритмом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PASSWORD_DEFAULT.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Пароли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ru-RU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никогда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не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хранятся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в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открытом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виде</a:t>
            </a:r>
            <a:endParaRPr lang="en-US" sz="1400" dirty="0">
              <a:latin typeface="Century Gothic" panose="020B0502020202020204" pitchFamily="34" charset="0"/>
            </a:endParaRPr>
          </a:p>
          <a:p>
            <a:endParaRPr lang="en-US" sz="1400" dirty="0">
              <a:latin typeface="Century Gothic" panose="020B0502020202020204" pitchFamily="34" charset="0"/>
            </a:endParaRPr>
          </a:p>
        </p:txBody>
      </p:sp>
      <p:pic>
        <p:nvPicPr>
          <p:cNvPr id="41" name="Рисунок 40" descr="Книги со сплошной заливкой">
            <a:extLst>
              <a:ext uri="{FF2B5EF4-FFF2-40B4-BE49-F238E27FC236}">
                <a16:creationId xmlns:a16="http://schemas.microsoft.com/office/drawing/2014/main" id="{62415D6F-CC03-47EA-9347-B33C433447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0517" y="1607345"/>
            <a:ext cx="735640" cy="735640"/>
          </a:xfrm>
          <a:prstGeom prst="rect">
            <a:avLst/>
          </a:prstGeom>
        </p:spPr>
      </p:pic>
      <p:sp>
        <p:nvSpPr>
          <p:cNvPr id="47" name="Shape 3">
            <a:extLst>
              <a:ext uri="{FF2B5EF4-FFF2-40B4-BE49-F238E27FC236}">
                <a16:creationId xmlns:a16="http://schemas.microsoft.com/office/drawing/2014/main" id="{134061D0-2E44-4A06-A13E-FC050AE6DF67}"/>
              </a:ext>
            </a:extLst>
          </p:cNvPr>
          <p:cNvSpPr/>
          <p:nvPr/>
        </p:nvSpPr>
        <p:spPr>
          <a:xfrm>
            <a:off x="-3706368" y="3390011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8" name="Text 5">
            <a:extLst>
              <a:ext uri="{FF2B5EF4-FFF2-40B4-BE49-F238E27FC236}">
                <a16:creationId xmlns:a16="http://schemas.microsoft.com/office/drawing/2014/main" id="{9CB25D0F-9FE8-4A86-8C53-48A4788C8264}"/>
              </a:ext>
            </a:extLst>
          </p:cNvPr>
          <p:cNvSpPr/>
          <p:nvPr/>
        </p:nvSpPr>
        <p:spPr>
          <a:xfrm>
            <a:off x="-2755392" y="3609467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F4157"/>
                </a:solidFill>
                <a:latin typeface="Century Gothic" panose="020B0502020202020204" pitchFamily="34" charset="0"/>
              </a:rPr>
              <a:t>Публикации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AA274F7A-8177-4178-8C8A-66B5B6829729}"/>
              </a:ext>
            </a:extLst>
          </p:cNvPr>
          <p:cNvSpPr/>
          <p:nvPr/>
        </p:nvSpPr>
        <p:spPr>
          <a:xfrm>
            <a:off x="-3462528" y="4243451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Список статей, фильтр,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pic>
        <p:nvPicPr>
          <p:cNvPr id="50" name="Рисунок 49" descr="Книги со сплошной заливкой">
            <a:extLst>
              <a:ext uri="{FF2B5EF4-FFF2-40B4-BE49-F238E27FC236}">
                <a16:creationId xmlns:a16="http://schemas.microsoft.com/office/drawing/2014/main" id="{C13B5E85-3DC3-4EB3-84B9-F22345724B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509852" y="3559308"/>
            <a:ext cx="735640" cy="735640"/>
          </a:xfrm>
          <a:prstGeom prst="rect">
            <a:avLst/>
          </a:prstGeom>
        </p:spPr>
      </p:pic>
      <p:pic>
        <p:nvPicPr>
          <p:cNvPr id="56" name="Image 3" descr="preencoded.png">
            <a:extLst>
              <a:ext uri="{FF2B5EF4-FFF2-40B4-BE49-F238E27FC236}">
                <a16:creationId xmlns:a16="http://schemas.microsoft.com/office/drawing/2014/main" id="{CB6A0E2F-7EE5-45E0-B743-B0B6CC8BF3A8}"/>
              </a:ext>
            </a:extLst>
          </p:cNvPr>
          <p:cNvPicPr>
            <a:picLocks noChangeAspect="1"/>
          </p:cNvPicPr>
          <p:nvPr/>
        </p:nvPicPr>
        <p:blipFill>
          <a:blip r:embed="rId10">
            <a:duotone>
              <a:prstClr val="black"/>
              <a:srgbClr val="2F4157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3871096" y="6048624"/>
            <a:ext cx="585216" cy="585216"/>
          </a:xfrm>
          <a:prstGeom prst="rect">
            <a:avLst/>
          </a:prstGeom>
        </p:spPr>
      </p:pic>
      <p:pic>
        <p:nvPicPr>
          <p:cNvPr id="57" name="Image 5" descr="preencoded.png">
            <a:extLst>
              <a:ext uri="{FF2B5EF4-FFF2-40B4-BE49-F238E27FC236}">
                <a16:creationId xmlns:a16="http://schemas.microsoft.com/office/drawing/2014/main" id="{22F1469B-E8C8-41BB-B071-68B6687CC57C}"/>
              </a:ext>
            </a:extLst>
          </p:cNvPr>
          <p:cNvPicPr>
            <a:picLocks noChangeAspect="1"/>
          </p:cNvPicPr>
          <p:nvPr/>
        </p:nvPicPr>
        <p:blipFill>
          <a:blip r:embed="rId11">
            <a:duotone>
              <a:prstClr val="black"/>
              <a:srgbClr val="577C8E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3871096" y="1390401"/>
            <a:ext cx="585216" cy="585216"/>
          </a:xfrm>
          <a:prstGeom prst="rect">
            <a:avLst/>
          </a:prstGeom>
        </p:spPr>
      </p:pic>
      <p:pic>
        <p:nvPicPr>
          <p:cNvPr id="58" name="Image 6" descr="preencoded.png">
            <a:extLst>
              <a:ext uri="{FF2B5EF4-FFF2-40B4-BE49-F238E27FC236}">
                <a16:creationId xmlns:a16="http://schemas.microsoft.com/office/drawing/2014/main" id="{C0C0AA7E-8FF1-4F81-8E50-519073A134F3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rgbClr val="2F4157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10253721" y="8440547"/>
            <a:ext cx="585216" cy="585216"/>
          </a:xfrm>
          <a:prstGeom prst="rect">
            <a:avLst/>
          </a:prstGeom>
        </p:spPr>
      </p:pic>
      <p:pic>
        <p:nvPicPr>
          <p:cNvPr id="59" name="Рисунок 58" descr="Компьютер со сплошной заливкой">
            <a:extLst>
              <a:ext uri="{FF2B5EF4-FFF2-40B4-BE49-F238E27FC236}">
                <a16:creationId xmlns:a16="http://schemas.microsoft.com/office/drawing/2014/main" id="{7A8DA7B6-E1E5-40CC-9922-3AF6C5362B4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766474" y="4805131"/>
            <a:ext cx="914400" cy="914400"/>
          </a:xfrm>
          <a:prstGeom prst="rect">
            <a:avLst/>
          </a:prstGeom>
        </p:spPr>
      </p:pic>
      <p:pic>
        <p:nvPicPr>
          <p:cNvPr id="60" name="Рисунок 59" descr="Интернет со сплошной заливкой">
            <a:extLst>
              <a:ext uri="{FF2B5EF4-FFF2-40B4-BE49-F238E27FC236}">
                <a16:creationId xmlns:a16="http://schemas.microsoft.com/office/drawing/2014/main" id="{21FFF0CA-0592-498C-B4BE-2A94F89720A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52763" y="3941539"/>
            <a:ext cx="702259" cy="702259"/>
          </a:xfrm>
          <a:prstGeom prst="rect">
            <a:avLst/>
          </a:prstGeom>
        </p:spPr>
      </p:pic>
      <p:pic>
        <p:nvPicPr>
          <p:cNvPr id="61" name="Рисунок 60" descr="Ноутбук со сплошной заливкой">
            <a:extLst>
              <a:ext uri="{FF2B5EF4-FFF2-40B4-BE49-F238E27FC236}">
                <a16:creationId xmlns:a16="http://schemas.microsoft.com/office/drawing/2014/main" id="{2D1DFB37-01DE-46DC-8D5E-7951E426568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602308" y="5768157"/>
            <a:ext cx="914400" cy="914400"/>
          </a:xfrm>
          <a:prstGeom prst="rect">
            <a:avLst/>
          </a:prstGeom>
        </p:spPr>
      </p:pic>
      <p:pic>
        <p:nvPicPr>
          <p:cNvPr id="62" name="Рисунок 61" descr="Книги со сплошной заливкой">
            <a:extLst>
              <a:ext uri="{FF2B5EF4-FFF2-40B4-BE49-F238E27FC236}">
                <a16:creationId xmlns:a16="http://schemas.microsoft.com/office/drawing/2014/main" id="{06FFFE95-8742-4418-B001-D4CE98857E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04153" y="175443"/>
            <a:ext cx="735640" cy="735640"/>
          </a:xfrm>
          <a:prstGeom prst="rect">
            <a:avLst/>
          </a:prstGeom>
        </p:spPr>
      </p:pic>
      <p:pic>
        <p:nvPicPr>
          <p:cNvPr id="63" name="Рисунок 62" descr="Мозг со сплошной заливкой">
            <a:extLst>
              <a:ext uri="{FF2B5EF4-FFF2-40B4-BE49-F238E27FC236}">
                <a16:creationId xmlns:a16="http://schemas.microsoft.com/office/drawing/2014/main" id="{F3BCF98A-7DFD-441F-B859-2A2FCD41138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3686048" y="2357657"/>
            <a:ext cx="816814" cy="816814"/>
          </a:xfrm>
          <a:prstGeom prst="rect">
            <a:avLst/>
          </a:prstGeom>
        </p:spPr>
      </p:pic>
      <p:pic>
        <p:nvPicPr>
          <p:cNvPr id="64" name="Рисунок 63" descr="Портфель со сплошной заливкой">
            <a:extLst>
              <a:ext uri="{FF2B5EF4-FFF2-40B4-BE49-F238E27FC236}">
                <a16:creationId xmlns:a16="http://schemas.microsoft.com/office/drawing/2014/main" id="{F8323065-E61A-4FEB-958E-96E64E46AE87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2733719" y="1246581"/>
            <a:ext cx="718692" cy="718692"/>
          </a:xfrm>
          <a:prstGeom prst="rect">
            <a:avLst/>
          </a:prstGeom>
        </p:spPr>
      </p:pic>
      <p:pic>
        <p:nvPicPr>
          <p:cNvPr id="65" name="Рисунок 64" descr="Здание со сплошной заливкой">
            <a:extLst>
              <a:ext uri="{FF2B5EF4-FFF2-40B4-BE49-F238E27FC236}">
                <a16:creationId xmlns:a16="http://schemas.microsoft.com/office/drawing/2014/main" id="{3E37BF67-4360-4F57-AE1A-3DF3110C6B6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2672123" y="3373818"/>
            <a:ext cx="798576" cy="798576"/>
          </a:xfrm>
          <a:prstGeom prst="rect">
            <a:avLst/>
          </a:prstGeom>
        </p:spPr>
      </p:pic>
      <p:pic>
        <p:nvPicPr>
          <p:cNvPr id="66" name="Рисунок 65" descr="База данных со сплошной заливкой">
            <a:extLst>
              <a:ext uri="{FF2B5EF4-FFF2-40B4-BE49-F238E27FC236}">
                <a16:creationId xmlns:a16="http://schemas.microsoft.com/office/drawing/2014/main" id="{AC5AD2D0-F108-4C7C-B512-A508F5E876E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451049" y="1568593"/>
            <a:ext cx="789064" cy="789064"/>
          </a:xfrm>
          <a:prstGeom prst="rect">
            <a:avLst/>
          </a:prstGeom>
        </p:spPr>
      </p:pic>
      <p:pic>
        <p:nvPicPr>
          <p:cNvPr id="67" name="Рисунок 66" descr="Документ со сплошной заливкой">
            <a:extLst>
              <a:ext uri="{FF2B5EF4-FFF2-40B4-BE49-F238E27FC236}">
                <a16:creationId xmlns:a16="http://schemas.microsoft.com/office/drawing/2014/main" id="{8280908C-D92F-4C8B-9602-10C20A43E07A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781595" y="280579"/>
            <a:ext cx="718692" cy="718692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E4177D8B-11F1-4FC3-BE0A-50481FFE2DD8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8616" t="23858" r="6324" b="34535"/>
          <a:stretch/>
        </p:blipFill>
        <p:spPr>
          <a:xfrm>
            <a:off x="8305893" y="1775684"/>
            <a:ext cx="638388" cy="312261"/>
          </a:xfrm>
          <a:prstGeom prst="rect">
            <a:avLst/>
          </a:prstGeom>
        </p:spPr>
      </p:pic>
      <p:pic>
        <p:nvPicPr>
          <p:cNvPr id="81" name="Рисунок 80" descr="Портфель со сплошной заливкой">
            <a:extLst>
              <a:ext uri="{FF2B5EF4-FFF2-40B4-BE49-F238E27FC236}">
                <a16:creationId xmlns:a16="http://schemas.microsoft.com/office/drawing/2014/main" id="{88A0D8F3-9BB4-4D64-8E9F-00331344ABB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63251" y="4010207"/>
            <a:ext cx="565468" cy="56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65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1920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9056" y="97536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Тестирование ПО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0" y="792480"/>
            <a:ext cx="12192000" cy="7315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1036320"/>
            <a:ext cx="5486400" cy="134112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9600" y="1097280"/>
            <a:ext cx="5120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565C0"/>
                </a:solidFill>
              </a:rPr>
              <a:t>Метод: ручное Black-box тестирование + интеграционное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09600" y="1584960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Сценарии по Use Case · Корректность форм · Поиск · Безопасность (доступ без авторизации)</a:t>
            </a:r>
            <a:endParaRPr lang="en-US" sz="1467" dirty="0"/>
          </a:p>
        </p:txBody>
      </p:sp>
      <p:sp>
        <p:nvSpPr>
          <p:cNvPr id="9" name="Shape 6"/>
          <p:cNvSpPr/>
          <p:nvPr/>
        </p:nvSpPr>
        <p:spPr>
          <a:xfrm>
            <a:off x="365760" y="2499360"/>
            <a:ext cx="11460480" cy="329184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9600" y="2584704"/>
            <a:ext cx="73152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565C0"/>
                </a:solidFill>
              </a:rPr>
              <a:t>Таблица найденных и исправленных ошибок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12064" y="3048000"/>
            <a:ext cx="207264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3024" y="3084576"/>
            <a:ext cx="195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Тип ошибки</a:t>
            </a:r>
            <a:endParaRPr lang="en-US" sz="1333" dirty="0"/>
          </a:p>
        </p:txBody>
      </p:sp>
      <p:sp>
        <p:nvSpPr>
          <p:cNvPr id="13" name="Shape 10"/>
          <p:cNvSpPr/>
          <p:nvPr/>
        </p:nvSpPr>
        <p:spPr>
          <a:xfrm>
            <a:off x="2804160" y="3048000"/>
            <a:ext cx="207264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65120" y="3084576"/>
            <a:ext cx="195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Проблема</a:t>
            </a:r>
            <a:endParaRPr lang="en-US" sz="1333" dirty="0"/>
          </a:p>
        </p:txBody>
      </p:sp>
      <p:sp>
        <p:nvSpPr>
          <p:cNvPr id="15" name="Shape 12"/>
          <p:cNvSpPr/>
          <p:nvPr/>
        </p:nvSpPr>
        <p:spPr>
          <a:xfrm>
            <a:off x="6949440" y="3048000"/>
            <a:ext cx="46329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10400" y="3084576"/>
            <a:ext cx="45110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</a:rPr>
              <a:t>Исправление</a:t>
            </a:r>
            <a:endParaRPr lang="en-US" sz="1333" dirty="0"/>
          </a:p>
        </p:txBody>
      </p:sp>
      <p:sp>
        <p:nvSpPr>
          <p:cNvPr id="17" name="Shape 14"/>
          <p:cNvSpPr/>
          <p:nvPr/>
        </p:nvSpPr>
        <p:spPr>
          <a:xfrm>
            <a:off x="512064" y="3438144"/>
            <a:ext cx="11167872" cy="341376"/>
          </a:xfrm>
          <a:prstGeom prst="rect">
            <a:avLst/>
          </a:prstGeom>
          <a:solidFill>
            <a:srgbClr val="F5FA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474720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</a:rPr>
              <a:t>Проектирование</a:t>
            </a:r>
            <a:endParaRPr lang="en-US" sz="1267" dirty="0"/>
          </a:p>
        </p:txBody>
      </p:sp>
      <p:sp>
        <p:nvSpPr>
          <p:cNvPr id="19" name="Text 16"/>
          <p:cNvSpPr/>
          <p:nvPr/>
        </p:nvSpPr>
        <p:spPr>
          <a:xfrm>
            <a:off x="2840736" y="3474720"/>
            <a:ext cx="4023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B1B36"/>
                </a:solidFill>
              </a:rPr>
              <a:t>Нет валидации типа загружаемого файла для изображений</a:t>
            </a:r>
            <a:endParaRPr lang="en-US" sz="1267" dirty="0"/>
          </a:p>
        </p:txBody>
      </p:sp>
      <p:sp>
        <p:nvSpPr>
          <p:cNvPr id="20" name="Text 17"/>
          <p:cNvSpPr/>
          <p:nvPr/>
        </p:nvSpPr>
        <p:spPr>
          <a:xfrm>
            <a:off x="6986016" y="3474720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2E7D32"/>
                </a:solidFill>
              </a:rPr>
              <a:t>Добавлена проверка MIME-типа и расширения</a:t>
            </a:r>
            <a:endParaRPr lang="en-US" sz="1267" dirty="0"/>
          </a:p>
        </p:txBody>
      </p:sp>
      <p:sp>
        <p:nvSpPr>
          <p:cNvPr id="21" name="Shape 18"/>
          <p:cNvSpPr/>
          <p:nvPr/>
        </p:nvSpPr>
        <p:spPr>
          <a:xfrm>
            <a:off x="512064" y="3816096"/>
            <a:ext cx="11167872" cy="3413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3852672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</a:rPr>
              <a:t>Проектирование</a:t>
            </a:r>
            <a:endParaRPr lang="en-US" sz="1267" dirty="0"/>
          </a:p>
        </p:txBody>
      </p:sp>
      <p:sp>
        <p:nvSpPr>
          <p:cNvPr id="23" name="Text 20"/>
          <p:cNvSpPr/>
          <p:nvPr/>
        </p:nvSpPr>
        <p:spPr>
          <a:xfrm>
            <a:off x="2840736" y="3852672"/>
            <a:ext cx="4023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B1B36"/>
                </a:solidFill>
              </a:rPr>
              <a:t>Отсутствие кнопки отправки формы обратной связи</a:t>
            </a:r>
            <a:endParaRPr lang="en-US" sz="1267" dirty="0"/>
          </a:p>
        </p:txBody>
      </p:sp>
      <p:sp>
        <p:nvSpPr>
          <p:cNvPr id="24" name="Text 21"/>
          <p:cNvSpPr/>
          <p:nvPr/>
        </p:nvSpPr>
        <p:spPr>
          <a:xfrm>
            <a:off x="6986016" y="3852672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2E7D32"/>
                </a:solidFill>
              </a:rPr>
              <a:t>Добавлена кнопка «Отправить сообщение»</a:t>
            </a:r>
            <a:endParaRPr lang="en-US" sz="1267" dirty="0"/>
          </a:p>
        </p:txBody>
      </p:sp>
      <p:sp>
        <p:nvSpPr>
          <p:cNvPr id="25" name="Shape 22"/>
          <p:cNvSpPr/>
          <p:nvPr/>
        </p:nvSpPr>
        <p:spPr>
          <a:xfrm>
            <a:off x="512064" y="4194048"/>
            <a:ext cx="11167872" cy="341376"/>
          </a:xfrm>
          <a:prstGeom prst="rect">
            <a:avLst/>
          </a:prstGeom>
          <a:solidFill>
            <a:srgbClr val="F5FA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4230624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</a:rPr>
              <a:t>Кодирование</a:t>
            </a:r>
            <a:endParaRPr lang="en-US" sz="1267" dirty="0"/>
          </a:p>
        </p:txBody>
      </p:sp>
      <p:sp>
        <p:nvSpPr>
          <p:cNvPr id="27" name="Text 24"/>
          <p:cNvSpPr/>
          <p:nvPr/>
        </p:nvSpPr>
        <p:spPr>
          <a:xfrm>
            <a:off x="2840736" y="4230624"/>
            <a:ext cx="4023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B1B36"/>
                </a:solidFill>
              </a:rPr>
              <a:t>В функции поиска спец-символы не экранировались → ошибка БД</a:t>
            </a:r>
            <a:endParaRPr lang="en-US" sz="1267" dirty="0"/>
          </a:p>
        </p:txBody>
      </p:sp>
      <p:sp>
        <p:nvSpPr>
          <p:cNvPr id="28" name="Text 25"/>
          <p:cNvSpPr/>
          <p:nvPr/>
        </p:nvSpPr>
        <p:spPr>
          <a:xfrm>
            <a:off x="6986016" y="4230624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2E7D32"/>
                </a:solidFill>
              </a:rPr>
              <a:t>Применены Prepared Statements</a:t>
            </a:r>
            <a:endParaRPr lang="en-US" sz="1267" dirty="0"/>
          </a:p>
        </p:txBody>
      </p:sp>
      <p:sp>
        <p:nvSpPr>
          <p:cNvPr id="29" name="Shape 26"/>
          <p:cNvSpPr/>
          <p:nvPr/>
        </p:nvSpPr>
        <p:spPr>
          <a:xfrm>
            <a:off x="512064" y="4572000"/>
            <a:ext cx="11167872" cy="3413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4608576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</a:rPr>
              <a:t>Кодирование</a:t>
            </a:r>
            <a:endParaRPr lang="en-US" sz="1267" dirty="0"/>
          </a:p>
        </p:txBody>
      </p:sp>
      <p:sp>
        <p:nvSpPr>
          <p:cNvPr id="31" name="Text 28"/>
          <p:cNvSpPr/>
          <p:nvPr/>
        </p:nvSpPr>
        <p:spPr>
          <a:xfrm>
            <a:off x="2840736" y="4608576"/>
            <a:ext cx="4023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B1B36"/>
                </a:solidFill>
              </a:rPr>
              <a:t>При неудачной загрузке статьи — форма молчит</a:t>
            </a:r>
            <a:endParaRPr lang="en-US" sz="1267" dirty="0"/>
          </a:p>
        </p:txBody>
      </p:sp>
      <p:sp>
        <p:nvSpPr>
          <p:cNvPr id="32" name="Text 29"/>
          <p:cNvSpPr/>
          <p:nvPr/>
        </p:nvSpPr>
        <p:spPr>
          <a:xfrm>
            <a:off x="6986016" y="4608576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2E7D32"/>
                </a:solidFill>
              </a:rPr>
              <a:t>Добавлено сообщение об ошибке</a:t>
            </a:r>
            <a:endParaRPr lang="en-US" sz="1267" dirty="0"/>
          </a:p>
        </p:txBody>
      </p:sp>
      <p:sp>
        <p:nvSpPr>
          <p:cNvPr id="33" name="Shape 30"/>
          <p:cNvSpPr/>
          <p:nvPr/>
        </p:nvSpPr>
        <p:spPr>
          <a:xfrm>
            <a:off x="512064" y="4949952"/>
            <a:ext cx="11167872" cy="341376"/>
          </a:xfrm>
          <a:prstGeom prst="rect">
            <a:avLst/>
          </a:prstGeom>
          <a:solidFill>
            <a:srgbClr val="F5FA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4986528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</a:rPr>
              <a:t>Синтаксис</a:t>
            </a:r>
            <a:endParaRPr lang="en-US" sz="1267" dirty="0"/>
          </a:p>
        </p:txBody>
      </p:sp>
      <p:sp>
        <p:nvSpPr>
          <p:cNvPr id="35" name="Text 32"/>
          <p:cNvSpPr/>
          <p:nvPr/>
        </p:nvSpPr>
        <p:spPr>
          <a:xfrm>
            <a:off x="2840736" y="4986528"/>
            <a:ext cx="4023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B1B36"/>
                </a:solidFill>
              </a:rPr>
              <a:t>Опечатка: $proejct в шаблоне project.php</a:t>
            </a:r>
            <a:endParaRPr lang="en-US" sz="1267" dirty="0"/>
          </a:p>
        </p:txBody>
      </p:sp>
      <p:sp>
        <p:nvSpPr>
          <p:cNvPr id="36" name="Text 33"/>
          <p:cNvSpPr/>
          <p:nvPr/>
        </p:nvSpPr>
        <p:spPr>
          <a:xfrm>
            <a:off x="6986016" y="4986528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2E7D32"/>
                </a:solidFill>
              </a:rPr>
              <a:t>Исправлено: $project</a:t>
            </a:r>
            <a:endParaRPr lang="en-US" sz="1267" dirty="0"/>
          </a:p>
        </p:txBody>
      </p:sp>
      <p:sp>
        <p:nvSpPr>
          <p:cNvPr id="37" name="Shape 34"/>
          <p:cNvSpPr/>
          <p:nvPr/>
        </p:nvSpPr>
        <p:spPr>
          <a:xfrm>
            <a:off x="512064" y="5327904"/>
            <a:ext cx="11167872" cy="341376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48640" y="5364480"/>
            <a:ext cx="2072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</a:rPr>
              <a:t>Синтаксис</a:t>
            </a:r>
            <a:endParaRPr lang="en-US" sz="1267" dirty="0"/>
          </a:p>
        </p:txBody>
      </p:sp>
      <p:sp>
        <p:nvSpPr>
          <p:cNvPr id="39" name="Text 36"/>
          <p:cNvSpPr/>
          <p:nvPr/>
        </p:nvSpPr>
        <p:spPr>
          <a:xfrm>
            <a:off x="2840736" y="5364480"/>
            <a:ext cx="4023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0B1B36"/>
                </a:solidFill>
              </a:rPr>
              <a:t>Отсутствовал закрывающий &lt;/div&gt; в footer.php</a:t>
            </a:r>
            <a:endParaRPr lang="en-US" sz="1267" dirty="0"/>
          </a:p>
        </p:txBody>
      </p:sp>
      <p:sp>
        <p:nvSpPr>
          <p:cNvPr id="40" name="Text 37"/>
          <p:cNvSpPr/>
          <p:nvPr/>
        </p:nvSpPr>
        <p:spPr>
          <a:xfrm>
            <a:off x="6986016" y="5364480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2E7D32"/>
                </a:solidFill>
              </a:rPr>
              <a:t>Тег добавлен</a:t>
            </a:r>
            <a:endParaRPr lang="en-US" sz="1267" dirty="0"/>
          </a:p>
        </p:txBody>
      </p:sp>
      <p:sp>
        <p:nvSpPr>
          <p:cNvPr id="41" name="Shape 38"/>
          <p:cNvSpPr/>
          <p:nvPr/>
        </p:nvSpPr>
        <p:spPr>
          <a:xfrm>
            <a:off x="6156960" y="1036320"/>
            <a:ext cx="5669280" cy="134112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6400800" y="1097280"/>
            <a:ext cx="5242560" cy="755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Методы отладки: var_dump() · error_log() · логи Apache в OpenServer</a:t>
            </a:r>
            <a:endParaRPr lang="en-US" sz="1467" dirty="0"/>
          </a:p>
        </p:txBody>
      </p:sp>
      <p:sp>
        <p:nvSpPr>
          <p:cNvPr id="43" name="Text 40"/>
          <p:cNvSpPr/>
          <p:nvPr/>
        </p:nvSpPr>
        <p:spPr>
          <a:xfrm>
            <a:off x="6400800" y="1828800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версий: Git (откат при критических ошибках)</a:t>
            </a:r>
            <a:endParaRPr lang="en-US" sz="1467" dirty="0"/>
          </a:p>
        </p:txBody>
      </p:sp>
      <p:sp>
        <p:nvSpPr>
          <p:cNvPr id="44" name="Shape 41"/>
          <p:cNvSpPr/>
          <p:nvPr/>
        </p:nvSpPr>
        <p:spPr>
          <a:xfrm>
            <a:off x="365760" y="5888736"/>
            <a:ext cx="11460480" cy="755904"/>
          </a:xfrm>
          <a:prstGeom prst="rect">
            <a:avLst/>
          </a:prstGeom>
          <a:solidFill>
            <a:srgbClr val="E8F5E9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609600" y="59496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E7D32"/>
                </a:solidFill>
              </a:rPr>
              <a:t>Итог: 6 ошибок найдено и исправлено · 4 типа сценариев тестирования · Качество: 0.04 ошибки/FP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один скругленный угол 1">
            <a:extLst>
              <a:ext uri="{FF2B5EF4-FFF2-40B4-BE49-F238E27FC236}">
                <a16:creationId xmlns:a16="http://schemas.microsoft.com/office/drawing/2014/main" id="{707CABCB-494E-4BC2-AE7F-F7EFB3427D05}"/>
              </a:ext>
            </a:extLst>
          </p:cNvPr>
          <p:cNvSpPr/>
          <p:nvPr/>
        </p:nvSpPr>
        <p:spPr>
          <a:xfrm rot="10800000">
            <a:off x="0" y="-4786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BF9FEEE-3B4F-4819-AADC-2D9F68422515}"/>
              </a:ext>
            </a:extLst>
          </p:cNvPr>
          <p:cNvSpPr txBox="1">
            <a:spLocks/>
          </p:cNvSpPr>
          <p:nvPr/>
        </p:nvSpPr>
        <p:spPr>
          <a:xfrm>
            <a:off x="534001" y="-757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Тестирование </a:t>
            </a:r>
            <a:r>
              <a:rPr lang="ru-RU" b="1" dirty="0">
                <a:solidFill>
                  <a:schemeClr val="bg1"/>
                </a:solidFill>
                <a:latin typeface="Century Gothic" panose="020B0502020202020204" pitchFamily="34" charset="0"/>
              </a:rPr>
              <a:t>ПО</a:t>
            </a:r>
            <a:endParaRPr lang="en-US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714C3C4-DDD3-4B31-8486-47C729DB7D2A}"/>
              </a:ext>
            </a:extLst>
          </p:cNvPr>
          <p:cNvSpPr/>
          <p:nvPr/>
        </p:nvSpPr>
        <p:spPr>
          <a:xfrm>
            <a:off x="609600" y="1097280"/>
            <a:ext cx="5120640" cy="551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577C8E"/>
                </a:solidFill>
                <a:latin typeface="Century Gothic" panose="020B0502020202020204" pitchFamily="34" charset="0"/>
              </a:rPr>
              <a:t>Метод: ручное Black-box тестирование + интеграционное</a:t>
            </a:r>
            <a:endParaRPr lang="en-US" sz="1400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67E4357-A335-452F-9D3C-4388D1548E81}"/>
              </a:ext>
            </a:extLst>
          </p:cNvPr>
          <p:cNvSpPr/>
          <p:nvPr/>
        </p:nvSpPr>
        <p:spPr>
          <a:xfrm>
            <a:off x="534001" y="1630407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Сценарии по Use Case ·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Корректность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форм · Поиск · Безопасность (доступ без авторизации)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6" name="Text 39">
            <a:extLst>
              <a:ext uri="{FF2B5EF4-FFF2-40B4-BE49-F238E27FC236}">
                <a16:creationId xmlns:a16="http://schemas.microsoft.com/office/drawing/2014/main" id="{AA339048-DEAA-45EF-885B-19AB8D61D24F}"/>
              </a:ext>
            </a:extLst>
          </p:cNvPr>
          <p:cNvSpPr/>
          <p:nvPr/>
        </p:nvSpPr>
        <p:spPr>
          <a:xfrm>
            <a:off x="6400800" y="1097280"/>
            <a:ext cx="5242560" cy="5223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Методы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отладки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: var_dump() ·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error_log</a:t>
            </a:r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() · логи Apache в OpenServer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7" name="Text 40">
            <a:extLst>
              <a:ext uri="{FF2B5EF4-FFF2-40B4-BE49-F238E27FC236}">
                <a16:creationId xmlns:a16="http://schemas.microsoft.com/office/drawing/2014/main" id="{0277A0EC-35FB-4C6E-B91F-8ED6574003E4}"/>
              </a:ext>
            </a:extLst>
          </p:cNvPr>
          <p:cNvSpPr/>
          <p:nvPr/>
        </p:nvSpPr>
        <p:spPr>
          <a:xfrm>
            <a:off x="6400800" y="1837671"/>
            <a:ext cx="524256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577C8E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Контроль версий: Git (откат при критических ошибках)</a:t>
            </a:r>
            <a:endParaRPr lang="en-US" sz="1400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1BD4088-8BDC-4E98-863D-A3EFA55B0241}"/>
              </a:ext>
            </a:extLst>
          </p:cNvPr>
          <p:cNvSpPr/>
          <p:nvPr/>
        </p:nvSpPr>
        <p:spPr>
          <a:xfrm>
            <a:off x="365760" y="2499360"/>
            <a:ext cx="11460480" cy="3291840"/>
          </a:xfrm>
          <a:prstGeom prst="roundRect">
            <a:avLst>
              <a:gd name="adj" fmla="val 8580"/>
            </a:avLst>
          </a:prstGeom>
          <a:solidFill>
            <a:srgbClr val="C7D9E5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EDF0DE4-1520-4F6D-957D-3B160ED076B3}"/>
              </a:ext>
            </a:extLst>
          </p:cNvPr>
          <p:cNvSpPr/>
          <p:nvPr/>
        </p:nvSpPr>
        <p:spPr>
          <a:xfrm>
            <a:off x="609600" y="2584704"/>
            <a:ext cx="73152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577C8E"/>
                </a:solidFill>
              </a:rPr>
              <a:t>Таблица найденных и исправленных ошибок</a:t>
            </a:r>
            <a:endParaRPr lang="en-US" sz="1600" dirty="0">
              <a:solidFill>
                <a:srgbClr val="577C8E"/>
              </a:solidFill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965EFA9-840D-4857-806F-361713E2F5BD}"/>
              </a:ext>
            </a:extLst>
          </p:cNvPr>
          <p:cNvSpPr/>
          <p:nvPr/>
        </p:nvSpPr>
        <p:spPr>
          <a:xfrm>
            <a:off x="512064" y="3048000"/>
            <a:ext cx="2072640" cy="365760"/>
          </a:xfrm>
          <a:prstGeom prst="roundRect">
            <a:avLst/>
          </a:prstGeom>
          <a:solidFill>
            <a:srgbClr val="2F4157"/>
          </a:solidFill>
          <a:ln w="12700">
            <a:noFill/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014FE9D-B7A3-4436-AE57-029EF2BF45C4}"/>
              </a:ext>
            </a:extLst>
          </p:cNvPr>
          <p:cNvSpPr/>
          <p:nvPr/>
        </p:nvSpPr>
        <p:spPr>
          <a:xfrm>
            <a:off x="573024" y="3084576"/>
            <a:ext cx="195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Тип ошибки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5489458-A558-4F29-A52B-4135ADAE3049}"/>
              </a:ext>
            </a:extLst>
          </p:cNvPr>
          <p:cNvSpPr/>
          <p:nvPr/>
        </p:nvSpPr>
        <p:spPr>
          <a:xfrm>
            <a:off x="2804160" y="3048000"/>
            <a:ext cx="2072640" cy="365760"/>
          </a:xfrm>
          <a:prstGeom prst="roundRect">
            <a:avLst/>
          </a:prstGeom>
          <a:solidFill>
            <a:srgbClr val="2F4157"/>
          </a:solidFill>
          <a:ln w="12700">
            <a:noFill/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A2A21A6-6F91-4060-ACDE-527C2F562FCF}"/>
              </a:ext>
            </a:extLst>
          </p:cNvPr>
          <p:cNvSpPr/>
          <p:nvPr/>
        </p:nvSpPr>
        <p:spPr>
          <a:xfrm>
            <a:off x="2865120" y="3084576"/>
            <a:ext cx="1950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Проблема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5154C30-0DE6-4558-9476-70257C540E84}"/>
              </a:ext>
            </a:extLst>
          </p:cNvPr>
          <p:cNvSpPr/>
          <p:nvPr/>
        </p:nvSpPr>
        <p:spPr>
          <a:xfrm>
            <a:off x="6949440" y="3048000"/>
            <a:ext cx="4632960" cy="365760"/>
          </a:xfrm>
          <a:prstGeom prst="roundRect">
            <a:avLst/>
          </a:prstGeom>
          <a:solidFill>
            <a:srgbClr val="2F4157"/>
          </a:solidFill>
          <a:ln w="12700">
            <a:noFill/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C079471-C8F4-4332-8C6D-EBD0F7C8F8C5}"/>
              </a:ext>
            </a:extLst>
          </p:cNvPr>
          <p:cNvSpPr/>
          <p:nvPr/>
        </p:nvSpPr>
        <p:spPr>
          <a:xfrm>
            <a:off x="7010400" y="3084576"/>
            <a:ext cx="4511040" cy="304800"/>
          </a:xfrm>
          <a:prstGeom prst="round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Century Gothic" panose="020B0502020202020204" pitchFamily="34" charset="0"/>
              </a:rPr>
              <a:t>Исправление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CC72736-26BF-4780-8D95-5DD0087E5E7F}"/>
              </a:ext>
            </a:extLst>
          </p:cNvPr>
          <p:cNvSpPr/>
          <p:nvPr/>
        </p:nvSpPr>
        <p:spPr>
          <a:xfrm>
            <a:off x="512064" y="3438144"/>
            <a:ext cx="11167872" cy="341376"/>
          </a:xfrm>
          <a:prstGeom prst="roundRect">
            <a:avLst/>
          </a:prstGeom>
          <a:solidFill>
            <a:srgbClr val="F5FA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567A089-E2BB-4ACC-B371-0119F4391B90}"/>
              </a:ext>
            </a:extLst>
          </p:cNvPr>
          <p:cNvSpPr/>
          <p:nvPr/>
        </p:nvSpPr>
        <p:spPr>
          <a:xfrm>
            <a:off x="548640" y="3474720"/>
            <a:ext cx="164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entury Gothic" panose="020B0502020202020204" pitchFamily="34" charset="0"/>
              </a:rPr>
              <a:t>Проектирование</a:t>
            </a:r>
            <a:endParaRPr lang="en-US" sz="1267" dirty="0">
              <a:latin typeface="Century Gothic" panose="020B0502020202020204" pitchFamily="34" charset="0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E970CDF-92C0-44EF-B2FD-121E58906F22}"/>
              </a:ext>
            </a:extLst>
          </p:cNvPr>
          <p:cNvSpPr/>
          <p:nvPr/>
        </p:nvSpPr>
        <p:spPr>
          <a:xfrm>
            <a:off x="2804160" y="3474720"/>
            <a:ext cx="405993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Указан неверный тип отображения для фото (текст вместо </a:t>
            </a:r>
            <a:r>
              <a:rPr lang="ru-RU" sz="1200" dirty="0" err="1">
                <a:solidFill>
                  <a:srgbClr val="0B1B36"/>
                </a:solidFill>
                <a:latin typeface="Century Gothic" panose="020B0502020202020204" pitchFamily="34" charset="0"/>
              </a:rPr>
              <a:t>img</a:t>
            </a:r>
            <a:r>
              <a:rPr lang="ru-RU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)</a:t>
            </a:r>
            <a:endParaRPr lang="en-US" sz="1200" dirty="0">
              <a:solidFill>
                <a:srgbClr val="0B1B36"/>
              </a:solidFill>
              <a:latin typeface="Century Gothic" panose="020B0502020202020204" pitchFamily="34" charset="0"/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8DA8003-4BCF-4DEC-955A-2E012530A545}"/>
              </a:ext>
            </a:extLst>
          </p:cNvPr>
          <p:cNvSpPr/>
          <p:nvPr/>
        </p:nvSpPr>
        <p:spPr>
          <a:xfrm>
            <a:off x="6986016" y="3474720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altLang="ru-RU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Тип данных изменен на </a:t>
            </a:r>
            <a:r>
              <a:rPr lang="ru-RU" altLang="ru-RU" sz="1200" dirty="0" err="1">
                <a:solidFill>
                  <a:srgbClr val="2E7D32"/>
                </a:solidFill>
                <a:latin typeface="Century Gothic" panose="020B0502020202020204" pitchFamily="34" charset="0"/>
              </a:rPr>
              <a:t>img</a:t>
            </a:r>
            <a:r>
              <a:rPr lang="ru-RU" altLang="ru-RU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 </a:t>
            </a:r>
          </a:p>
          <a:p>
            <a:r>
              <a:rPr lang="ru-RU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 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AC2A7F0-3081-43F5-9998-C20A8520A226}"/>
              </a:ext>
            </a:extLst>
          </p:cNvPr>
          <p:cNvSpPr/>
          <p:nvPr/>
        </p:nvSpPr>
        <p:spPr>
          <a:xfrm>
            <a:off x="512064" y="3816096"/>
            <a:ext cx="11167872" cy="34137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DE72757-1218-418B-B0F9-0D9F7542E17F}"/>
              </a:ext>
            </a:extLst>
          </p:cNvPr>
          <p:cNvSpPr/>
          <p:nvPr/>
        </p:nvSpPr>
        <p:spPr>
          <a:xfrm>
            <a:off x="548640" y="3852672"/>
            <a:ext cx="164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entury Gothic" panose="020B0502020202020204" pitchFamily="34" charset="0"/>
              </a:rPr>
              <a:t>Проектирование</a:t>
            </a:r>
            <a:endParaRPr lang="en-US" sz="1267" dirty="0">
              <a:latin typeface="Century Gothic" panose="020B0502020202020204" pitchFamily="34" charset="0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4EEB756-0E0D-4743-8E29-411D7DBCDB62}"/>
              </a:ext>
            </a:extLst>
          </p:cNvPr>
          <p:cNvSpPr/>
          <p:nvPr/>
        </p:nvSpPr>
        <p:spPr>
          <a:xfrm>
            <a:off x="2804160" y="3852672"/>
            <a:ext cx="405993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Отсутствие кнопки отправки формы обратной связи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C76F9EF-470B-4F25-9576-9DCA8658875C}"/>
              </a:ext>
            </a:extLst>
          </p:cNvPr>
          <p:cNvSpPr/>
          <p:nvPr/>
        </p:nvSpPr>
        <p:spPr>
          <a:xfrm>
            <a:off x="6986016" y="3852672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Добавлена кнопка «Отправить сообщение»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E30643A-44D5-41C4-AE12-BA8944EC3040}"/>
              </a:ext>
            </a:extLst>
          </p:cNvPr>
          <p:cNvSpPr/>
          <p:nvPr/>
        </p:nvSpPr>
        <p:spPr>
          <a:xfrm>
            <a:off x="512064" y="4194048"/>
            <a:ext cx="11167872" cy="341376"/>
          </a:xfrm>
          <a:prstGeom prst="roundRect">
            <a:avLst/>
          </a:prstGeom>
          <a:solidFill>
            <a:srgbClr val="F5FA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B75FC685-1522-4AF1-8ED9-0878A5638CBB}"/>
              </a:ext>
            </a:extLst>
          </p:cNvPr>
          <p:cNvSpPr/>
          <p:nvPr/>
        </p:nvSpPr>
        <p:spPr>
          <a:xfrm>
            <a:off x="548640" y="4230624"/>
            <a:ext cx="164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entury Gothic" panose="020B0502020202020204" pitchFamily="34" charset="0"/>
              </a:rPr>
              <a:t>Кодирование</a:t>
            </a:r>
            <a:endParaRPr lang="en-US" sz="1267" dirty="0">
              <a:latin typeface="Century Gothic" panose="020B0502020202020204" pitchFamily="34" charset="0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9A021CDD-2096-419E-995C-67BFE4BF1670}"/>
              </a:ext>
            </a:extLst>
          </p:cNvPr>
          <p:cNvSpPr/>
          <p:nvPr/>
        </p:nvSpPr>
        <p:spPr>
          <a:xfrm>
            <a:off x="2804160" y="4230624"/>
            <a:ext cx="405993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При подключении к БД возникала ошибка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01806E53-E54E-4613-A2C0-7BD5FA39B28A}"/>
              </a:ext>
            </a:extLst>
          </p:cNvPr>
          <p:cNvSpPr/>
          <p:nvPr/>
        </p:nvSpPr>
        <p:spPr>
          <a:xfrm>
            <a:off x="6986016" y="4230624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Верно указано название БД - </a:t>
            </a:r>
            <a:r>
              <a:rPr lang="en-US" sz="1200" dirty="0" err="1">
                <a:solidFill>
                  <a:srgbClr val="2E7D32"/>
                </a:solidFill>
                <a:latin typeface="Century Gothic" panose="020B0502020202020204" pitchFamily="34" charset="0"/>
              </a:rPr>
              <a:t>sigroup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FB64BE1-095B-419C-A1EA-07352BB41437}"/>
              </a:ext>
            </a:extLst>
          </p:cNvPr>
          <p:cNvSpPr/>
          <p:nvPr/>
        </p:nvSpPr>
        <p:spPr>
          <a:xfrm>
            <a:off x="512064" y="4572000"/>
            <a:ext cx="11167872" cy="34137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4C485BB-7080-4462-91DA-F7F404E4E7D8}"/>
              </a:ext>
            </a:extLst>
          </p:cNvPr>
          <p:cNvSpPr/>
          <p:nvPr/>
        </p:nvSpPr>
        <p:spPr>
          <a:xfrm>
            <a:off x="548640" y="4608576"/>
            <a:ext cx="164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entury Gothic" panose="020B0502020202020204" pitchFamily="34" charset="0"/>
              </a:rPr>
              <a:t>Кодирование</a:t>
            </a:r>
            <a:endParaRPr lang="en-US" sz="1267" dirty="0">
              <a:latin typeface="Century Gothic" panose="020B0502020202020204" pitchFamily="34" charset="0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2CE5660-7772-4CE3-8E42-5B381ABF6041}"/>
              </a:ext>
            </a:extLst>
          </p:cNvPr>
          <p:cNvSpPr/>
          <p:nvPr/>
        </p:nvSpPr>
        <p:spPr>
          <a:xfrm>
            <a:off x="2804160" y="4608576"/>
            <a:ext cx="405993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При неудачной загрузке </a:t>
            </a:r>
            <a:r>
              <a:rPr lang="en-US" sz="1200" dirty="0" err="1">
                <a:solidFill>
                  <a:srgbClr val="0B1B36"/>
                </a:solidFill>
                <a:latin typeface="Century Gothic" panose="020B0502020202020204" pitchFamily="34" charset="0"/>
              </a:rPr>
              <a:t>статьи</a:t>
            </a:r>
            <a:r>
              <a:rPr lang="en-US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 - форма молчит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6CCC5AD-2617-4EF4-B7FC-392728584BE3}"/>
              </a:ext>
            </a:extLst>
          </p:cNvPr>
          <p:cNvSpPr/>
          <p:nvPr/>
        </p:nvSpPr>
        <p:spPr>
          <a:xfrm>
            <a:off x="6986016" y="4608576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Добавлено сообщение об ошибке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208E0C7-6F30-47B0-BFFC-63D3AD6EAD53}"/>
              </a:ext>
            </a:extLst>
          </p:cNvPr>
          <p:cNvSpPr/>
          <p:nvPr/>
        </p:nvSpPr>
        <p:spPr>
          <a:xfrm>
            <a:off x="512064" y="4949952"/>
            <a:ext cx="11167872" cy="341376"/>
          </a:xfrm>
          <a:prstGeom prst="roundRect">
            <a:avLst/>
          </a:prstGeom>
          <a:solidFill>
            <a:srgbClr val="F5FA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A20694D-3792-4658-8800-B312FFCED2EF}"/>
              </a:ext>
            </a:extLst>
          </p:cNvPr>
          <p:cNvSpPr/>
          <p:nvPr/>
        </p:nvSpPr>
        <p:spPr>
          <a:xfrm>
            <a:off x="548640" y="4986528"/>
            <a:ext cx="164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entury Gothic" panose="020B0502020202020204" pitchFamily="34" charset="0"/>
              </a:rPr>
              <a:t>Синтаксис</a:t>
            </a:r>
            <a:endParaRPr lang="en-US" sz="1267" dirty="0">
              <a:latin typeface="Century Gothic" panose="020B0502020202020204" pitchFamily="34" charset="0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857F4D5-F6B1-4411-B081-7F92AD8E4F83}"/>
              </a:ext>
            </a:extLst>
          </p:cNvPr>
          <p:cNvSpPr/>
          <p:nvPr/>
        </p:nvSpPr>
        <p:spPr>
          <a:xfrm>
            <a:off x="2804160" y="4986528"/>
            <a:ext cx="405993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Опечатка: $proejct в шаблоне project.php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9582FE0-3B01-430A-95EF-8666C16557C2}"/>
              </a:ext>
            </a:extLst>
          </p:cNvPr>
          <p:cNvSpPr/>
          <p:nvPr/>
        </p:nvSpPr>
        <p:spPr>
          <a:xfrm>
            <a:off x="6986016" y="4986528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Исправлено: $project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093FDBDA-9BD0-466B-B943-70FF603DA6E0}"/>
              </a:ext>
            </a:extLst>
          </p:cNvPr>
          <p:cNvSpPr/>
          <p:nvPr/>
        </p:nvSpPr>
        <p:spPr>
          <a:xfrm>
            <a:off x="512064" y="5327904"/>
            <a:ext cx="11167872" cy="341376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4528E4F-1968-488F-A407-DEEF71456FF5}"/>
              </a:ext>
            </a:extLst>
          </p:cNvPr>
          <p:cNvSpPr/>
          <p:nvPr/>
        </p:nvSpPr>
        <p:spPr>
          <a:xfrm>
            <a:off x="548640" y="5364480"/>
            <a:ext cx="16459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546E7A"/>
                </a:solidFill>
                <a:latin typeface="Century Gothic" panose="020B0502020202020204" pitchFamily="34" charset="0"/>
              </a:rPr>
              <a:t>Синтаксис</a:t>
            </a:r>
            <a:endParaRPr lang="en-US" sz="1267" dirty="0">
              <a:latin typeface="Century Gothic" panose="020B0502020202020204" pitchFamily="34" charset="0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A367387-FB6D-403E-A76F-57E61791F8F4}"/>
              </a:ext>
            </a:extLst>
          </p:cNvPr>
          <p:cNvSpPr/>
          <p:nvPr/>
        </p:nvSpPr>
        <p:spPr>
          <a:xfrm>
            <a:off x="2804160" y="5364480"/>
            <a:ext cx="405993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0B1B36"/>
                </a:solidFill>
                <a:latin typeface="Century Gothic" panose="020B0502020202020204" pitchFamily="34" charset="0"/>
              </a:rPr>
              <a:t>Отсутствовал закрывающий &lt;/div&gt; в footer.php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7F961E8-D0D7-479E-8EAD-8E07CC4CFE6C}"/>
              </a:ext>
            </a:extLst>
          </p:cNvPr>
          <p:cNvSpPr/>
          <p:nvPr/>
        </p:nvSpPr>
        <p:spPr>
          <a:xfrm>
            <a:off x="6986016" y="5364480"/>
            <a:ext cx="43891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E7D32"/>
                </a:solidFill>
                <a:latin typeface="Century Gothic" panose="020B0502020202020204" pitchFamily="34" charset="0"/>
              </a:rPr>
              <a:t>Тег добавлен</a:t>
            </a:r>
            <a:endParaRPr lang="en-US" sz="1200" dirty="0">
              <a:latin typeface="Century Gothic" panose="020B0502020202020204" pitchFamily="34" charset="0"/>
            </a:endParaRPr>
          </a:p>
        </p:txBody>
      </p:sp>
      <p:sp>
        <p:nvSpPr>
          <p:cNvPr id="40" name="Shape 41">
            <a:extLst>
              <a:ext uri="{FF2B5EF4-FFF2-40B4-BE49-F238E27FC236}">
                <a16:creationId xmlns:a16="http://schemas.microsoft.com/office/drawing/2014/main" id="{974E78AC-2871-4EA9-B41B-46D29E04A315}"/>
              </a:ext>
            </a:extLst>
          </p:cNvPr>
          <p:cNvSpPr/>
          <p:nvPr/>
        </p:nvSpPr>
        <p:spPr>
          <a:xfrm>
            <a:off x="365760" y="5888736"/>
            <a:ext cx="11460480" cy="755904"/>
          </a:xfrm>
          <a:prstGeom prst="roundRect">
            <a:avLst/>
          </a:prstGeom>
          <a:solidFill>
            <a:srgbClr val="E8F5E9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1" name="Text 42">
            <a:extLst>
              <a:ext uri="{FF2B5EF4-FFF2-40B4-BE49-F238E27FC236}">
                <a16:creationId xmlns:a16="http://schemas.microsoft.com/office/drawing/2014/main" id="{E6F1C1A1-A3BF-4547-B6B4-8F0520895728}"/>
              </a:ext>
            </a:extLst>
          </p:cNvPr>
          <p:cNvSpPr/>
          <p:nvPr/>
        </p:nvSpPr>
        <p:spPr>
          <a:xfrm>
            <a:off x="609600" y="5949696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2E7D32"/>
                </a:solidFill>
                <a:latin typeface="Century Gothic" panose="020B0502020202020204" pitchFamily="34" charset="0"/>
              </a:rPr>
              <a:t>Итог: 6 ошибок найдено и исправлено · 4 типа сценариев тестирования · Качество: 0.04 ошибки/FP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pic>
        <p:nvPicPr>
          <p:cNvPr id="42" name="Picture 4">
            <a:extLst>
              <a:ext uri="{FF2B5EF4-FFF2-40B4-BE49-F238E27FC236}">
                <a16:creationId xmlns:a16="http://schemas.microsoft.com/office/drawing/2014/main" id="{EB9E4DF8-EC65-4043-94DC-46AD5C2C8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846320" y="0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Овал 42">
            <a:extLst>
              <a:ext uri="{FF2B5EF4-FFF2-40B4-BE49-F238E27FC236}">
                <a16:creationId xmlns:a16="http://schemas.microsoft.com/office/drawing/2014/main" id="{EF1D36CD-C0F9-458F-95D3-4B50CAC1C04D}"/>
              </a:ext>
            </a:extLst>
          </p:cNvPr>
          <p:cNvSpPr/>
          <p:nvPr/>
        </p:nvSpPr>
        <p:spPr>
          <a:xfrm>
            <a:off x="-4693920" y="-1143000"/>
            <a:ext cx="822960" cy="822960"/>
          </a:xfrm>
          <a:prstGeom prst="ellipse">
            <a:avLst/>
          </a:prstGeom>
          <a:solidFill>
            <a:srgbClr val="2C3E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F3744146-C7FD-4B00-9220-FE3E62DD3488}"/>
              </a:ext>
            </a:extLst>
          </p:cNvPr>
          <p:cNvSpPr/>
          <p:nvPr/>
        </p:nvSpPr>
        <p:spPr>
          <a:xfrm>
            <a:off x="-3718560" y="-1143000"/>
            <a:ext cx="822960" cy="822960"/>
          </a:xfrm>
          <a:prstGeom prst="ellipse">
            <a:avLst/>
          </a:prstGeom>
          <a:solidFill>
            <a:srgbClr val="3498D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Овал 44">
            <a:extLst>
              <a:ext uri="{FF2B5EF4-FFF2-40B4-BE49-F238E27FC236}">
                <a16:creationId xmlns:a16="http://schemas.microsoft.com/office/drawing/2014/main" id="{7DEF3909-A657-41C9-B215-58654DDA3966}"/>
              </a:ext>
            </a:extLst>
          </p:cNvPr>
          <p:cNvSpPr/>
          <p:nvPr/>
        </p:nvSpPr>
        <p:spPr>
          <a:xfrm>
            <a:off x="-2743200" y="-1143000"/>
            <a:ext cx="822960" cy="822960"/>
          </a:xfrm>
          <a:prstGeom prst="ellipse">
            <a:avLst/>
          </a:prstGeom>
          <a:solidFill>
            <a:srgbClr val="DBEB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Овал 45">
            <a:extLst>
              <a:ext uri="{FF2B5EF4-FFF2-40B4-BE49-F238E27FC236}">
                <a16:creationId xmlns:a16="http://schemas.microsoft.com/office/drawing/2014/main" id="{00326C00-442D-489C-A795-86982818D0D0}"/>
              </a:ext>
            </a:extLst>
          </p:cNvPr>
          <p:cNvSpPr/>
          <p:nvPr/>
        </p:nvSpPr>
        <p:spPr>
          <a:xfrm>
            <a:off x="-1767840" y="-1138845"/>
            <a:ext cx="822960" cy="822960"/>
          </a:xfrm>
          <a:prstGeom prst="ellipse">
            <a:avLst/>
          </a:prstGeom>
          <a:solidFill>
            <a:srgbClr val="F9F9F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778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" y="121920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9056" y="97536"/>
            <a:ext cx="10972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Расчёт метрик проекта</a:t>
            </a:r>
            <a:endParaRPr lang="en-US" sz="2933" dirty="0"/>
          </a:p>
        </p:txBody>
      </p:sp>
      <p:sp>
        <p:nvSpPr>
          <p:cNvPr id="5" name="Shape 2"/>
          <p:cNvSpPr/>
          <p:nvPr/>
        </p:nvSpPr>
        <p:spPr>
          <a:xfrm>
            <a:off x="0" y="792480"/>
            <a:ext cx="12192000" cy="73152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65760" y="999744"/>
            <a:ext cx="2682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65760" y="999744"/>
            <a:ext cx="2682240" cy="121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6720" y="1146048"/>
            <a:ext cx="25603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dirty="0">
                <a:solidFill>
                  <a:srgbClr val="1565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426720" y="1926336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1565C0"/>
                </a:solidFill>
              </a:rPr>
              <a:t>FP</a:t>
            </a:r>
            <a:endParaRPr lang="en-US" sz="1467" dirty="0"/>
          </a:p>
        </p:txBody>
      </p:sp>
      <p:sp>
        <p:nvSpPr>
          <p:cNvPr id="10" name="Text 7"/>
          <p:cNvSpPr/>
          <p:nvPr/>
        </p:nvSpPr>
        <p:spPr>
          <a:xfrm>
            <a:off x="426720" y="22920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Функциональных точек</a:t>
            </a:r>
            <a:endParaRPr lang="en-US" sz="1333" dirty="0"/>
          </a:p>
        </p:txBody>
      </p:sp>
      <p:sp>
        <p:nvSpPr>
          <p:cNvPr id="11" name="Shape 8"/>
          <p:cNvSpPr/>
          <p:nvPr/>
        </p:nvSpPr>
        <p:spPr>
          <a:xfrm>
            <a:off x="3291840" y="999744"/>
            <a:ext cx="2682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999744"/>
            <a:ext cx="2682240" cy="12192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52800" y="1146048"/>
            <a:ext cx="25603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dirty="0">
                <a:solidFill>
                  <a:srgbClr val="0083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66.7</a:t>
            </a:r>
            <a:endParaRPr lang="en-US" sz="4800" dirty="0"/>
          </a:p>
        </p:txBody>
      </p:sp>
      <p:sp>
        <p:nvSpPr>
          <p:cNvPr id="14" name="Text 11"/>
          <p:cNvSpPr/>
          <p:nvPr/>
        </p:nvSpPr>
        <p:spPr>
          <a:xfrm>
            <a:off x="3352800" y="1926336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00838F"/>
                </a:solidFill>
              </a:rPr>
              <a:t>FP/чел.-мес.</a:t>
            </a:r>
            <a:endParaRPr lang="en-US" sz="1467" dirty="0"/>
          </a:p>
        </p:txBody>
      </p:sp>
      <p:sp>
        <p:nvSpPr>
          <p:cNvPr id="15" name="Text 12"/>
          <p:cNvSpPr/>
          <p:nvPr/>
        </p:nvSpPr>
        <p:spPr>
          <a:xfrm>
            <a:off x="3352800" y="22920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333" dirty="0"/>
          </a:p>
        </p:txBody>
      </p:sp>
      <p:sp>
        <p:nvSpPr>
          <p:cNvPr id="16" name="Shape 13"/>
          <p:cNvSpPr/>
          <p:nvPr/>
        </p:nvSpPr>
        <p:spPr>
          <a:xfrm>
            <a:off x="6217920" y="999744"/>
            <a:ext cx="2682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7920" y="999744"/>
            <a:ext cx="2682240" cy="121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78880" y="1146048"/>
            <a:ext cx="25603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0.04</a:t>
            </a:r>
            <a:endParaRPr lang="en-US" sz="4800" dirty="0"/>
          </a:p>
        </p:txBody>
      </p:sp>
      <p:sp>
        <p:nvSpPr>
          <p:cNvPr id="19" name="Text 16"/>
          <p:cNvSpPr/>
          <p:nvPr/>
        </p:nvSpPr>
        <p:spPr>
          <a:xfrm>
            <a:off x="6278880" y="1926336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2E7D32"/>
                </a:solidFill>
              </a:rPr>
              <a:t>ош./FP</a:t>
            </a:r>
            <a:endParaRPr lang="en-US" sz="1467" dirty="0"/>
          </a:p>
        </p:txBody>
      </p:sp>
      <p:sp>
        <p:nvSpPr>
          <p:cNvPr id="20" name="Text 17"/>
          <p:cNvSpPr/>
          <p:nvPr/>
        </p:nvSpPr>
        <p:spPr>
          <a:xfrm>
            <a:off x="6278880" y="22920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качества</a:t>
            </a:r>
            <a:endParaRPr lang="en-US" sz="1333" dirty="0"/>
          </a:p>
        </p:txBody>
      </p:sp>
      <p:sp>
        <p:nvSpPr>
          <p:cNvPr id="21" name="Shape 18"/>
          <p:cNvSpPr/>
          <p:nvPr/>
        </p:nvSpPr>
        <p:spPr>
          <a:xfrm>
            <a:off x="9144000" y="999744"/>
            <a:ext cx="2682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144000" y="999744"/>
            <a:ext cx="2682240" cy="1219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204960" y="1146048"/>
            <a:ext cx="25603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dirty="0">
                <a:solidFill>
                  <a:srgbClr val="F57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270</a:t>
            </a:r>
            <a:endParaRPr lang="en-US" sz="4800" dirty="0"/>
          </a:p>
        </p:txBody>
      </p:sp>
      <p:sp>
        <p:nvSpPr>
          <p:cNvPr id="24" name="Text 21"/>
          <p:cNvSpPr/>
          <p:nvPr/>
        </p:nvSpPr>
        <p:spPr>
          <a:xfrm>
            <a:off x="9204960" y="1926336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F57C00"/>
                </a:solidFill>
              </a:rPr>
              <a:t>чел.-час</a:t>
            </a:r>
            <a:endParaRPr lang="en-US" sz="1467" dirty="0"/>
          </a:p>
        </p:txBody>
      </p:sp>
      <p:sp>
        <p:nvSpPr>
          <p:cNvPr id="25" name="Text 22"/>
          <p:cNvSpPr/>
          <p:nvPr/>
        </p:nvSpPr>
        <p:spPr>
          <a:xfrm>
            <a:off x="9204960" y="229209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Всего трудозатрат</a:t>
            </a:r>
            <a:endParaRPr lang="en-US" sz="1333" dirty="0"/>
          </a:p>
        </p:txBody>
      </p:sp>
      <p:sp>
        <p:nvSpPr>
          <p:cNvPr id="26" name="Shape 23"/>
          <p:cNvSpPr/>
          <p:nvPr/>
        </p:nvSpPr>
        <p:spPr>
          <a:xfrm>
            <a:off x="365760" y="3048000"/>
            <a:ext cx="6461760" cy="341376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09600" y="3133344"/>
            <a:ext cx="5852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565C0"/>
                </a:solidFill>
              </a:rPr>
              <a:t>Трудозатраты по этапам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548640" y="363321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B1B36"/>
                </a:solidFill>
              </a:rPr>
              <a:t>Анализ требований</a:t>
            </a:r>
            <a:endParaRPr lang="en-US" sz="1333" dirty="0"/>
          </a:p>
        </p:txBody>
      </p:sp>
      <p:sp>
        <p:nvSpPr>
          <p:cNvPr id="29" name="Shape 26"/>
          <p:cNvSpPr/>
          <p:nvPr/>
        </p:nvSpPr>
        <p:spPr>
          <a:xfrm>
            <a:off x="3048000" y="3694176"/>
            <a:ext cx="1066800" cy="304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139184" y="3681984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</a:rPr>
              <a:t>30 ч</a:t>
            </a:r>
            <a:endParaRPr lang="en-US" sz="1333" dirty="0"/>
          </a:p>
        </p:txBody>
      </p:sp>
      <p:sp>
        <p:nvSpPr>
          <p:cNvPr id="31" name="Text 28"/>
          <p:cNvSpPr/>
          <p:nvPr/>
        </p:nvSpPr>
        <p:spPr>
          <a:xfrm>
            <a:off x="548640" y="418185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B1B36"/>
                </a:solidFill>
              </a:rPr>
              <a:t>Проектирование</a:t>
            </a:r>
            <a:endParaRPr lang="en-US" sz="1333" dirty="0"/>
          </a:p>
        </p:txBody>
      </p:sp>
      <p:sp>
        <p:nvSpPr>
          <p:cNvPr id="32" name="Shape 29"/>
          <p:cNvSpPr/>
          <p:nvPr/>
        </p:nvSpPr>
        <p:spPr>
          <a:xfrm>
            <a:off x="3048000" y="4242816"/>
            <a:ext cx="1600200" cy="304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72584" y="4230624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</a:rPr>
              <a:t>45 ч</a:t>
            </a:r>
            <a:endParaRPr lang="en-US" sz="1333" dirty="0"/>
          </a:p>
        </p:txBody>
      </p:sp>
      <p:sp>
        <p:nvSpPr>
          <p:cNvPr id="34" name="Text 31"/>
          <p:cNvSpPr/>
          <p:nvPr/>
        </p:nvSpPr>
        <p:spPr>
          <a:xfrm>
            <a:off x="548640" y="473049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B1B36"/>
                </a:solidFill>
              </a:rPr>
              <a:t>Разработка (код)</a:t>
            </a:r>
            <a:endParaRPr lang="en-US" sz="1333" dirty="0"/>
          </a:p>
        </p:txBody>
      </p:sp>
      <p:sp>
        <p:nvSpPr>
          <p:cNvPr id="35" name="Shape 32"/>
          <p:cNvSpPr/>
          <p:nvPr/>
        </p:nvSpPr>
        <p:spPr>
          <a:xfrm>
            <a:off x="3048000" y="4791456"/>
            <a:ext cx="4267200" cy="304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ru-RU" sz="2400" dirty="0"/>
          </a:p>
        </p:txBody>
      </p:sp>
      <p:sp>
        <p:nvSpPr>
          <p:cNvPr id="36" name="Text 33"/>
          <p:cNvSpPr/>
          <p:nvPr/>
        </p:nvSpPr>
        <p:spPr>
          <a:xfrm>
            <a:off x="7339584" y="4779264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</a:rPr>
              <a:t>120 ч</a:t>
            </a:r>
            <a:endParaRPr lang="en-US" sz="1333" dirty="0"/>
          </a:p>
        </p:txBody>
      </p:sp>
      <p:sp>
        <p:nvSpPr>
          <p:cNvPr id="37" name="Text 34"/>
          <p:cNvSpPr/>
          <p:nvPr/>
        </p:nvSpPr>
        <p:spPr>
          <a:xfrm>
            <a:off x="548640" y="527913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B1B36"/>
                </a:solidFill>
              </a:rPr>
              <a:t>Тестирование</a:t>
            </a:r>
            <a:endParaRPr lang="en-US" sz="1333" dirty="0"/>
          </a:p>
        </p:txBody>
      </p:sp>
      <p:sp>
        <p:nvSpPr>
          <p:cNvPr id="38" name="Shape 35"/>
          <p:cNvSpPr/>
          <p:nvPr/>
        </p:nvSpPr>
        <p:spPr>
          <a:xfrm>
            <a:off x="3048000" y="5340096"/>
            <a:ext cx="1422400" cy="304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494784" y="5327904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</a:rPr>
              <a:t>40 ч</a:t>
            </a:r>
            <a:endParaRPr lang="en-US" sz="1333" dirty="0"/>
          </a:p>
        </p:txBody>
      </p:sp>
      <p:sp>
        <p:nvSpPr>
          <p:cNvPr id="40" name="Text 37"/>
          <p:cNvSpPr/>
          <p:nvPr/>
        </p:nvSpPr>
        <p:spPr>
          <a:xfrm>
            <a:off x="548640" y="582777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B1B36"/>
                </a:solidFill>
              </a:rPr>
              <a:t>Документация</a:t>
            </a:r>
            <a:endParaRPr lang="en-US" sz="1333" dirty="0"/>
          </a:p>
        </p:txBody>
      </p:sp>
      <p:sp>
        <p:nvSpPr>
          <p:cNvPr id="41" name="Shape 38"/>
          <p:cNvSpPr/>
          <p:nvPr/>
        </p:nvSpPr>
        <p:spPr>
          <a:xfrm>
            <a:off x="3048000" y="5888736"/>
            <a:ext cx="1244600" cy="304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16984" y="5876544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</a:rPr>
              <a:t>35 ч</a:t>
            </a:r>
            <a:endParaRPr lang="en-US" sz="1333" dirty="0"/>
          </a:p>
        </p:txBody>
      </p:sp>
      <p:sp>
        <p:nvSpPr>
          <p:cNvPr id="43" name="Shape 40"/>
          <p:cNvSpPr/>
          <p:nvPr/>
        </p:nvSpPr>
        <p:spPr>
          <a:xfrm>
            <a:off x="7132320" y="3048000"/>
            <a:ext cx="4693920" cy="341376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7315200" y="3133344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565C0"/>
                </a:solidFill>
              </a:rPr>
              <a:t>Составляющие FP (до корректировки = 105)</a:t>
            </a:r>
            <a:endParaRPr lang="en-US" sz="1467" dirty="0"/>
          </a:p>
        </p:txBody>
      </p:sp>
      <p:sp>
        <p:nvSpPr>
          <p:cNvPr id="45" name="Text 42"/>
          <p:cNvSpPr/>
          <p:nvPr/>
        </p:nvSpPr>
        <p:spPr>
          <a:xfrm>
            <a:off x="7315200" y="3633216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46E7A"/>
                </a:solidFill>
              </a:rPr>
              <a:t>Вводы (×3)</a:t>
            </a:r>
            <a:endParaRPr lang="en-US" sz="1333" dirty="0"/>
          </a:p>
        </p:txBody>
      </p:sp>
      <p:sp>
        <p:nvSpPr>
          <p:cNvPr id="46" name="Text 43"/>
          <p:cNvSpPr/>
          <p:nvPr/>
        </p:nvSpPr>
        <p:spPr>
          <a:xfrm>
            <a:off x="11094720" y="3633216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1565C0"/>
                </a:solidFill>
              </a:rPr>
              <a:t>15</a:t>
            </a:r>
            <a:endParaRPr lang="en-US" sz="1467" dirty="0"/>
          </a:p>
        </p:txBody>
      </p:sp>
      <p:sp>
        <p:nvSpPr>
          <p:cNvPr id="47" name="Shape 44"/>
          <p:cNvSpPr/>
          <p:nvPr/>
        </p:nvSpPr>
        <p:spPr>
          <a:xfrm>
            <a:off x="9936480" y="3742944"/>
            <a:ext cx="365760" cy="170688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7315200" y="4120896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46E7A"/>
                </a:solidFill>
              </a:rPr>
              <a:t>Выводы (×4)</a:t>
            </a:r>
            <a:endParaRPr lang="en-US" sz="1333" dirty="0"/>
          </a:p>
        </p:txBody>
      </p:sp>
      <p:sp>
        <p:nvSpPr>
          <p:cNvPr id="49" name="Text 46"/>
          <p:cNvSpPr/>
          <p:nvPr/>
        </p:nvSpPr>
        <p:spPr>
          <a:xfrm>
            <a:off x="11094720" y="4120896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1565C0"/>
                </a:solidFill>
              </a:rPr>
              <a:t>40</a:t>
            </a:r>
            <a:endParaRPr lang="en-US" sz="1467" dirty="0"/>
          </a:p>
        </p:txBody>
      </p:sp>
      <p:sp>
        <p:nvSpPr>
          <p:cNvPr id="50" name="Shape 47"/>
          <p:cNvSpPr/>
          <p:nvPr/>
        </p:nvSpPr>
        <p:spPr>
          <a:xfrm>
            <a:off x="9936480" y="4230624"/>
            <a:ext cx="975360" cy="170688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315200" y="4608576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46E7A"/>
                </a:solidFill>
              </a:rPr>
              <a:t>Запросы (×3)</a:t>
            </a:r>
            <a:endParaRPr lang="en-US" sz="1333" dirty="0"/>
          </a:p>
        </p:txBody>
      </p:sp>
      <p:sp>
        <p:nvSpPr>
          <p:cNvPr id="52" name="Text 49"/>
          <p:cNvSpPr/>
          <p:nvPr/>
        </p:nvSpPr>
        <p:spPr>
          <a:xfrm>
            <a:off x="11094720" y="4608576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1565C0"/>
                </a:solidFill>
              </a:rPr>
              <a:t>6</a:t>
            </a:r>
            <a:endParaRPr lang="en-US" sz="1467" dirty="0"/>
          </a:p>
        </p:txBody>
      </p:sp>
      <p:sp>
        <p:nvSpPr>
          <p:cNvPr id="53" name="Shape 50"/>
          <p:cNvSpPr/>
          <p:nvPr/>
        </p:nvSpPr>
        <p:spPr>
          <a:xfrm>
            <a:off x="9936480" y="4718304"/>
            <a:ext cx="146304" cy="170688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7315200" y="5096256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46E7A"/>
                </a:solidFill>
              </a:rPr>
              <a:t>Лог. файлы (×7)</a:t>
            </a:r>
            <a:endParaRPr lang="en-US" sz="1333" dirty="0"/>
          </a:p>
        </p:txBody>
      </p:sp>
      <p:sp>
        <p:nvSpPr>
          <p:cNvPr id="55" name="Text 52"/>
          <p:cNvSpPr/>
          <p:nvPr/>
        </p:nvSpPr>
        <p:spPr>
          <a:xfrm>
            <a:off x="11094720" y="5096256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1565C0"/>
                </a:solidFill>
              </a:rPr>
              <a:t>21</a:t>
            </a:r>
            <a:endParaRPr lang="en-US" sz="1467" dirty="0"/>
          </a:p>
        </p:txBody>
      </p:sp>
      <p:sp>
        <p:nvSpPr>
          <p:cNvPr id="56" name="Shape 53"/>
          <p:cNvSpPr/>
          <p:nvPr/>
        </p:nvSpPr>
        <p:spPr>
          <a:xfrm>
            <a:off x="9936480" y="5205984"/>
            <a:ext cx="512064" cy="170688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7315200" y="5583936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46E7A"/>
                </a:solidFill>
              </a:rPr>
              <a:t>Интерф. файлы (×5)</a:t>
            </a:r>
            <a:endParaRPr lang="en-US" sz="1333" dirty="0"/>
          </a:p>
        </p:txBody>
      </p:sp>
      <p:sp>
        <p:nvSpPr>
          <p:cNvPr id="58" name="Text 55"/>
          <p:cNvSpPr/>
          <p:nvPr/>
        </p:nvSpPr>
        <p:spPr>
          <a:xfrm>
            <a:off x="11094720" y="5583936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1565C0"/>
                </a:solidFill>
              </a:rPr>
              <a:t>5</a:t>
            </a:r>
            <a:endParaRPr lang="en-US" sz="1467" dirty="0"/>
          </a:p>
        </p:txBody>
      </p:sp>
      <p:sp>
        <p:nvSpPr>
          <p:cNvPr id="59" name="Shape 56"/>
          <p:cNvSpPr/>
          <p:nvPr/>
        </p:nvSpPr>
        <p:spPr>
          <a:xfrm>
            <a:off x="9936480" y="5693664"/>
            <a:ext cx="121920" cy="170688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315200" y="6071616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46E7A"/>
                </a:solidFill>
              </a:rPr>
              <a:t>Алгоритмы (×1)</a:t>
            </a:r>
            <a:endParaRPr lang="en-US" sz="1333" dirty="0"/>
          </a:p>
        </p:txBody>
      </p:sp>
      <p:sp>
        <p:nvSpPr>
          <p:cNvPr id="61" name="Text 58"/>
          <p:cNvSpPr/>
          <p:nvPr/>
        </p:nvSpPr>
        <p:spPr>
          <a:xfrm>
            <a:off x="11094720" y="6071616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1565C0"/>
                </a:solidFill>
              </a:rPr>
              <a:t>18</a:t>
            </a:r>
            <a:endParaRPr lang="en-US" sz="1467" dirty="0"/>
          </a:p>
        </p:txBody>
      </p:sp>
      <p:sp>
        <p:nvSpPr>
          <p:cNvPr id="62" name="Shape 59"/>
          <p:cNvSpPr/>
          <p:nvPr/>
        </p:nvSpPr>
        <p:spPr>
          <a:xfrm>
            <a:off x="9936480" y="6181344"/>
            <a:ext cx="438912" cy="170688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65760" y="6547104"/>
            <a:ext cx="11460480" cy="609600"/>
          </a:xfrm>
          <a:prstGeom prst="rect">
            <a:avLst/>
          </a:prstGeom>
          <a:solidFill>
            <a:srgbClr val="0B1B36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4" name="Text 61"/>
          <p:cNvSpPr/>
          <p:nvPr/>
        </p:nvSpPr>
        <p:spPr>
          <a:xfrm>
            <a:off x="609600" y="6595872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 = 105 × VA(0.95) = 100 · VA = 0.65 + 0.01 × ΣFi(30) = 0.95 · Производительность = 100 FP / 1.5 чел.-мес. = 66.67</a:t>
            </a:r>
            <a:endParaRPr lang="en-US" sz="133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один скругленный угол 1">
            <a:extLst>
              <a:ext uri="{FF2B5EF4-FFF2-40B4-BE49-F238E27FC236}">
                <a16:creationId xmlns:a16="http://schemas.microsoft.com/office/drawing/2014/main" id="{11E559DF-24C8-4CC0-85FD-87ACD114845C}"/>
              </a:ext>
            </a:extLst>
          </p:cNvPr>
          <p:cNvSpPr/>
          <p:nvPr/>
        </p:nvSpPr>
        <p:spPr>
          <a:xfrm rot="10800000">
            <a:off x="0" y="-4786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atin typeface="Century Gothic" panose="020B0502020202020204" pitchFamily="34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CF1980F-D6EE-47F4-9AA4-C8C2C90B3FE6}"/>
              </a:ext>
            </a:extLst>
          </p:cNvPr>
          <p:cNvSpPr txBox="1">
            <a:spLocks/>
          </p:cNvSpPr>
          <p:nvPr/>
        </p:nvSpPr>
        <p:spPr>
          <a:xfrm>
            <a:off x="534001" y="-757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chemeClr val="bg1"/>
                </a:solidFill>
                <a:latin typeface="Century Gothic" panose="020B0502020202020204" pitchFamily="34" charset="0"/>
              </a:rPr>
              <a:t>Расчет</a:t>
            </a:r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 метрик проекта</a:t>
            </a:r>
            <a:endParaRPr lang="en-US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6B174EEE-E816-4F2F-9670-069D8480C596}"/>
              </a:ext>
            </a:extLst>
          </p:cNvPr>
          <p:cNvSpPr/>
          <p:nvPr/>
        </p:nvSpPr>
        <p:spPr>
          <a:xfrm>
            <a:off x="290161" y="1148401"/>
            <a:ext cx="2682240" cy="13511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538FAD">
                <a:alpha val="14000"/>
              </a:srgbClr>
            </a:outerShdw>
          </a:effectLst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C2ABE79-0809-4A08-9248-6549266947E0}"/>
              </a:ext>
            </a:extLst>
          </p:cNvPr>
          <p:cNvSpPr/>
          <p:nvPr/>
        </p:nvSpPr>
        <p:spPr>
          <a:xfrm>
            <a:off x="351121" y="1271285"/>
            <a:ext cx="256032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4400" b="1" dirty="0">
                <a:solidFill>
                  <a:srgbClr val="538FAD"/>
                </a:solidFill>
                <a:latin typeface="Century Gothic" panose="020B0502020202020204" pitchFamily="34" charset="0"/>
              </a:rPr>
              <a:t>108.15</a:t>
            </a:r>
            <a:endParaRPr lang="en-US" sz="4400" b="1" dirty="0">
              <a:solidFill>
                <a:srgbClr val="538FAD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34AF4D1-8156-4DD3-9FCC-85256E66587B}"/>
              </a:ext>
            </a:extLst>
          </p:cNvPr>
          <p:cNvSpPr/>
          <p:nvPr/>
        </p:nvSpPr>
        <p:spPr>
          <a:xfrm>
            <a:off x="351121" y="1816857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538FAD"/>
                </a:solidFill>
                <a:latin typeface="Century Gothic" panose="020B0502020202020204" pitchFamily="34" charset="0"/>
              </a:rPr>
              <a:t>FP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13F65FE-662A-42ED-A87B-843889901700}"/>
              </a:ext>
            </a:extLst>
          </p:cNvPr>
          <p:cNvSpPr/>
          <p:nvPr/>
        </p:nvSpPr>
        <p:spPr>
          <a:xfrm>
            <a:off x="351121" y="2103283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Функциональных точек</a:t>
            </a:r>
            <a:endParaRPr lang="en-US" sz="1333" dirty="0">
              <a:latin typeface="Century Gothic" panose="020B0502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1D003C00-CF8D-4C00-8DE9-02C635FEBC28}"/>
              </a:ext>
            </a:extLst>
          </p:cNvPr>
          <p:cNvSpPr/>
          <p:nvPr/>
        </p:nvSpPr>
        <p:spPr>
          <a:xfrm>
            <a:off x="3216241" y="1148401"/>
            <a:ext cx="2682240" cy="13511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838F">
                <a:alpha val="14000"/>
              </a:srgbClr>
            </a:outerShdw>
          </a:effectLst>
        </p:spPr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F950A07-6367-4C91-A2B0-25B4346D2E12}"/>
              </a:ext>
            </a:extLst>
          </p:cNvPr>
          <p:cNvSpPr/>
          <p:nvPr/>
        </p:nvSpPr>
        <p:spPr>
          <a:xfrm>
            <a:off x="3277201" y="1271285"/>
            <a:ext cx="256032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00838F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66.7</a:t>
            </a:r>
            <a:endParaRPr lang="en-US" sz="4400" dirty="0">
              <a:latin typeface="Century Gothic" panose="020B0502020202020204" pitchFamily="34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3A2D570-76B1-4354-9C5C-C532CAF9569C}"/>
              </a:ext>
            </a:extLst>
          </p:cNvPr>
          <p:cNvSpPr/>
          <p:nvPr/>
        </p:nvSpPr>
        <p:spPr>
          <a:xfrm>
            <a:off x="3277201" y="1816857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00838F"/>
                </a:solidFill>
                <a:latin typeface="Century Gothic" panose="020B0502020202020204" pitchFamily="34" charset="0"/>
              </a:rPr>
              <a:t>FP/чел.-мес.</a:t>
            </a:r>
            <a:endParaRPr lang="en-US" sz="1467" dirty="0">
              <a:latin typeface="Century Gothic" panose="020B0502020202020204" pitchFamily="34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67C8BE2-43F6-423A-90FE-AA6C5C2B8E54}"/>
              </a:ext>
            </a:extLst>
          </p:cNvPr>
          <p:cNvSpPr/>
          <p:nvPr/>
        </p:nvSpPr>
        <p:spPr>
          <a:xfrm>
            <a:off x="3277201" y="2103283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333" dirty="0">
              <a:latin typeface="Century Gothic" panose="020B0502020202020204" pitchFamily="34" charset="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E612B26B-7981-4431-8527-6C0D659A52A6}"/>
              </a:ext>
            </a:extLst>
          </p:cNvPr>
          <p:cNvSpPr/>
          <p:nvPr/>
        </p:nvSpPr>
        <p:spPr>
          <a:xfrm>
            <a:off x="6142321" y="1148401"/>
            <a:ext cx="2682240" cy="1351122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6">
                <a:lumMod val="20000"/>
                <a:lumOff val="80000"/>
              </a:schemeClr>
            </a:solidFill>
            <a:prstDash val="solid"/>
          </a:ln>
          <a:effectLst>
            <a:outerShdw blurRad="101600" dist="38100" dir="8100000" algn="bl" rotWithShape="0">
              <a:srgbClr val="2E7D32">
                <a:alpha val="14000"/>
              </a:srgbClr>
            </a:outerShdw>
          </a:effectLst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5DA7C292-FECA-4858-9DEE-22986F70CC4A}"/>
              </a:ext>
            </a:extLst>
          </p:cNvPr>
          <p:cNvSpPr/>
          <p:nvPr/>
        </p:nvSpPr>
        <p:spPr>
          <a:xfrm>
            <a:off x="6203281" y="1271285"/>
            <a:ext cx="256032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2E7D32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0.</a:t>
            </a:r>
            <a:r>
              <a:rPr lang="ru-RU" sz="4400" b="1" dirty="0">
                <a:solidFill>
                  <a:srgbClr val="2E7D32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1</a:t>
            </a:r>
            <a:r>
              <a:rPr lang="en-US" sz="4400" b="1" dirty="0">
                <a:solidFill>
                  <a:srgbClr val="2E7D32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400" dirty="0">
              <a:latin typeface="Century Gothic" panose="020B0502020202020204" pitchFamily="34" charset="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7D45FF6D-B7C0-4118-9DE7-5E4FACF0E48A}"/>
              </a:ext>
            </a:extLst>
          </p:cNvPr>
          <p:cNvSpPr/>
          <p:nvPr/>
        </p:nvSpPr>
        <p:spPr>
          <a:xfrm>
            <a:off x="6203281" y="1816857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2E7D32"/>
                </a:solidFill>
                <a:latin typeface="Century Gothic" panose="020B0502020202020204" pitchFamily="34" charset="0"/>
              </a:rPr>
              <a:t>ош./FP</a:t>
            </a:r>
            <a:endParaRPr lang="en-US" sz="1467" dirty="0">
              <a:latin typeface="Century Gothic" panose="020B0502020202020204" pitchFamily="34" charset="0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8A29F47A-5F4B-4C57-A624-EC871CB9B88E}"/>
              </a:ext>
            </a:extLst>
          </p:cNvPr>
          <p:cNvSpPr/>
          <p:nvPr/>
        </p:nvSpPr>
        <p:spPr>
          <a:xfrm>
            <a:off x="6203281" y="2103283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Метрика качества</a:t>
            </a:r>
            <a:endParaRPr lang="en-US" sz="1333" dirty="0">
              <a:latin typeface="Century Gothic" panose="020B0502020202020204" pitchFamily="34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959C1955-49FB-4208-923B-9FAF9BD7ABB0}"/>
              </a:ext>
            </a:extLst>
          </p:cNvPr>
          <p:cNvSpPr/>
          <p:nvPr/>
        </p:nvSpPr>
        <p:spPr>
          <a:xfrm>
            <a:off x="9068401" y="1148401"/>
            <a:ext cx="2682240" cy="13511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DED6"/>
            </a:solidFill>
            <a:prstDash val="solid"/>
          </a:ln>
          <a:effectLst>
            <a:outerShdw blurRad="101600" dist="38100" dir="8100000" algn="bl" rotWithShape="0">
              <a:srgbClr val="9F6F4F">
                <a:alpha val="14000"/>
              </a:srgbClr>
            </a:outerShdw>
          </a:effectLst>
        </p:spPr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41A8DF79-3C86-4892-AA61-C3A90B67749C}"/>
              </a:ext>
            </a:extLst>
          </p:cNvPr>
          <p:cNvSpPr/>
          <p:nvPr/>
        </p:nvSpPr>
        <p:spPr>
          <a:xfrm>
            <a:off x="9129361" y="1271285"/>
            <a:ext cx="256032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9F6F4F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270</a:t>
            </a:r>
            <a:endParaRPr lang="en-US" sz="4400" dirty="0">
              <a:solidFill>
                <a:srgbClr val="9F6F4F"/>
              </a:solidFill>
              <a:latin typeface="Century Gothic" panose="020B0502020202020204" pitchFamily="34" charset="0"/>
            </a:endParaRPr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63C019DA-A3AB-4890-BC54-3DF797172720}"/>
              </a:ext>
            </a:extLst>
          </p:cNvPr>
          <p:cNvSpPr/>
          <p:nvPr/>
        </p:nvSpPr>
        <p:spPr>
          <a:xfrm>
            <a:off x="9129361" y="1816857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9F6F4F"/>
                </a:solidFill>
                <a:latin typeface="Century Gothic" panose="020B0502020202020204" pitchFamily="34" charset="0"/>
              </a:rPr>
              <a:t>чел.-час</a:t>
            </a: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0AA8321B-8C0A-4F8C-985B-019B27E9EA52}"/>
              </a:ext>
            </a:extLst>
          </p:cNvPr>
          <p:cNvSpPr/>
          <p:nvPr/>
        </p:nvSpPr>
        <p:spPr>
          <a:xfrm>
            <a:off x="9129361" y="2103283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Всего трудозатрат</a:t>
            </a:r>
            <a:endParaRPr lang="en-US" sz="1333" dirty="0">
              <a:latin typeface="Century Gothic" panose="020B0502020202020204" pitchFamily="34" charset="0"/>
            </a:endParaRPr>
          </a:p>
        </p:txBody>
      </p:sp>
      <p:sp>
        <p:nvSpPr>
          <p:cNvPr id="24" name="Shape 23">
            <a:extLst>
              <a:ext uri="{FF2B5EF4-FFF2-40B4-BE49-F238E27FC236}">
                <a16:creationId xmlns:a16="http://schemas.microsoft.com/office/drawing/2014/main" id="{BF702CCA-9441-4367-97F5-4169F65E2B2A}"/>
              </a:ext>
            </a:extLst>
          </p:cNvPr>
          <p:cNvSpPr/>
          <p:nvPr/>
        </p:nvSpPr>
        <p:spPr>
          <a:xfrm>
            <a:off x="182880" y="-4335042"/>
            <a:ext cx="6461760" cy="3413760"/>
          </a:xfrm>
          <a:prstGeom prst="rect">
            <a:avLst/>
          </a:prstGeom>
          <a:solidFill>
            <a:srgbClr val="F5FA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5" name="Text 24">
            <a:extLst>
              <a:ext uri="{FF2B5EF4-FFF2-40B4-BE49-F238E27FC236}">
                <a16:creationId xmlns:a16="http://schemas.microsoft.com/office/drawing/2014/main" id="{DA8C721C-CCC8-4BC4-938F-B3BF1D17ED52}"/>
              </a:ext>
            </a:extLst>
          </p:cNvPr>
          <p:cNvSpPr/>
          <p:nvPr/>
        </p:nvSpPr>
        <p:spPr>
          <a:xfrm>
            <a:off x="426720" y="-4249698"/>
            <a:ext cx="5852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565C0"/>
                </a:solidFill>
              </a:rPr>
              <a:t>Трудозатраты по этапам</a:t>
            </a:r>
            <a:endParaRPr lang="en-US" sz="1600" dirty="0"/>
          </a:p>
        </p:txBody>
      </p:sp>
      <p:sp>
        <p:nvSpPr>
          <p:cNvPr id="26" name="Text 25">
            <a:extLst>
              <a:ext uri="{FF2B5EF4-FFF2-40B4-BE49-F238E27FC236}">
                <a16:creationId xmlns:a16="http://schemas.microsoft.com/office/drawing/2014/main" id="{9BA22F1E-49E3-4C6F-A771-17E8A787C496}"/>
              </a:ext>
            </a:extLst>
          </p:cNvPr>
          <p:cNvSpPr/>
          <p:nvPr/>
        </p:nvSpPr>
        <p:spPr>
          <a:xfrm>
            <a:off x="365760" y="-374982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B1B36"/>
                </a:solidFill>
              </a:rPr>
              <a:t>Анализ требований</a:t>
            </a:r>
            <a:endParaRPr lang="en-US" sz="1333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50108C55-C3A0-4D23-AFF9-84FBF6C4073A}"/>
              </a:ext>
            </a:extLst>
          </p:cNvPr>
          <p:cNvSpPr/>
          <p:nvPr/>
        </p:nvSpPr>
        <p:spPr>
          <a:xfrm>
            <a:off x="2865120" y="-3688866"/>
            <a:ext cx="1066800" cy="304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259BC630-D9FE-4D7D-8F1F-2C7DBC1D20F4}"/>
              </a:ext>
            </a:extLst>
          </p:cNvPr>
          <p:cNvSpPr/>
          <p:nvPr/>
        </p:nvSpPr>
        <p:spPr>
          <a:xfrm>
            <a:off x="3956304" y="-3701058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</a:rPr>
              <a:t>30 ч</a:t>
            </a:r>
            <a:endParaRPr lang="en-US" sz="1333" dirty="0"/>
          </a:p>
        </p:txBody>
      </p:sp>
      <p:sp>
        <p:nvSpPr>
          <p:cNvPr id="29" name="Text 28">
            <a:extLst>
              <a:ext uri="{FF2B5EF4-FFF2-40B4-BE49-F238E27FC236}">
                <a16:creationId xmlns:a16="http://schemas.microsoft.com/office/drawing/2014/main" id="{3E1F7285-96F7-489D-8CDD-CA9C161F577E}"/>
              </a:ext>
            </a:extLst>
          </p:cNvPr>
          <p:cNvSpPr/>
          <p:nvPr/>
        </p:nvSpPr>
        <p:spPr>
          <a:xfrm>
            <a:off x="365760" y="-320118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B1B36"/>
                </a:solidFill>
              </a:rPr>
              <a:t>Проектирование</a:t>
            </a:r>
            <a:endParaRPr lang="en-US" sz="1333" dirty="0"/>
          </a:p>
        </p:txBody>
      </p:sp>
      <p:sp>
        <p:nvSpPr>
          <p:cNvPr id="30" name="Shape 29">
            <a:extLst>
              <a:ext uri="{FF2B5EF4-FFF2-40B4-BE49-F238E27FC236}">
                <a16:creationId xmlns:a16="http://schemas.microsoft.com/office/drawing/2014/main" id="{FC4CD63E-836D-43D0-B378-7B2C9BFD3516}"/>
              </a:ext>
            </a:extLst>
          </p:cNvPr>
          <p:cNvSpPr/>
          <p:nvPr/>
        </p:nvSpPr>
        <p:spPr>
          <a:xfrm>
            <a:off x="2865120" y="-3140226"/>
            <a:ext cx="1600200" cy="304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Text 30">
            <a:extLst>
              <a:ext uri="{FF2B5EF4-FFF2-40B4-BE49-F238E27FC236}">
                <a16:creationId xmlns:a16="http://schemas.microsoft.com/office/drawing/2014/main" id="{93A57859-B282-421A-BFFD-B712A2728EAD}"/>
              </a:ext>
            </a:extLst>
          </p:cNvPr>
          <p:cNvSpPr/>
          <p:nvPr/>
        </p:nvSpPr>
        <p:spPr>
          <a:xfrm>
            <a:off x="4489704" y="-3152418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</a:rPr>
              <a:t>45 ч</a:t>
            </a:r>
            <a:endParaRPr lang="en-US" sz="1333" dirty="0"/>
          </a:p>
        </p:txBody>
      </p:sp>
      <p:sp>
        <p:nvSpPr>
          <p:cNvPr id="32" name="Text 31">
            <a:extLst>
              <a:ext uri="{FF2B5EF4-FFF2-40B4-BE49-F238E27FC236}">
                <a16:creationId xmlns:a16="http://schemas.microsoft.com/office/drawing/2014/main" id="{08243EA9-57B0-45DB-B21F-EBD17CA72A8A}"/>
              </a:ext>
            </a:extLst>
          </p:cNvPr>
          <p:cNvSpPr/>
          <p:nvPr/>
        </p:nvSpPr>
        <p:spPr>
          <a:xfrm>
            <a:off x="365760" y="-265254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B1B36"/>
                </a:solidFill>
              </a:rPr>
              <a:t>Разработка (код)</a:t>
            </a:r>
            <a:endParaRPr lang="en-US" sz="1333" dirty="0"/>
          </a:p>
        </p:txBody>
      </p:sp>
      <p:sp>
        <p:nvSpPr>
          <p:cNvPr id="33" name="Shape 32">
            <a:extLst>
              <a:ext uri="{FF2B5EF4-FFF2-40B4-BE49-F238E27FC236}">
                <a16:creationId xmlns:a16="http://schemas.microsoft.com/office/drawing/2014/main" id="{C6731A3D-0ED3-451D-B975-9D2E26A0817D}"/>
              </a:ext>
            </a:extLst>
          </p:cNvPr>
          <p:cNvSpPr/>
          <p:nvPr/>
        </p:nvSpPr>
        <p:spPr>
          <a:xfrm>
            <a:off x="2865120" y="-2591586"/>
            <a:ext cx="2218944" cy="304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ru-RU" sz="2400" dirty="0"/>
          </a:p>
        </p:txBody>
      </p:sp>
      <p:sp>
        <p:nvSpPr>
          <p:cNvPr id="34" name="Text 33">
            <a:extLst>
              <a:ext uri="{FF2B5EF4-FFF2-40B4-BE49-F238E27FC236}">
                <a16:creationId xmlns:a16="http://schemas.microsoft.com/office/drawing/2014/main" id="{405BA3E9-B33E-49BD-9740-AD7E75AC1D5E}"/>
              </a:ext>
            </a:extLst>
          </p:cNvPr>
          <p:cNvSpPr/>
          <p:nvPr/>
        </p:nvSpPr>
        <p:spPr>
          <a:xfrm>
            <a:off x="7156704" y="-2603778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</a:rPr>
              <a:t>120 ч</a:t>
            </a:r>
            <a:endParaRPr lang="en-US" sz="1333" dirty="0"/>
          </a:p>
        </p:txBody>
      </p:sp>
      <p:sp>
        <p:nvSpPr>
          <p:cNvPr id="35" name="Text 34">
            <a:extLst>
              <a:ext uri="{FF2B5EF4-FFF2-40B4-BE49-F238E27FC236}">
                <a16:creationId xmlns:a16="http://schemas.microsoft.com/office/drawing/2014/main" id="{A80560A0-D738-412D-AC8E-A9E6EA75EB7A}"/>
              </a:ext>
            </a:extLst>
          </p:cNvPr>
          <p:cNvSpPr/>
          <p:nvPr/>
        </p:nvSpPr>
        <p:spPr>
          <a:xfrm>
            <a:off x="365760" y="-210390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B1B36"/>
                </a:solidFill>
              </a:rPr>
              <a:t>Тестирование</a:t>
            </a:r>
            <a:endParaRPr lang="en-US" sz="1333" dirty="0"/>
          </a:p>
        </p:txBody>
      </p:sp>
      <p:sp>
        <p:nvSpPr>
          <p:cNvPr id="36" name="Shape 35">
            <a:extLst>
              <a:ext uri="{FF2B5EF4-FFF2-40B4-BE49-F238E27FC236}">
                <a16:creationId xmlns:a16="http://schemas.microsoft.com/office/drawing/2014/main" id="{62D7820E-5392-48C0-93AC-2943C3AFB294}"/>
              </a:ext>
            </a:extLst>
          </p:cNvPr>
          <p:cNvSpPr/>
          <p:nvPr/>
        </p:nvSpPr>
        <p:spPr>
          <a:xfrm>
            <a:off x="2865120" y="-2042946"/>
            <a:ext cx="1422400" cy="304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6">
            <a:extLst>
              <a:ext uri="{FF2B5EF4-FFF2-40B4-BE49-F238E27FC236}">
                <a16:creationId xmlns:a16="http://schemas.microsoft.com/office/drawing/2014/main" id="{AE17B366-3CDA-4349-9E8F-9FA216223D01}"/>
              </a:ext>
            </a:extLst>
          </p:cNvPr>
          <p:cNvSpPr/>
          <p:nvPr/>
        </p:nvSpPr>
        <p:spPr>
          <a:xfrm>
            <a:off x="4311904" y="-2055138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</a:rPr>
              <a:t>40 ч</a:t>
            </a:r>
            <a:endParaRPr lang="en-US" sz="1333" dirty="0"/>
          </a:p>
        </p:txBody>
      </p:sp>
      <p:sp>
        <p:nvSpPr>
          <p:cNvPr id="38" name="Text 37">
            <a:extLst>
              <a:ext uri="{FF2B5EF4-FFF2-40B4-BE49-F238E27FC236}">
                <a16:creationId xmlns:a16="http://schemas.microsoft.com/office/drawing/2014/main" id="{71631625-12D2-4A0E-A244-BDE43E1C29EC}"/>
              </a:ext>
            </a:extLst>
          </p:cNvPr>
          <p:cNvSpPr/>
          <p:nvPr/>
        </p:nvSpPr>
        <p:spPr>
          <a:xfrm>
            <a:off x="365760" y="-1555266"/>
            <a:ext cx="2438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0B1B36"/>
                </a:solidFill>
              </a:rPr>
              <a:t>Документация</a:t>
            </a:r>
            <a:endParaRPr lang="en-US" sz="1333" dirty="0"/>
          </a:p>
        </p:txBody>
      </p:sp>
      <p:sp>
        <p:nvSpPr>
          <p:cNvPr id="39" name="Shape 38">
            <a:extLst>
              <a:ext uri="{FF2B5EF4-FFF2-40B4-BE49-F238E27FC236}">
                <a16:creationId xmlns:a16="http://schemas.microsoft.com/office/drawing/2014/main" id="{3F1F5346-34B6-40BF-A42D-934D42B86060}"/>
              </a:ext>
            </a:extLst>
          </p:cNvPr>
          <p:cNvSpPr/>
          <p:nvPr/>
        </p:nvSpPr>
        <p:spPr>
          <a:xfrm>
            <a:off x="2865120" y="-1494306"/>
            <a:ext cx="1244600" cy="304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9">
            <a:extLst>
              <a:ext uri="{FF2B5EF4-FFF2-40B4-BE49-F238E27FC236}">
                <a16:creationId xmlns:a16="http://schemas.microsoft.com/office/drawing/2014/main" id="{53EF3D08-C2D0-4183-AC89-5A6937447A70}"/>
              </a:ext>
            </a:extLst>
          </p:cNvPr>
          <p:cNvSpPr/>
          <p:nvPr/>
        </p:nvSpPr>
        <p:spPr>
          <a:xfrm>
            <a:off x="4134104" y="-1506498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</a:rPr>
              <a:t>35 ч</a:t>
            </a:r>
            <a:endParaRPr lang="en-US" sz="1333" dirty="0"/>
          </a:p>
        </p:txBody>
      </p:sp>
      <p:sp>
        <p:nvSpPr>
          <p:cNvPr id="41" name="Shape 40">
            <a:extLst>
              <a:ext uri="{FF2B5EF4-FFF2-40B4-BE49-F238E27FC236}">
                <a16:creationId xmlns:a16="http://schemas.microsoft.com/office/drawing/2014/main" id="{0E0D58BF-54E3-48B6-AA6E-20825841BD2B}"/>
              </a:ext>
            </a:extLst>
          </p:cNvPr>
          <p:cNvSpPr/>
          <p:nvPr/>
        </p:nvSpPr>
        <p:spPr>
          <a:xfrm>
            <a:off x="6949440" y="-4335042"/>
            <a:ext cx="4693920" cy="341376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2" name="Text 41">
            <a:extLst>
              <a:ext uri="{FF2B5EF4-FFF2-40B4-BE49-F238E27FC236}">
                <a16:creationId xmlns:a16="http://schemas.microsoft.com/office/drawing/2014/main" id="{3671DF70-75F2-4E71-94D9-4DBC563E172D}"/>
              </a:ext>
            </a:extLst>
          </p:cNvPr>
          <p:cNvSpPr/>
          <p:nvPr/>
        </p:nvSpPr>
        <p:spPr>
          <a:xfrm>
            <a:off x="7132320" y="-4249698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565C0"/>
                </a:solidFill>
              </a:rPr>
              <a:t>Составляющие FP (до корректировки = 105)</a:t>
            </a:r>
            <a:endParaRPr lang="en-US" sz="1467" dirty="0"/>
          </a:p>
        </p:txBody>
      </p:sp>
      <p:sp>
        <p:nvSpPr>
          <p:cNvPr id="43" name="Text 42">
            <a:extLst>
              <a:ext uri="{FF2B5EF4-FFF2-40B4-BE49-F238E27FC236}">
                <a16:creationId xmlns:a16="http://schemas.microsoft.com/office/drawing/2014/main" id="{4AEAAD74-51D6-4928-99BB-8F4D9032D804}"/>
              </a:ext>
            </a:extLst>
          </p:cNvPr>
          <p:cNvSpPr/>
          <p:nvPr/>
        </p:nvSpPr>
        <p:spPr>
          <a:xfrm>
            <a:off x="7132320" y="-3749826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46E7A"/>
                </a:solidFill>
              </a:rPr>
              <a:t>Вводы (×3)</a:t>
            </a:r>
            <a:endParaRPr lang="en-US" sz="1333" dirty="0"/>
          </a:p>
        </p:txBody>
      </p:sp>
      <p:sp>
        <p:nvSpPr>
          <p:cNvPr id="44" name="Text 43">
            <a:extLst>
              <a:ext uri="{FF2B5EF4-FFF2-40B4-BE49-F238E27FC236}">
                <a16:creationId xmlns:a16="http://schemas.microsoft.com/office/drawing/2014/main" id="{9C1F4B07-AA8A-4E91-B9BF-EE4971903218}"/>
              </a:ext>
            </a:extLst>
          </p:cNvPr>
          <p:cNvSpPr/>
          <p:nvPr/>
        </p:nvSpPr>
        <p:spPr>
          <a:xfrm>
            <a:off x="10911840" y="-3749826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1565C0"/>
                </a:solidFill>
              </a:rPr>
              <a:t>15</a:t>
            </a:r>
            <a:endParaRPr lang="en-US" sz="1467" dirty="0"/>
          </a:p>
        </p:txBody>
      </p:sp>
      <p:sp>
        <p:nvSpPr>
          <p:cNvPr id="45" name="Shape 44">
            <a:extLst>
              <a:ext uri="{FF2B5EF4-FFF2-40B4-BE49-F238E27FC236}">
                <a16:creationId xmlns:a16="http://schemas.microsoft.com/office/drawing/2014/main" id="{4154FA48-3518-47AE-8390-69798306CFEF}"/>
              </a:ext>
            </a:extLst>
          </p:cNvPr>
          <p:cNvSpPr/>
          <p:nvPr/>
        </p:nvSpPr>
        <p:spPr>
          <a:xfrm>
            <a:off x="9753600" y="-3640098"/>
            <a:ext cx="365760" cy="170688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46" name="Text 45">
            <a:extLst>
              <a:ext uri="{FF2B5EF4-FFF2-40B4-BE49-F238E27FC236}">
                <a16:creationId xmlns:a16="http://schemas.microsoft.com/office/drawing/2014/main" id="{35BC8378-77E8-4396-B517-B684DC19E251}"/>
              </a:ext>
            </a:extLst>
          </p:cNvPr>
          <p:cNvSpPr/>
          <p:nvPr/>
        </p:nvSpPr>
        <p:spPr>
          <a:xfrm>
            <a:off x="7132320" y="-3262146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46E7A"/>
                </a:solidFill>
              </a:rPr>
              <a:t>Выводы (×4)</a:t>
            </a:r>
            <a:endParaRPr lang="en-US" sz="1333" dirty="0"/>
          </a:p>
        </p:txBody>
      </p:sp>
      <p:sp>
        <p:nvSpPr>
          <p:cNvPr id="47" name="Text 46">
            <a:extLst>
              <a:ext uri="{FF2B5EF4-FFF2-40B4-BE49-F238E27FC236}">
                <a16:creationId xmlns:a16="http://schemas.microsoft.com/office/drawing/2014/main" id="{A5B1FD11-2056-4B6A-A5AB-6ADBBF1E59A0}"/>
              </a:ext>
            </a:extLst>
          </p:cNvPr>
          <p:cNvSpPr/>
          <p:nvPr/>
        </p:nvSpPr>
        <p:spPr>
          <a:xfrm>
            <a:off x="10911840" y="-3262146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1565C0"/>
                </a:solidFill>
              </a:rPr>
              <a:t>40</a:t>
            </a:r>
            <a:endParaRPr lang="en-US" sz="1467" dirty="0"/>
          </a:p>
        </p:txBody>
      </p:sp>
      <p:sp>
        <p:nvSpPr>
          <p:cNvPr id="48" name="Shape 47">
            <a:extLst>
              <a:ext uri="{FF2B5EF4-FFF2-40B4-BE49-F238E27FC236}">
                <a16:creationId xmlns:a16="http://schemas.microsoft.com/office/drawing/2014/main" id="{12EE0792-89E2-4B95-8668-1CBF63851DD9}"/>
              </a:ext>
            </a:extLst>
          </p:cNvPr>
          <p:cNvSpPr/>
          <p:nvPr/>
        </p:nvSpPr>
        <p:spPr>
          <a:xfrm>
            <a:off x="9753600" y="-3152418"/>
            <a:ext cx="975360" cy="170688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49" name="Text 48">
            <a:extLst>
              <a:ext uri="{FF2B5EF4-FFF2-40B4-BE49-F238E27FC236}">
                <a16:creationId xmlns:a16="http://schemas.microsoft.com/office/drawing/2014/main" id="{12E4D49D-B509-4C58-A921-E7708F8893DD}"/>
              </a:ext>
            </a:extLst>
          </p:cNvPr>
          <p:cNvSpPr/>
          <p:nvPr/>
        </p:nvSpPr>
        <p:spPr>
          <a:xfrm>
            <a:off x="7132320" y="-2774466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46E7A"/>
                </a:solidFill>
              </a:rPr>
              <a:t>Запросы (×3)</a:t>
            </a:r>
            <a:endParaRPr lang="en-US" sz="1333" dirty="0"/>
          </a:p>
        </p:txBody>
      </p:sp>
      <p:sp>
        <p:nvSpPr>
          <p:cNvPr id="50" name="Text 49">
            <a:extLst>
              <a:ext uri="{FF2B5EF4-FFF2-40B4-BE49-F238E27FC236}">
                <a16:creationId xmlns:a16="http://schemas.microsoft.com/office/drawing/2014/main" id="{025D1103-3333-4FFB-B002-48754078B225}"/>
              </a:ext>
            </a:extLst>
          </p:cNvPr>
          <p:cNvSpPr/>
          <p:nvPr/>
        </p:nvSpPr>
        <p:spPr>
          <a:xfrm>
            <a:off x="10911840" y="-2774466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1565C0"/>
                </a:solidFill>
              </a:rPr>
              <a:t>6</a:t>
            </a:r>
            <a:endParaRPr lang="en-US" sz="1467" dirty="0"/>
          </a:p>
        </p:txBody>
      </p:sp>
      <p:sp>
        <p:nvSpPr>
          <p:cNvPr id="51" name="Shape 50">
            <a:extLst>
              <a:ext uri="{FF2B5EF4-FFF2-40B4-BE49-F238E27FC236}">
                <a16:creationId xmlns:a16="http://schemas.microsoft.com/office/drawing/2014/main" id="{7F2176D9-6CE5-406D-BCAA-BD1D638F474B}"/>
              </a:ext>
            </a:extLst>
          </p:cNvPr>
          <p:cNvSpPr/>
          <p:nvPr/>
        </p:nvSpPr>
        <p:spPr>
          <a:xfrm>
            <a:off x="9753600" y="-2664738"/>
            <a:ext cx="146304" cy="170688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2" name="Text 51">
            <a:extLst>
              <a:ext uri="{FF2B5EF4-FFF2-40B4-BE49-F238E27FC236}">
                <a16:creationId xmlns:a16="http://schemas.microsoft.com/office/drawing/2014/main" id="{A0BF5A82-4FFC-4002-B56A-17613AA5D056}"/>
              </a:ext>
            </a:extLst>
          </p:cNvPr>
          <p:cNvSpPr/>
          <p:nvPr/>
        </p:nvSpPr>
        <p:spPr>
          <a:xfrm>
            <a:off x="7132320" y="-2286786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46E7A"/>
                </a:solidFill>
              </a:rPr>
              <a:t>Лог. файлы (×7)</a:t>
            </a:r>
            <a:endParaRPr lang="en-US" sz="1333" dirty="0"/>
          </a:p>
        </p:txBody>
      </p:sp>
      <p:sp>
        <p:nvSpPr>
          <p:cNvPr id="53" name="Text 52">
            <a:extLst>
              <a:ext uri="{FF2B5EF4-FFF2-40B4-BE49-F238E27FC236}">
                <a16:creationId xmlns:a16="http://schemas.microsoft.com/office/drawing/2014/main" id="{00E7DB4A-D8E1-4AF8-8674-8BC3B1200AF8}"/>
              </a:ext>
            </a:extLst>
          </p:cNvPr>
          <p:cNvSpPr/>
          <p:nvPr/>
        </p:nvSpPr>
        <p:spPr>
          <a:xfrm>
            <a:off x="10911840" y="-2286786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1565C0"/>
                </a:solidFill>
              </a:rPr>
              <a:t>21</a:t>
            </a:r>
            <a:endParaRPr lang="en-US" sz="1467" dirty="0"/>
          </a:p>
        </p:txBody>
      </p:sp>
      <p:sp>
        <p:nvSpPr>
          <p:cNvPr id="54" name="Shape 53">
            <a:extLst>
              <a:ext uri="{FF2B5EF4-FFF2-40B4-BE49-F238E27FC236}">
                <a16:creationId xmlns:a16="http://schemas.microsoft.com/office/drawing/2014/main" id="{5C7BD2AB-6080-4246-828C-06CC111698C3}"/>
              </a:ext>
            </a:extLst>
          </p:cNvPr>
          <p:cNvSpPr/>
          <p:nvPr/>
        </p:nvSpPr>
        <p:spPr>
          <a:xfrm>
            <a:off x="9753600" y="-2177058"/>
            <a:ext cx="512064" cy="170688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5" name="Text 54">
            <a:extLst>
              <a:ext uri="{FF2B5EF4-FFF2-40B4-BE49-F238E27FC236}">
                <a16:creationId xmlns:a16="http://schemas.microsoft.com/office/drawing/2014/main" id="{C66649F4-914E-42EE-BCCD-1236A8A1206C}"/>
              </a:ext>
            </a:extLst>
          </p:cNvPr>
          <p:cNvSpPr/>
          <p:nvPr/>
        </p:nvSpPr>
        <p:spPr>
          <a:xfrm>
            <a:off x="7132320" y="-1799106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46E7A"/>
                </a:solidFill>
              </a:rPr>
              <a:t>Интерф. файлы (×5)</a:t>
            </a:r>
            <a:endParaRPr lang="en-US" sz="1333" dirty="0"/>
          </a:p>
        </p:txBody>
      </p:sp>
      <p:sp>
        <p:nvSpPr>
          <p:cNvPr id="56" name="Text 55">
            <a:extLst>
              <a:ext uri="{FF2B5EF4-FFF2-40B4-BE49-F238E27FC236}">
                <a16:creationId xmlns:a16="http://schemas.microsoft.com/office/drawing/2014/main" id="{DB20ECBE-C4A1-4734-AA9E-688DEA53159B}"/>
              </a:ext>
            </a:extLst>
          </p:cNvPr>
          <p:cNvSpPr/>
          <p:nvPr/>
        </p:nvSpPr>
        <p:spPr>
          <a:xfrm>
            <a:off x="10911840" y="-1799106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1565C0"/>
                </a:solidFill>
              </a:rPr>
              <a:t>5</a:t>
            </a:r>
            <a:endParaRPr lang="en-US" sz="1467" dirty="0"/>
          </a:p>
        </p:txBody>
      </p:sp>
      <p:sp>
        <p:nvSpPr>
          <p:cNvPr id="57" name="Shape 56">
            <a:extLst>
              <a:ext uri="{FF2B5EF4-FFF2-40B4-BE49-F238E27FC236}">
                <a16:creationId xmlns:a16="http://schemas.microsoft.com/office/drawing/2014/main" id="{D38D9F01-B555-48A9-A434-D56CEDB9BD2C}"/>
              </a:ext>
            </a:extLst>
          </p:cNvPr>
          <p:cNvSpPr/>
          <p:nvPr/>
        </p:nvSpPr>
        <p:spPr>
          <a:xfrm>
            <a:off x="9753600" y="-1689378"/>
            <a:ext cx="121920" cy="170688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58" name="Text 57">
            <a:extLst>
              <a:ext uri="{FF2B5EF4-FFF2-40B4-BE49-F238E27FC236}">
                <a16:creationId xmlns:a16="http://schemas.microsoft.com/office/drawing/2014/main" id="{3A50F4D7-C4E7-44B6-95E7-8446871F270D}"/>
              </a:ext>
            </a:extLst>
          </p:cNvPr>
          <p:cNvSpPr/>
          <p:nvPr/>
        </p:nvSpPr>
        <p:spPr>
          <a:xfrm>
            <a:off x="7132320" y="-1311426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546E7A"/>
                </a:solidFill>
              </a:rPr>
              <a:t>Алгоритмы (×1)</a:t>
            </a:r>
            <a:endParaRPr lang="en-US" sz="1333" dirty="0"/>
          </a:p>
        </p:txBody>
      </p:sp>
      <p:sp>
        <p:nvSpPr>
          <p:cNvPr id="59" name="Text 58">
            <a:extLst>
              <a:ext uri="{FF2B5EF4-FFF2-40B4-BE49-F238E27FC236}">
                <a16:creationId xmlns:a16="http://schemas.microsoft.com/office/drawing/2014/main" id="{666B9210-9499-4716-B0D8-DCFE9EC51CEF}"/>
              </a:ext>
            </a:extLst>
          </p:cNvPr>
          <p:cNvSpPr/>
          <p:nvPr/>
        </p:nvSpPr>
        <p:spPr>
          <a:xfrm>
            <a:off x="10911840" y="-1311426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1565C0"/>
                </a:solidFill>
              </a:rPr>
              <a:t>18</a:t>
            </a:r>
            <a:endParaRPr lang="en-US" sz="1467" dirty="0"/>
          </a:p>
        </p:txBody>
      </p:sp>
      <p:sp>
        <p:nvSpPr>
          <p:cNvPr id="60" name="Shape 59">
            <a:extLst>
              <a:ext uri="{FF2B5EF4-FFF2-40B4-BE49-F238E27FC236}">
                <a16:creationId xmlns:a16="http://schemas.microsoft.com/office/drawing/2014/main" id="{01B713A5-F050-4E27-AF76-E89E20530414}"/>
              </a:ext>
            </a:extLst>
          </p:cNvPr>
          <p:cNvSpPr/>
          <p:nvPr/>
        </p:nvSpPr>
        <p:spPr>
          <a:xfrm>
            <a:off x="9753600" y="-1201698"/>
            <a:ext cx="438912" cy="170688"/>
          </a:xfrm>
          <a:prstGeom prst="rect">
            <a:avLst/>
          </a:prstGeom>
          <a:solidFill>
            <a:srgbClr val="00B8D4"/>
          </a:solidFill>
          <a:ln w="12700">
            <a:solidFill>
              <a:srgbClr val="00B8D4"/>
            </a:solidFill>
            <a:prstDash val="solid"/>
          </a:ln>
        </p:spPr>
      </p:sp>
      <p:sp>
        <p:nvSpPr>
          <p:cNvPr id="61" name="Shape 60">
            <a:extLst>
              <a:ext uri="{FF2B5EF4-FFF2-40B4-BE49-F238E27FC236}">
                <a16:creationId xmlns:a16="http://schemas.microsoft.com/office/drawing/2014/main" id="{0F8B7EDE-4A20-4162-8F4A-DD8B8E977314}"/>
              </a:ext>
            </a:extLst>
          </p:cNvPr>
          <p:cNvSpPr/>
          <p:nvPr/>
        </p:nvSpPr>
        <p:spPr>
          <a:xfrm>
            <a:off x="182880" y="-835938"/>
            <a:ext cx="11460480" cy="609600"/>
          </a:xfrm>
          <a:prstGeom prst="rect">
            <a:avLst/>
          </a:prstGeom>
          <a:solidFill>
            <a:srgbClr val="0B1B36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2" name="Text 61">
            <a:extLst>
              <a:ext uri="{FF2B5EF4-FFF2-40B4-BE49-F238E27FC236}">
                <a16:creationId xmlns:a16="http://schemas.microsoft.com/office/drawing/2014/main" id="{44CBBAB2-BBE1-4891-B30D-75F830AE5D80}"/>
              </a:ext>
            </a:extLst>
          </p:cNvPr>
          <p:cNvSpPr/>
          <p:nvPr/>
        </p:nvSpPr>
        <p:spPr>
          <a:xfrm>
            <a:off x="426720" y="-787170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0CA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 = 105 × VA(0.95) = 100 · VA = 0.65 + 0.01 × ΣFi(30) = 0.95 · Производительность = 100 FP / 1.5 чел.-мес. = 66.67</a:t>
            </a:r>
            <a:endParaRPr lang="en-US" sz="1333" dirty="0"/>
          </a:p>
        </p:txBody>
      </p:sp>
      <p:sp>
        <p:nvSpPr>
          <p:cNvPr id="66" name="Text 33">
            <a:extLst>
              <a:ext uri="{FF2B5EF4-FFF2-40B4-BE49-F238E27FC236}">
                <a16:creationId xmlns:a16="http://schemas.microsoft.com/office/drawing/2014/main" id="{1FD12029-710D-4767-A903-94523D9B2B2D}"/>
              </a:ext>
            </a:extLst>
          </p:cNvPr>
          <p:cNvSpPr/>
          <p:nvPr/>
        </p:nvSpPr>
        <p:spPr>
          <a:xfrm>
            <a:off x="5181600" y="-2628162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565C0"/>
                </a:solidFill>
              </a:rPr>
              <a:t>120 ч</a:t>
            </a:r>
            <a:endParaRPr lang="en-US" sz="1333" dirty="0"/>
          </a:p>
        </p:txBody>
      </p:sp>
      <p:sp>
        <p:nvSpPr>
          <p:cNvPr id="67" name="Shape 3">
            <a:extLst>
              <a:ext uri="{FF2B5EF4-FFF2-40B4-BE49-F238E27FC236}">
                <a16:creationId xmlns:a16="http://schemas.microsoft.com/office/drawing/2014/main" id="{1210A274-8700-477D-B204-51037E25C1BB}"/>
              </a:ext>
            </a:extLst>
          </p:cNvPr>
          <p:cNvSpPr/>
          <p:nvPr/>
        </p:nvSpPr>
        <p:spPr>
          <a:xfrm>
            <a:off x="-4072128" y="-1689378"/>
            <a:ext cx="3535680" cy="1950720"/>
          </a:xfrm>
          <a:prstGeom prst="roundRect">
            <a:avLst/>
          </a:prstGeom>
          <a:solidFill>
            <a:srgbClr val="FFFFFF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8" name="Text 5">
            <a:extLst>
              <a:ext uri="{FF2B5EF4-FFF2-40B4-BE49-F238E27FC236}">
                <a16:creationId xmlns:a16="http://schemas.microsoft.com/office/drawing/2014/main" id="{12AAD211-F498-44C2-B270-D69A1BBB48F9}"/>
              </a:ext>
            </a:extLst>
          </p:cNvPr>
          <p:cNvSpPr/>
          <p:nvPr/>
        </p:nvSpPr>
        <p:spPr>
          <a:xfrm>
            <a:off x="-3121152" y="-1469922"/>
            <a:ext cx="2438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F4157"/>
                </a:solidFill>
                <a:latin typeface="Century Gothic" panose="020B0502020202020204" pitchFamily="34" charset="0"/>
              </a:rPr>
              <a:t>Публикации</a:t>
            </a:r>
            <a:endParaRPr lang="en-US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69" name="Text 6">
            <a:extLst>
              <a:ext uri="{FF2B5EF4-FFF2-40B4-BE49-F238E27FC236}">
                <a16:creationId xmlns:a16="http://schemas.microsoft.com/office/drawing/2014/main" id="{79996921-A4FB-40A6-8E2E-F14DC7C7B216}"/>
              </a:ext>
            </a:extLst>
          </p:cNvPr>
          <p:cNvSpPr/>
          <p:nvPr/>
        </p:nvSpPr>
        <p:spPr>
          <a:xfrm>
            <a:off x="-3828288" y="-835938"/>
            <a:ext cx="316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Список статей, фильтр, </a:t>
            </a:r>
            <a:r>
              <a:rPr lang="en-US" sz="1400" dirty="0" err="1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поиск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pic>
        <p:nvPicPr>
          <p:cNvPr id="70" name="Рисунок 69" descr="Книги со сплошной заливкой">
            <a:extLst>
              <a:ext uri="{FF2B5EF4-FFF2-40B4-BE49-F238E27FC236}">
                <a16:creationId xmlns:a16="http://schemas.microsoft.com/office/drawing/2014/main" id="{17CC5065-7CFB-4655-AF0A-26DFF6D54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875612" y="-1520081"/>
            <a:ext cx="735640" cy="735640"/>
          </a:xfrm>
          <a:prstGeom prst="rect">
            <a:avLst/>
          </a:prstGeom>
        </p:spPr>
      </p:pic>
      <p:sp>
        <p:nvSpPr>
          <p:cNvPr id="71" name="Shape 23">
            <a:extLst>
              <a:ext uri="{FF2B5EF4-FFF2-40B4-BE49-F238E27FC236}">
                <a16:creationId xmlns:a16="http://schemas.microsoft.com/office/drawing/2014/main" id="{F03D2848-AA85-4567-87F7-CE27BAA5127B}"/>
              </a:ext>
            </a:extLst>
          </p:cNvPr>
          <p:cNvSpPr/>
          <p:nvPr/>
        </p:nvSpPr>
        <p:spPr>
          <a:xfrm>
            <a:off x="534001" y="2687550"/>
            <a:ext cx="6461760" cy="3413760"/>
          </a:xfrm>
          <a:prstGeom prst="roundRect">
            <a:avLst>
              <a:gd name="adj" fmla="val 8530"/>
            </a:avLst>
          </a:prstGeom>
          <a:solidFill>
            <a:srgbClr val="C7D9E5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2" name="Text 24">
            <a:extLst>
              <a:ext uri="{FF2B5EF4-FFF2-40B4-BE49-F238E27FC236}">
                <a16:creationId xmlns:a16="http://schemas.microsoft.com/office/drawing/2014/main" id="{01004970-C613-4CC9-B50A-82E8A58D148D}"/>
              </a:ext>
            </a:extLst>
          </p:cNvPr>
          <p:cNvSpPr/>
          <p:nvPr/>
        </p:nvSpPr>
        <p:spPr>
          <a:xfrm>
            <a:off x="777841" y="2772894"/>
            <a:ext cx="58521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577C8E"/>
                </a:solidFill>
                <a:latin typeface="Century Gothic" panose="020B0502020202020204" pitchFamily="34" charset="0"/>
              </a:rPr>
              <a:t>Трудозатраты по этапам</a:t>
            </a:r>
            <a:endParaRPr lang="en-US" sz="1600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73" name="Text 25">
            <a:extLst>
              <a:ext uri="{FF2B5EF4-FFF2-40B4-BE49-F238E27FC236}">
                <a16:creationId xmlns:a16="http://schemas.microsoft.com/office/drawing/2014/main" id="{71E6BD5E-5CF2-4E0E-A4FA-D9A000737775}"/>
              </a:ext>
            </a:extLst>
          </p:cNvPr>
          <p:cNvSpPr/>
          <p:nvPr/>
        </p:nvSpPr>
        <p:spPr>
          <a:xfrm>
            <a:off x="716881" y="3178187"/>
            <a:ext cx="20872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Анализ требований</a:t>
            </a:r>
          </a:p>
        </p:txBody>
      </p:sp>
      <p:sp>
        <p:nvSpPr>
          <p:cNvPr id="74" name="Shape 26">
            <a:extLst>
              <a:ext uri="{FF2B5EF4-FFF2-40B4-BE49-F238E27FC236}">
                <a16:creationId xmlns:a16="http://schemas.microsoft.com/office/drawing/2014/main" id="{A33D5F01-BBC7-469D-BECF-0A63A9A9471D}"/>
              </a:ext>
            </a:extLst>
          </p:cNvPr>
          <p:cNvSpPr/>
          <p:nvPr/>
        </p:nvSpPr>
        <p:spPr>
          <a:xfrm>
            <a:off x="3216241" y="3239147"/>
            <a:ext cx="1066800" cy="304800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75" name="Text 27">
            <a:extLst>
              <a:ext uri="{FF2B5EF4-FFF2-40B4-BE49-F238E27FC236}">
                <a16:creationId xmlns:a16="http://schemas.microsoft.com/office/drawing/2014/main" id="{34F62C56-A4DC-4CB9-9D48-581F645DA6DD}"/>
              </a:ext>
            </a:extLst>
          </p:cNvPr>
          <p:cNvSpPr/>
          <p:nvPr/>
        </p:nvSpPr>
        <p:spPr>
          <a:xfrm>
            <a:off x="4307425" y="3226955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577C8E"/>
                </a:solidFill>
                <a:latin typeface="Century Gothic" panose="020B0502020202020204" pitchFamily="34" charset="0"/>
              </a:rPr>
              <a:t>30 ч</a:t>
            </a:r>
            <a:endParaRPr lang="en-US" sz="1333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76" name="Text 28">
            <a:extLst>
              <a:ext uri="{FF2B5EF4-FFF2-40B4-BE49-F238E27FC236}">
                <a16:creationId xmlns:a16="http://schemas.microsoft.com/office/drawing/2014/main" id="{E3B541CB-6431-44A8-AFDA-C9EE1A5479C8}"/>
              </a:ext>
            </a:extLst>
          </p:cNvPr>
          <p:cNvSpPr/>
          <p:nvPr/>
        </p:nvSpPr>
        <p:spPr>
          <a:xfrm>
            <a:off x="716881" y="3726827"/>
            <a:ext cx="20872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Проектирование</a:t>
            </a:r>
          </a:p>
        </p:txBody>
      </p:sp>
      <p:sp>
        <p:nvSpPr>
          <p:cNvPr id="77" name="Shape 29">
            <a:extLst>
              <a:ext uri="{FF2B5EF4-FFF2-40B4-BE49-F238E27FC236}">
                <a16:creationId xmlns:a16="http://schemas.microsoft.com/office/drawing/2014/main" id="{36B15BED-BCB2-4917-9543-4E9A77885F04}"/>
              </a:ext>
            </a:extLst>
          </p:cNvPr>
          <p:cNvSpPr/>
          <p:nvPr/>
        </p:nvSpPr>
        <p:spPr>
          <a:xfrm>
            <a:off x="3216241" y="3787787"/>
            <a:ext cx="1600200" cy="304800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78" name="Text 30">
            <a:extLst>
              <a:ext uri="{FF2B5EF4-FFF2-40B4-BE49-F238E27FC236}">
                <a16:creationId xmlns:a16="http://schemas.microsoft.com/office/drawing/2014/main" id="{BADBFD61-BBDF-4E41-8492-FA594EF685F6}"/>
              </a:ext>
            </a:extLst>
          </p:cNvPr>
          <p:cNvSpPr/>
          <p:nvPr/>
        </p:nvSpPr>
        <p:spPr>
          <a:xfrm>
            <a:off x="4840825" y="3775595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577C8E"/>
                </a:solidFill>
                <a:latin typeface="Century Gothic" panose="020B0502020202020204" pitchFamily="34" charset="0"/>
              </a:rPr>
              <a:t>45 ч</a:t>
            </a:r>
            <a:endParaRPr lang="en-US" sz="1333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79" name="Text 31">
            <a:extLst>
              <a:ext uri="{FF2B5EF4-FFF2-40B4-BE49-F238E27FC236}">
                <a16:creationId xmlns:a16="http://schemas.microsoft.com/office/drawing/2014/main" id="{B60CF1CC-CF30-48E1-8A27-01ABF95051D7}"/>
              </a:ext>
            </a:extLst>
          </p:cNvPr>
          <p:cNvSpPr/>
          <p:nvPr/>
        </p:nvSpPr>
        <p:spPr>
          <a:xfrm>
            <a:off x="716881" y="4275467"/>
            <a:ext cx="20872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Разработка (код)</a:t>
            </a:r>
          </a:p>
        </p:txBody>
      </p:sp>
      <p:sp>
        <p:nvSpPr>
          <p:cNvPr id="80" name="Shape 32">
            <a:extLst>
              <a:ext uri="{FF2B5EF4-FFF2-40B4-BE49-F238E27FC236}">
                <a16:creationId xmlns:a16="http://schemas.microsoft.com/office/drawing/2014/main" id="{8D56FBFD-DFBC-4C0A-A61E-6D1D171A4A7B}"/>
              </a:ext>
            </a:extLst>
          </p:cNvPr>
          <p:cNvSpPr/>
          <p:nvPr/>
        </p:nvSpPr>
        <p:spPr>
          <a:xfrm>
            <a:off x="3216241" y="4336427"/>
            <a:ext cx="2218944" cy="304800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  <p:txBody>
          <a:bodyPr/>
          <a:lstStyle/>
          <a:p>
            <a:endParaRPr lang="ru-RU" sz="2400" dirty="0">
              <a:latin typeface="Century Gothic" panose="020B0502020202020204" pitchFamily="34" charset="0"/>
            </a:endParaRPr>
          </a:p>
        </p:txBody>
      </p:sp>
      <p:sp>
        <p:nvSpPr>
          <p:cNvPr id="82" name="Text 34">
            <a:extLst>
              <a:ext uri="{FF2B5EF4-FFF2-40B4-BE49-F238E27FC236}">
                <a16:creationId xmlns:a16="http://schemas.microsoft.com/office/drawing/2014/main" id="{00E7E507-4129-483B-9D1A-6922CB2D486A}"/>
              </a:ext>
            </a:extLst>
          </p:cNvPr>
          <p:cNvSpPr/>
          <p:nvPr/>
        </p:nvSpPr>
        <p:spPr>
          <a:xfrm>
            <a:off x="716881" y="4824107"/>
            <a:ext cx="20872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Тестирование</a:t>
            </a:r>
          </a:p>
        </p:txBody>
      </p:sp>
      <p:sp>
        <p:nvSpPr>
          <p:cNvPr id="83" name="Shape 35">
            <a:extLst>
              <a:ext uri="{FF2B5EF4-FFF2-40B4-BE49-F238E27FC236}">
                <a16:creationId xmlns:a16="http://schemas.microsoft.com/office/drawing/2014/main" id="{9F1BEFBC-D95F-45B6-8836-8B309332448A}"/>
              </a:ext>
            </a:extLst>
          </p:cNvPr>
          <p:cNvSpPr/>
          <p:nvPr/>
        </p:nvSpPr>
        <p:spPr>
          <a:xfrm>
            <a:off x="3216241" y="4885067"/>
            <a:ext cx="1422400" cy="304800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84" name="Text 36">
            <a:extLst>
              <a:ext uri="{FF2B5EF4-FFF2-40B4-BE49-F238E27FC236}">
                <a16:creationId xmlns:a16="http://schemas.microsoft.com/office/drawing/2014/main" id="{E735E84A-385C-4F41-849B-52C9EC5715D4}"/>
              </a:ext>
            </a:extLst>
          </p:cNvPr>
          <p:cNvSpPr/>
          <p:nvPr/>
        </p:nvSpPr>
        <p:spPr>
          <a:xfrm>
            <a:off x="4663025" y="4872875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577C8E"/>
                </a:solidFill>
                <a:latin typeface="Century Gothic" panose="020B0502020202020204" pitchFamily="34" charset="0"/>
              </a:rPr>
              <a:t>40 ч</a:t>
            </a:r>
            <a:endParaRPr lang="en-US" sz="1333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85" name="Text 37">
            <a:extLst>
              <a:ext uri="{FF2B5EF4-FFF2-40B4-BE49-F238E27FC236}">
                <a16:creationId xmlns:a16="http://schemas.microsoft.com/office/drawing/2014/main" id="{CA5D4CE4-BDA4-4F41-BC9B-E141CB243500}"/>
              </a:ext>
            </a:extLst>
          </p:cNvPr>
          <p:cNvSpPr/>
          <p:nvPr/>
        </p:nvSpPr>
        <p:spPr>
          <a:xfrm>
            <a:off x="716881" y="5372747"/>
            <a:ext cx="2087279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FFF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Документация</a:t>
            </a:r>
          </a:p>
        </p:txBody>
      </p:sp>
      <p:sp>
        <p:nvSpPr>
          <p:cNvPr id="86" name="Shape 38">
            <a:extLst>
              <a:ext uri="{FF2B5EF4-FFF2-40B4-BE49-F238E27FC236}">
                <a16:creationId xmlns:a16="http://schemas.microsoft.com/office/drawing/2014/main" id="{D97C066E-2B39-470F-A476-5D8CD5AE6E68}"/>
              </a:ext>
            </a:extLst>
          </p:cNvPr>
          <p:cNvSpPr/>
          <p:nvPr/>
        </p:nvSpPr>
        <p:spPr>
          <a:xfrm>
            <a:off x="3216241" y="5433707"/>
            <a:ext cx="1244600" cy="304800"/>
          </a:xfrm>
          <a:prstGeom prst="rect">
            <a:avLst/>
          </a:prstGeom>
          <a:solidFill>
            <a:srgbClr val="577C8E"/>
          </a:solidFill>
          <a:ln w="12700">
            <a:noFill/>
            <a:prstDash val="solid"/>
          </a:ln>
        </p:spPr>
      </p:sp>
      <p:sp>
        <p:nvSpPr>
          <p:cNvPr id="87" name="Text 39">
            <a:extLst>
              <a:ext uri="{FF2B5EF4-FFF2-40B4-BE49-F238E27FC236}">
                <a16:creationId xmlns:a16="http://schemas.microsoft.com/office/drawing/2014/main" id="{DBBE9FCC-F08B-48B1-A9A5-90ADCC563ECC}"/>
              </a:ext>
            </a:extLst>
          </p:cNvPr>
          <p:cNvSpPr/>
          <p:nvPr/>
        </p:nvSpPr>
        <p:spPr>
          <a:xfrm>
            <a:off x="4485225" y="5421515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577C8E"/>
                </a:solidFill>
                <a:latin typeface="Century Gothic" panose="020B0502020202020204" pitchFamily="34" charset="0"/>
              </a:rPr>
              <a:t>35 ч</a:t>
            </a:r>
            <a:endParaRPr lang="en-US" sz="1333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88" name="Shape 40">
            <a:extLst>
              <a:ext uri="{FF2B5EF4-FFF2-40B4-BE49-F238E27FC236}">
                <a16:creationId xmlns:a16="http://schemas.microsoft.com/office/drawing/2014/main" id="{D6548002-C87D-4F2A-8C69-8655CFC83D8B}"/>
              </a:ext>
            </a:extLst>
          </p:cNvPr>
          <p:cNvSpPr/>
          <p:nvPr/>
        </p:nvSpPr>
        <p:spPr>
          <a:xfrm>
            <a:off x="7300561" y="2687550"/>
            <a:ext cx="4693920" cy="3413760"/>
          </a:xfrm>
          <a:prstGeom prst="roundRect">
            <a:avLst>
              <a:gd name="adj" fmla="val 9208"/>
            </a:avLst>
          </a:prstGeom>
          <a:solidFill>
            <a:srgbClr val="C7D9E5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9" name="Text 41">
            <a:extLst>
              <a:ext uri="{FF2B5EF4-FFF2-40B4-BE49-F238E27FC236}">
                <a16:creationId xmlns:a16="http://schemas.microsoft.com/office/drawing/2014/main" id="{2E5A13DE-CFC5-420F-A9D4-CF9C21F6A8E3}"/>
              </a:ext>
            </a:extLst>
          </p:cNvPr>
          <p:cNvSpPr/>
          <p:nvPr/>
        </p:nvSpPr>
        <p:spPr>
          <a:xfrm>
            <a:off x="7483441" y="2772894"/>
            <a:ext cx="42672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Составляющие FP (до корректировки = 105)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90" name="Text 42">
            <a:extLst>
              <a:ext uri="{FF2B5EF4-FFF2-40B4-BE49-F238E27FC236}">
                <a16:creationId xmlns:a16="http://schemas.microsoft.com/office/drawing/2014/main" id="{539C7B70-4330-4DF9-9FA8-16872E9DE1CD}"/>
              </a:ext>
            </a:extLst>
          </p:cNvPr>
          <p:cNvSpPr/>
          <p:nvPr/>
        </p:nvSpPr>
        <p:spPr>
          <a:xfrm>
            <a:off x="7483441" y="3178187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Вводы (×3)</a:t>
            </a:r>
          </a:p>
        </p:txBody>
      </p:sp>
      <p:sp>
        <p:nvSpPr>
          <p:cNvPr id="91" name="Text 43">
            <a:extLst>
              <a:ext uri="{FF2B5EF4-FFF2-40B4-BE49-F238E27FC236}">
                <a16:creationId xmlns:a16="http://schemas.microsoft.com/office/drawing/2014/main" id="{C85A061B-966C-4D1F-AA51-12F5CA4F8BD2}"/>
              </a:ext>
            </a:extLst>
          </p:cNvPr>
          <p:cNvSpPr/>
          <p:nvPr/>
        </p:nvSpPr>
        <p:spPr>
          <a:xfrm>
            <a:off x="11262961" y="3178187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15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92" name="Shape 44">
            <a:extLst>
              <a:ext uri="{FF2B5EF4-FFF2-40B4-BE49-F238E27FC236}">
                <a16:creationId xmlns:a16="http://schemas.microsoft.com/office/drawing/2014/main" id="{0D1443C3-950B-46F4-962B-3E4D5238E4F0}"/>
              </a:ext>
            </a:extLst>
          </p:cNvPr>
          <p:cNvSpPr/>
          <p:nvPr/>
        </p:nvSpPr>
        <p:spPr>
          <a:xfrm>
            <a:off x="10104721" y="3287915"/>
            <a:ext cx="365760" cy="170688"/>
          </a:xfrm>
          <a:prstGeom prst="rect">
            <a:avLst/>
          </a:prstGeom>
          <a:solidFill>
            <a:srgbClr val="75A5BD"/>
          </a:solidFill>
          <a:ln w="12700">
            <a:noFill/>
            <a:prstDash val="solid"/>
          </a:ln>
        </p:spPr>
      </p:sp>
      <p:sp>
        <p:nvSpPr>
          <p:cNvPr id="93" name="Text 45">
            <a:extLst>
              <a:ext uri="{FF2B5EF4-FFF2-40B4-BE49-F238E27FC236}">
                <a16:creationId xmlns:a16="http://schemas.microsoft.com/office/drawing/2014/main" id="{B2FFBCB5-A0C3-450D-A95C-4CD8B763DD22}"/>
              </a:ext>
            </a:extLst>
          </p:cNvPr>
          <p:cNvSpPr/>
          <p:nvPr/>
        </p:nvSpPr>
        <p:spPr>
          <a:xfrm>
            <a:off x="7483441" y="3665867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Выводы (×4)</a:t>
            </a:r>
          </a:p>
        </p:txBody>
      </p:sp>
      <p:sp>
        <p:nvSpPr>
          <p:cNvPr id="94" name="Text 46">
            <a:extLst>
              <a:ext uri="{FF2B5EF4-FFF2-40B4-BE49-F238E27FC236}">
                <a16:creationId xmlns:a16="http://schemas.microsoft.com/office/drawing/2014/main" id="{F4F00D5A-F964-4F33-96DD-D5C2D56F7A1A}"/>
              </a:ext>
            </a:extLst>
          </p:cNvPr>
          <p:cNvSpPr/>
          <p:nvPr/>
        </p:nvSpPr>
        <p:spPr>
          <a:xfrm>
            <a:off x="11262961" y="3665867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40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95" name="Shape 47">
            <a:extLst>
              <a:ext uri="{FF2B5EF4-FFF2-40B4-BE49-F238E27FC236}">
                <a16:creationId xmlns:a16="http://schemas.microsoft.com/office/drawing/2014/main" id="{3D528E1E-2214-47FA-B875-1F75F8EB11D6}"/>
              </a:ext>
            </a:extLst>
          </p:cNvPr>
          <p:cNvSpPr/>
          <p:nvPr/>
        </p:nvSpPr>
        <p:spPr>
          <a:xfrm>
            <a:off x="10104721" y="3775595"/>
            <a:ext cx="975360" cy="170688"/>
          </a:xfrm>
          <a:prstGeom prst="rect">
            <a:avLst/>
          </a:prstGeom>
          <a:solidFill>
            <a:srgbClr val="75A5BD"/>
          </a:solidFill>
          <a:ln w="12700">
            <a:noFill/>
            <a:prstDash val="solid"/>
          </a:ln>
        </p:spPr>
      </p:sp>
      <p:sp>
        <p:nvSpPr>
          <p:cNvPr id="96" name="Text 48">
            <a:extLst>
              <a:ext uri="{FF2B5EF4-FFF2-40B4-BE49-F238E27FC236}">
                <a16:creationId xmlns:a16="http://schemas.microsoft.com/office/drawing/2014/main" id="{87F70222-A6D0-4FE9-A4D2-7C5D3FC6F7A5}"/>
              </a:ext>
            </a:extLst>
          </p:cNvPr>
          <p:cNvSpPr/>
          <p:nvPr/>
        </p:nvSpPr>
        <p:spPr>
          <a:xfrm>
            <a:off x="7483441" y="4153547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Запросы (×3)</a:t>
            </a:r>
          </a:p>
        </p:txBody>
      </p:sp>
      <p:sp>
        <p:nvSpPr>
          <p:cNvPr id="97" name="Text 49">
            <a:extLst>
              <a:ext uri="{FF2B5EF4-FFF2-40B4-BE49-F238E27FC236}">
                <a16:creationId xmlns:a16="http://schemas.microsoft.com/office/drawing/2014/main" id="{04014260-B41F-4000-B9FD-C1E4FDD45820}"/>
              </a:ext>
            </a:extLst>
          </p:cNvPr>
          <p:cNvSpPr/>
          <p:nvPr/>
        </p:nvSpPr>
        <p:spPr>
          <a:xfrm>
            <a:off x="11262961" y="4153547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6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98" name="Shape 50">
            <a:extLst>
              <a:ext uri="{FF2B5EF4-FFF2-40B4-BE49-F238E27FC236}">
                <a16:creationId xmlns:a16="http://schemas.microsoft.com/office/drawing/2014/main" id="{0C6DAA74-BA71-435C-AB46-C0AAC4A9D61D}"/>
              </a:ext>
            </a:extLst>
          </p:cNvPr>
          <p:cNvSpPr/>
          <p:nvPr/>
        </p:nvSpPr>
        <p:spPr>
          <a:xfrm>
            <a:off x="10104721" y="4263275"/>
            <a:ext cx="146304" cy="170688"/>
          </a:xfrm>
          <a:prstGeom prst="rect">
            <a:avLst/>
          </a:prstGeom>
          <a:solidFill>
            <a:srgbClr val="75A5BD"/>
          </a:solidFill>
          <a:ln w="12700">
            <a:noFill/>
            <a:prstDash val="solid"/>
          </a:ln>
        </p:spPr>
      </p:sp>
      <p:sp>
        <p:nvSpPr>
          <p:cNvPr id="99" name="Text 51">
            <a:extLst>
              <a:ext uri="{FF2B5EF4-FFF2-40B4-BE49-F238E27FC236}">
                <a16:creationId xmlns:a16="http://schemas.microsoft.com/office/drawing/2014/main" id="{7968F823-57C4-4118-99CA-35DEB2E8A42C}"/>
              </a:ext>
            </a:extLst>
          </p:cNvPr>
          <p:cNvSpPr/>
          <p:nvPr/>
        </p:nvSpPr>
        <p:spPr>
          <a:xfrm>
            <a:off x="7483441" y="4641227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Лог. файлы (×7)</a:t>
            </a:r>
          </a:p>
        </p:txBody>
      </p:sp>
      <p:sp>
        <p:nvSpPr>
          <p:cNvPr id="100" name="Text 52">
            <a:extLst>
              <a:ext uri="{FF2B5EF4-FFF2-40B4-BE49-F238E27FC236}">
                <a16:creationId xmlns:a16="http://schemas.microsoft.com/office/drawing/2014/main" id="{2F9087F6-4EA1-413E-8035-5216B1E35841}"/>
              </a:ext>
            </a:extLst>
          </p:cNvPr>
          <p:cNvSpPr/>
          <p:nvPr/>
        </p:nvSpPr>
        <p:spPr>
          <a:xfrm>
            <a:off x="11262961" y="4641227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21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101" name="Shape 53">
            <a:extLst>
              <a:ext uri="{FF2B5EF4-FFF2-40B4-BE49-F238E27FC236}">
                <a16:creationId xmlns:a16="http://schemas.microsoft.com/office/drawing/2014/main" id="{A2031FD7-BF43-4F61-896C-1592608DBF45}"/>
              </a:ext>
            </a:extLst>
          </p:cNvPr>
          <p:cNvSpPr/>
          <p:nvPr/>
        </p:nvSpPr>
        <p:spPr>
          <a:xfrm>
            <a:off x="10104721" y="4750955"/>
            <a:ext cx="512064" cy="170688"/>
          </a:xfrm>
          <a:prstGeom prst="rect">
            <a:avLst/>
          </a:prstGeom>
          <a:solidFill>
            <a:srgbClr val="75A5BD"/>
          </a:solidFill>
          <a:ln w="12700">
            <a:noFill/>
            <a:prstDash val="solid"/>
          </a:ln>
        </p:spPr>
      </p:sp>
      <p:sp>
        <p:nvSpPr>
          <p:cNvPr id="102" name="Text 54">
            <a:extLst>
              <a:ext uri="{FF2B5EF4-FFF2-40B4-BE49-F238E27FC236}">
                <a16:creationId xmlns:a16="http://schemas.microsoft.com/office/drawing/2014/main" id="{E1BD5B6C-E3A7-44DC-811A-B453084BB0CA}"/>
              </a:ext>
            </a:extLst>
          </p:cNvPr>
          <p:cNvSpPr/>
          <p:nvPr/>
        </p:nvSpPr>
        <p:spPr>
          <a:xfrm>
            <a:off x="7483441" y="5128907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Интерф. файлы (×5)</a:t>
            </a:r>
          </a:p>
        </p:txBody>
      </p:sp>
      <p:sp>
        <p:nvSpPr>
          <p:cNvPr id="103" name="Text 55">
            <a:extLst>
              <a:ext uri="{FF2B5EF4-FFF2-40B4-BE49-F238E27FC236}">
                <a16:creationId xmlns:a16="http://schemas.microsoft.com/office/drawing/2014/main" id="{A5D9CA0B-A366-4DE2-BC9D-040E166A3B5C}"/>
              </a:ext>
            </a:extLst>
          </p:cNvPr>
          <p:cNvSpPr/>
          <p:nvPr/>
        </p:nvSpPr>
        <p:spPr>
          <a:xfrm>
            <a:off x="11262961" y="5128907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5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104" name="Shape 56">
            <a:extLst>
              <a:ext uri="{FF2B5EF4-FFF2-40B4-BE49-F238E27FC236}">
                <a16:creationId xmlns:a16="http://schemas.microsoft.com/office/drawing/2014/main" id="{AD4D21F5-7191-45EC-AC07-2BBC02AFDD52}"/>
              </a:ext>
            </a:extLst>
          </p:cNvPr>
          <p:cNvSpPr/>
          <p:nvPr/>
        </p:nvSpPr>
        <p:spPr>
          <a:xfrm>
            <a:off x="10104721" y="5238635"/>
            <a:ext cx="121920" cy="170688"/>
          </a:xfrm>
          <a:prstGeom prst="rect">
            <a:avLst/>
          </a:prstGeom>
          <a:solidFill>
            <a:srgbClr val="75A5BD"/>
          </a:solidFill>
          <a:ln w="12700">
            <a:noFill/>
            <a:prstDash val="solid"/>
          </a:ln>
        </p:spPr>
      </p:sp>
      <p:sp>
        <p:nvSpPr>
          <p:cNvPr id="105" name="Text 57">
            <a:extLst>
              <a:ext uri="{FF2B5EF4-FFF2-40B4-BE49-F238E27FC236}">
                <a16:creationId xmlns:a16="http://schemas.microsoft.com/office/drawing/2014/main" id="{D5A3DD3C-6DB9-42F2-8F56-237A1AC1B584}"/>
              </a:ext>
            </a:extLst>
          </p:cNvPr>
          <p:cNvSpPr/>
          <p:nvPr/>
        </p:nvSpPr>
        <p:spPr>
          <a:xfrm>
            <a:off x="7483441" y="5616587"/>
            <a:ext cx="18288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chemeClr val="bg1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Century Gothic" panose="020B0502020202020204" pitchFamily="34" charset="0"/>
              </a:rPr>
              <a:t>Алгоритмы (×1)</a:t>
            </a:r>
          </a:p>
        </p:txBody>
      </p:sp>
      <p:sp>
        <p:nvSpPr>
          <p:cNvPr id="106" name="Text 58">
            <a:extLst>
              <a:ext uri="{FF2B5EF4-FFF2-40B4-BE49-F238E27FC236}">
                <a16:creationId xmlns:a16="http://schemas.microsoft.com/office/drawing/2014/main" id="{B95306B2-8399-4408-B664-D7A706171625}"/>
              </a:ext>
            </a:extLst>
          </p:cNvPr>
          <p:cNvSpPr/>
          <p:nvPr/>
        </p:nvSpPr>
        <p:spPr>
          <a:xfrm>
            <a:off x="11262961" y="5616587"/>
            <a:ext cx="609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67" b="1" dirty="0">
                <a:solidFill>
                  <a:srgbClr val="577C8E"/>
                </a:solidFill>
                <a:latin typeface="Century Gothic" panose="020B0502020202020204" pitchFamily="34" charset="0"/>
              </a:rPr>
              <a:t>18</a:t>
            </a:r>
            <a:endParaRPr lang="en-US" sz="1467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sp>
        <p:nvSpPr>
          <p:cNvPr id="107" name="Shape 59">
            <a:extLst>
              <a:ext uri="{FF2B5EF4-FFF2-40B4-BE49-F238E27FC236}">
                <a16:creationId xmlns:a16="http://schemas.microsoft.com/office/drawing/2014/main" id="{A7ABD4FF-7F53-475E-ACB1-90C58FF5449E}"/>
              </a:ext>
            </a:extLst>
          </p:cNvPr>
          <p:cNvSpPr/>
          <p:nvPr/>
        </p:nvSpPr>
        <p:spPr>
          <a:xfrm>
            <a:off x="10104721" y="5726315"/>
            <a:ext cx="438912" cy="170688"/>
          </a:xfrm>
          <a:prstGeom prst="rect">
            <a:avLst/>
          </a:prstGeom>
          <a:solidFill>
            <a:srgbClr val="75A5BD"/>
          </a:solidFill>
          <a:ln w="12700">
            <a:noFill/>
            <a:prstDash val="solid"/>
          </a:ln>
        </p:spPr>
      </p:sp>
      <p:sp>
        <p:nvSpPr>
          <p:cNvPr id="108" name="Text 33">
            <a:extLst>
              <a:ext uri="{FF2B5EF4-FFF2-40B4-BE49-F238E27FC236}">
                <a16:creationId xmlns:a16="http://schemas.microsoft.com/office/drawing/2014/main" id="{B0340067-0FF4-42E6-92E3-C18BD765E762}"/>
              </a:ext>
            </a:extLst>
          </p:cNvPr>
          <p:cNvSpPr/>
          <p:nvPr/>
        </p:nvSpPr>
        <p:spPr>
          <a:xfrm>
            <a:off x="5532721" y="4299851"/>
            <a:ext cx="7315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577C8E"/>
                </a:solidFill>
                <a:latin typeface="Century Gothic" panose="020B0502020202020204" pitchFamily="34" charset="0"/>
              </a:rPr>
              <a:t>120 ч</a:t>
            </a:r>
            <a:endParaRPr lang="en-US" sz="1333" dirty="0">
              <a:solidFill>
                <a:srgbClr val="577C8E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09" name="Picture 4">
            <a:extLst>
              <a:ext uri="{FF2B5EF4-FFF2-40B4-BE49-F238E27FC236}">
                <a16:creationId xmlns:a16="http://schemas.microsoft.com/office/drawing/2014/main" id="{1D0C672B-B6F6-411A-9CE2-A5E835DF4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91871" y="611862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" name="Shape 60">
            <a:extLst>
              <a:ext uri="{FF2B5EF4-FFF2-40B4-BE49-F238E27FC236}">
                <a16:creationId xmlns:a16="http://schemas.microsoft.com/office/drawing/2014/main" id="{25EB983B-9F02-4E47-BF2C-FC7F7A476965}"/>
              </a:ext>
            </a:extLst>
          </p:cNvPr>
          <p:cNvSpPr/>
          <p:nvPr/>
        </p:nvSpPr>
        <p:spPr>
          <a:xfrm>
            <a:off x="0" y="6284190"/>
            <a:ext cx="12192000" cy="585216"/>
          </a:xfrm>
          <a:prstGeom prst="rect">
            <a:avLst/>
          </a:prstGeom>
          <a:solidFill>
            <a:srgbClr val="2C3E50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1" name="Text 61">
            <a:extLst>
              <a:ext uri="{FF2B5EF4-FFF2-40B4-BE49-F238E27FC236}">
                <a16:creationId xmlns:a16="http://schemas.microsoft.com/office/drawing/2014/main" id="{B4538070-4138-4F85-8893-790D4FE0828B}"/>
              </a:ext>
            </a:extLst>
          </p:cNvPr>
          <p:cNvSpPr/>
          <p:nvPr/>
        </p:nvSpPr>
        <p:spPr>
          <a:xfrm>
            <a:off x="482476" y="6327404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C7D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 = 105 × VA(0.95) = 100 · VA = 0.65 + 0.01 × ΣFi(30) = 0.95 · Производительность = 100 FP / 1.5 чел.-мес. = 66.67</a:t>
            </a:r>
            <a:endParaRPr lang="en-US" sz="1333" dirty="0">
              <a:solidFill>
                <a:srgbClr val="C7D9E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743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Text 1"/>
          <p:cNvSpPr/>
          <p:nvPr/>
        </p:nvSpPr>
        <p:spPr>
          <a:xfrm>
            <a:off x="487680" y="60960"/>
            <a:ext cx="109728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РАСЧЁТ МЕТРИК — МЕТОД ФУНКЦИОНАЛЬНЫХ ТОЧЕК</a:t>
            </a:r>
            <a:endParaRPr lang="en-US" sz="2667" dirty="0"/>
          </a:p>
        </p:txBody>
      </p:sp>
      <p:sp>
        <p:nvSpPr>
          <p:cNvPr id="4" name="Shape 2"/>
          <p:cNvSpPr/>
          <p:nvPr/>
        </p:nvSpPr>
        <p:spPr>
          <a:xfrm>
            <a:off x="487680" y="1219200"/>
            <a:ext cx="4267200" cy="524256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7680" y="1402080"/>
            <a:ext cx="426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933" b="1" dirty="0">
                <a:solidFill>
                  <a:srgbClr val="7F8C8D"/>
                </a:solidFill>
              </a:rPr>
              <a:t>FP</a:t>
            </a:r>
            <a:endParaRPr lang="en-US" sz="2933" dirty="0"/>
          </a:p>
        </p:txBody>
      </p:sp>
      <p:sp>
        <p:nvSpPr>
          <p:cNvPr id="6" name="Text 4"/>
          <p:cNvSpPr/>
          <p:nvPr/>
        </p:nvSpPr>
        <p:spPr>
          <a:xfrm>
            <a:off x="487680" y="2072640"/>
            <a:ext cx="4267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800" b="1" dirty="0">
                <a:solidFill>
                  <a:srgbClr val="00C2E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359</a:t>
            </a:r>
            <a:endParaRPr lang="en-US" sz="12800" dirty="0"/>
          </a:p>
        </p:txBody>
      </p:sp>
      <p:sp>
        <p:nvSpPr>
          <p:cNvPr id="7" name="Text 5"/>
          <p:cNvSpPr/>
          <p:nvPr/>
        </p:nvSpPr>
        <p:spPr>
          <a:xfrm>
            <a:off x="487680" y="4267200"/>
            <a:ext cx="42672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dirty="0">
                <a:solidFill>
                  <a:srgbClr val="AABBD3"/>
                </a:solidFill>
              </a:rPr>
              <a:t>функциональных точек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487680" y="4937760"/>
            <a:ext cx="426720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i="1" dirty="0">
                <a:solidFill>
                  <a:srgbClr val="1ABC9C"/>
                </a:solidFill>
              </a:rPr>
              <a:t>Средняя сложность</a:t>
            </a:r>
            <a:endParaRPr lang="en-US" sz="1467" dirty="0"/>
          </a:p>
          <a:p>
            <a:pPr algn="ctr"/>
            <a:r>
              <a:rPr lang="en-US" sz="1467" i="1" dirty="0">
                <a:solidFill>
                  <a:srgbClr val="1ABC9C"/>
                </a:solidFill>
              </a:rPr>
              <a:t>кроссплатформенного</a:t>
            </a:r>
            <a:endParaRPr lang="en-US" sz="1467" dirty="0"/>
          </a:p>
          <a:p>
            <a:pPr algn="ctr"/>
            <a:r>
              <a:rPr lang="en-US" sz="1467" i="1" dirty="0">
                <a:solidFill>
                  <a:srgbClr val="1ABC9C"/>
                </a:solidFill>
              </a:rPr>
              <a:t>медиа-приложения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4998720" y="1219200"/>
            <a:ext cx="6705600" cy="1828800"/>
          </a:xfrm>
          <a:prstGeom prst="rect">
            <a:avLst/>
          </a:prstGeom>
          <a:solidFill>
            <a:srgbClr val="0A152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1280160"/>
            <a:ext cx="64617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C2E0"/>
                </a:solidFill>
              </a:rPr>
              <a:t>📐  Формула расчёта: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5120640" y="1767840"/>
            <a:ext cx="6461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 = UFC × (0.65 + 0.01 × ΣFi)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5120640" y="2316480"/>
            <a:ext cx="646176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AABBD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 = 352 × (0.65 + 0.01 × 42) = 352 × 1.07 = 358.64 ≈ 359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4998720" y="3108960"/>
            <a:ext cx="6705600" cy="731520"/>
          </a:xfrm>
          <a:prstGeom prst="rect">
            <a:avLst/>
          </a:prstGeom>
          <a:solidFill>
            <a:srgbClr val="0F2030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31089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AABBD3"/>
                </a:solidFill>
              </a:rPr>
              <a:t>UFC (нескорр. FP)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9265920" y="3108960"/>
            <a:ext cx="231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2133" b="1" dirty="0">
                <a:solidFill>
                  <a:srgbClr val="00C2E0"/>
                </a:solidFill>
              </a:rPr>
              <a:t>352</a:t>
            </a:r>
            <a:endParaRPr lang="en-US" sz="2133" dirty="0"/>
          </a:p>
        </p:txBody>
      </p:sp>
      <p:sp>
        <p:nvSpPr>
          <p:cNvPr id="16" name="Shape 14"/>
          <p:cNvSpPr/>
          <p:nvPr/>
        </p:nvSpPr>
        <p:spPr>
          <a:xfrm>
            <a:off x="4998720" y="3962400"/>
            <a:ext cx="6705600" cy="73152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9624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AABBD3"/>
                </a:solidFill>
              </a:rPr>
              <a:t>Коэфф. сложности ΣFi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9265920" y="3962400"/>
            <a:ext cx="231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2133" b="1" dirty="0">
                <a:solidFill>
                  <a:srgbClr val="00C2E0"/>
                </a:solidFill>
              </a:rPr>
              <a:t>42</a:t>
            </a:r>
            <a:endParaRPr lang="en-US" sz="2133" dirty="0"/>
          </a:p>
        </p:txBody>
      </p:sp>
      <p:sp>
        <p:nvSpPr>
          <p:cNvPr id="19" name="Shape 17"/>
          <p:cNvSpPr/>
          <p:nvPr/>
        </p:nvSpPr>
        <p:spPr>
          <a:xfrm>
            <a:off x="4998720" y="4815840"/>
            <a:ext cx="6705600" cy="731520"/>
          </a:xfrm>
          <a:prstGeom prst="rect">
            <a:avLst/>
          </a:prstGeom>
          <a:solidFill>
            <a:srgbClr val="0F2030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481584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AABBD3"/>
                </a:solidFill>
              </a:rPr>
              <a:t>Производительность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9265920" y="4815840"/>
            <a:ext cx="231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2133" b="1" dirty="0">
                <a:solidFill>
                  <a:srgbClr val="00C2E0"/>
                </a:solidFill>
              </a:rPr>
              <a:t>2872</a:t>
            </a:r>
            <a:endParaRPr lang="en-US" sz="2133" dirty="0"/>
          </a:p>
        </p:txBody>
      </p:sp>
      <p:sp>
        <p:nvSpPr>
          <p:cNvPr id="22" name="Shape 20"/>
          <p:cNvSpPr/>
          <p:nvPr/>
        </p:nvSpPr>
        <p:spPr>
          <a:xfrm>
            <a:off x="4998720" y="5669280"/>
            <a:ext cx="6705600" cy="73152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0" y="56692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AABBD3"/>
                </a:solidFill>
              </a:rPr>
              <a:t>Трудоёмкость (часов)</a:t>
            </a:r>
            <a:endParaRPr lang="en-US" sz="1733" dirty="0"/>
          </a:p>
        </p:txBody>
      </p:sp>
      <p:sp>
        <p:nvSpPr>
          <p:cNvPr id="24" name="Text 22"/>
          <p:cNvSpPr/>
          <p:nvPr/>
        </p:nvSpPr>
        <p:spPr>
          <a:xfrm>
            <a:off x="9265920" y="5669280"/>
            <a:ext cx="231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2133" b="1" dirty="0">
                <a:solidFill>
                  <a:srgbClr val="00C2E0"/>
                </a:solidFill>
              </a:rPr>
              <a:t>~125</a:t>
            </a:r>
            <a:endParaRPr lang="en-US" sz="2133" dirty="0"/>
          </a:p>
        </p:txBody>
      </p:sp>
      <p:sp>
        <p:nvSpPr>
          <p:cNvPr id="25" name="Shape 23"/>
          <p:cNvSpPr/>
          <p:nvPr/>
        </p:nvSpPr>
        <p:spPr>
          <a:xfrm>
            <a:off x="4998720" y="5425440"/>
            <a:ext cx="6705600" cy="1036320"/>
          </a:xfrm>
          <a:prstGeom prst="rect">
            <a:avLst/>
          </a:prstGeom>
          <a:solidFill>
            <a:srgbClr val="6C3483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5486400"/>
            <a:ext cx="646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i="1" dirty="0">
                <a:solidFill>
                  <a:srgbClr val="FFFFFF"/>
                </a:solidFill>
              </a:rPr>
              <a:t>Модульная архитектура обеспечивает масштабируемость без роста технического долга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616FA-1B67-4577-8AC1-662712589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b="1" dirty="0">
                <a:solidFill>
                  <a:srgbClr val="CEAF9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Рекомендации</a:t>
            </a:r>
            <a:r>
              <a:rPr lang="en-US" sz="4400" b="1" dirty="0">
                <a:solidFill>
                  <a:srgbClr val="CEAF9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400" b="1" dirty="0">
                <a:solidFill>
                  <a:srgbClr val="CEAF9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пользователям по обеспечению информационной безопасности.</a:t>
            </a:r>
            <a:br>
              <a:rPr lang="ru-RU" dirty="0">
                <a:solidFill>
                  <a:srgbClr val="CEAF9E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318975-76D0-4719-B795-2356EAC31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641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РУКОВОДСТВО ПОЛЬЗОВАТЕЛЯ</a:t>
            </a:r>
            <a:endParaRPr lang="en-US" sz="3467" dirty="0"/>
          </a:p>
        </p:txBody>
      </p:sp>
      <p:sp>
        <p:nvSpPr>
          <p:cNvPr id="3" name="Shape 1"/>
          <p:cNvSpPr/>
          <p:nvPr/>
        </p:nvSpPr>
        <p:spPr>
          <a:xfrm>
            <a:off x="1036320" y="1584960"/>
            <a:ext cx="853440" cy="8534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103632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2011680" y="1645920"/>
            <a:ext cx="60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2563EB"/>
                </a:solidFill>
              </a:rPr>
              <a:t>→</a:t>
            </a:r>
            <a:endParaRPr lang="en-US" sz="2667" dirty="0"/>
          </a:p>
        </p:txBody>
      </p:sp>
      <p:sp>
        <p:nvSpPr>
          <p:cNvPr id="6" name="Text 4"/>
          <p:cNvSpPr/>
          <p:nvPr/>
        </p:nvSpPr>
        <p:spPr>
          <a:xfrm>
            <a:off x="36576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Обзор</a:t>
            </a:r>
            <a:endParaRPr lang="en-US" sz="1867" dirty="0"/>
          </a:p>
        </p:txBody>
      </p:sp>
      <p:sp>
        <p:nvSpPr>
          <p:cNvPr id="7" name="Text 5"/>
          <p:cNvSpPr/>
          <p:nvPr/>
        </p:nvSpPr>
        <p:spPr>
          <a:xfrm>
            <a:off x="36576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Главная, секции, тренеры, новости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3352800" y="1584960"/>
            <a:ext cx="853440" cy="8534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9" name="Text 7"/>
          <p:cNvSpPr/>
          <p:nvPr/>
        </p:nvSpPr>
        <p:spPr>
          <a:xfrm>
            <a:off x="335280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933" dirty="0"/>
          </a:p>
        </p:txBody>
      </p:sp>
      <p:sp>
        <p:nvSpPr>
          <p:cNvPr id="10" name="Text 8"/>
          <p:cNvSpPr/>
          <p:nvPr/>
        </p:nvSpPr>
        <p:spPr>
          <a:xfrm>
            <a:off x="4328160" y="1645920"/>
            <a:ext cx="60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2563EB"/>
                </a:solidFill>
              </a:rPr>
              <a:t>→</a:t>
            </a:r>
            <a:endParaRPr lang="en-US" sz="2667" dirty="0"/>
          </a:p>
        </p:txBody>
      </p:sp>
      <p:sp>
        <p:nvSpPr>
          <p:cNvPr id="11" name="Text 9"/>
          <p:cNvSpPr/>
          <p:nvPr/>
        </p:nvSpPr>
        <p:spPr>
          <a:xfrm>
            <a:off x="268224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Регистрация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268224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аккаунта, вход в систему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5669280" y="1584960"/>
            <a:ext cx="853440" cy="8534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933" dirty="0"/>
          </a:p>
        </p:txBody>
      </p:sp>
      <p:sp>
        <p:nvSpPr>
          <p:cNvPr id="15" name="Text 13"/>
          <p:cNvSpPr/>
          <p:nvPr/>
        </p:nvSpPr>
        <p:spPr>
          <a:xfrm>
            <a:off x="6644640" y="1645920"/>
            <a:ext cx="60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2563EB"/>
                </a:solidFill>
              </a:rPr>
              <a:t>→</a:t>
            </a:r>
            <a:endParaRPr lang="en-US" sz="2667" dirty="0"/>
          </a:p>
        </p:txBody>
      </p:sp>
      <p:sp>
        <p:nvSpPr>
          <p:cNvPr id="16" name="Text 14"/>
          <p:cNvSpPr/>
          <p:nvPr/>
        </p:nvSpPr>
        <p:spPr>
          <a:xfrm>
            <a:off x="499872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Заявка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499872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записи на секцию/занятие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7985760" y="1584960"/>
            <a:ext cx="853440" cy="8534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798576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933" dirty="0"/>
          </a:p>
        </p:txBody>
      </p:sp>
      <p:sp>
        <p:nvSpPr>
          <p:cNvPr id="20" name="Text 18"/>
          <p:cNvSpPr/>
          <p:nvPr/>
        </p:nvSpPr>
        <p:spPr>
          <a:xfrm>
            <a:off x="8961120" y="1645920"/>
            <a:ext cx="60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2563EB"/>
                </a:solidFill>
              </a:rPr>
              <a:t>→</a:t>
            </a:r>
            <a:endParaRPr lang="en-US" sz="2667" dirty="0"/>
          </a:p>
        </p:txBody>
      </p:sp>
      <p:sp>
        <p:nvSpPr>
          <p:cNvPr id="21" name="Text 19"/>
          <p:cNvSpPr/>
          <p:nvPr/>
        </p:nvSpPr>
        <p:spPr>
          <a:xfrm>
            <a:off x="731520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Кабинет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731520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заявок, профиль, отзывы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10302240" y="1584960"/>
            <a:ext cx="853440" cy="8534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4" name="Text 22"/>
          <p:cNvSpPr/>
          <p:nvPr/>
        </p:nvSpPr>
        <p:spPr>
          <a:xfrm>
            <a:off x="1030224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933" dirty="0"/>
          </a:p>
        </p:txBody>
      </p:sp>
      <p:sp>
        <p:nvSpPr>
          <p:cNvPr id="25" name="Text 23"/>
          <p:cNvSpPr/>
          <p:nvPr/>
        </p:nvSpPr>
        <p:spPr>
          <a:xfrm>
            <a:off x="963168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Админ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963168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модерация, обработка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609600" y="4511040"/>
            <a:ext cx="10972800" cy="1950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53440" y="4632960"/>
            <a:ext cx="1048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Путь администратора</a:t>
            </a:r>
            <a:endParaRPr lang="en-US" sz="1867" dirty="0"/>
          </a:p>
        </p:txBody>
      </p:sp>
      <p:sp>
        <p:nvSpPr>
          <p:cNvPr id="29" name="Text 27"/>
          <p:cNvSpPr/>
          <p:nvPr/>
        </p:nvSpPr>
        <p:spPr>
          <a:xfrm>
            <a:off x="853440" y="5120640"/>
            <a:ext cx="104851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Подвал сайта → «Панель администратора» → Авторизация (admin/admin) → Главная панель → Боковое меню: Заявки, Новости, Тренеры, Секции, Пользователи, Отзывы → CRUD + модерация + изменение статусов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A4CB5B-0F0F-4253-8C2E-81D7FE6651EF}"/>
              </a:ext>
            </a:extLst>
          </p:cNvPr>
          <p:cNvSpPr/>
          <p:nvPr/>
        </p:nvSpPr>
        <p:spPr>
          <a:xfrm>
            <a:off x="731520" y="365760"/>
            <a:ext cx="1097280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РУКОВОДСТВО ПОЛЬЗОВАТЕЛЯ</a:t>
            </a:r>
            <a:endParaRPr lang="en-US" sz="3467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4874302-C8E7-4ABE-9A3C-027643F535DF}"/>
              </a:ext>
            </a:extLst>
          </p:cNvPr>
          <p:cNvSpPr/>
          <p:nvPr/>
        </p:nvSpPr>
        <p:spPr>
          <a:xfrm>
            <a:off x="1036320" y="1584960"/>
            <a:ext cx="853440" cy="853440"/>
          </a:xfrm>
          <a:prstGeom prst="ellipse">
            <a:avLst/>
          </a:prstGeom>
          <a:solidFill>
            <a:srgbClr val="577C8E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087580-B48F-4044-A06A-64840DF438C7}"/>
              </a:ext>
            </a:extLst>
          </p:cNvPr>
          <p:cNvSpPr/>
          <p:nvPr/>
        </p:nvSpPr>
        <p:spPr>
          <a:xfrm>
            <a:off x="103632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933" dirty="0">
              <a:solidFill>
                <a:srgbClr val="F5EFEB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8DD4D57-2440-418D-A789-43DE04F9EC8A}"/>
              </a:ext>
            </a:extLst>
          </p:cNvPr>
          <p:cNvSpPr/>
          <p:nvPr/>
        </p:nvSpPr>
        <p:spPr>
          <a:xfrm>
            <a:off x="2011680" y="1645920"/>
            <a:ext cx="60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F5EFEB"/>
                </a:solidFill>
              </a:rPr>
              <a:t>→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E255EB5-65B9-4043-BE1D-8DF924FE92A7}"/>
              </a:ext>
            </a:extLst>
          </p:cNvPr>
          <p:cNvSpPr/>
          <p:nvPr/>
        </p:nvSpPr>
        <p:spPr>
          <a:xfrm>
            <a:off x="36576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Обзор</a:t>
            </a:r>
            <a:endParaRPr lang="en-US" sz="1867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BA773FC-50FB-45EE-A2DD-FE2EB9D41C85}"/>
              </a:ext>
            </a:extLst>
          </p:cNvPr>
          <p:cNvSpPr/>
          <p:nvPr/>
        </p:nvSpPr>
        <p:spPr>
          <a:xfrm>
            <a:off x="36576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Главная, секции, тренеры, новости</a:t>
            </a:r>
            <a:endParaRPr lang="en-US" sz="1333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D0C8122-0D98-4996-B7CF-7AD1E1A1783E}"/>
              </a:ext>
            </a:extLst>
          </p:cNvPr>
          <p:cNvSpPr/>
          <p:nvPr/>
        </p:nvSpPr>
        <p:spPr>
          <a:xfrm>
            <a:off x="3352800" y="1584960"/>
            <a:ext cx="853440" cy="853440"/>
          </a:xfrm>
          <a:prstGeom prst="ellipse">
            <a:avLst/>
          </a:prstGeom>
          <a:solidFill>
            <a:srgbClr val="577C8E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2D58D4D-E4B9-46AC-85B7-9E7F0E9C2B24}"/>
              </a:ext>
            </a:extLst>
          </p:cNvPr>
          <p:cNvSpPr/>
          <p:nvPr/>
        </p:nvSpPr>
        <p:spPr>
          <a:xfrm>
            <a:off x="335280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933" dirty="0">
              <a:solidFill>
                <a:srgbClr val="F5EFEB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DE9B5B8-8EF9-49B4-B23D-45A56292093D}"/>
              </a:ext>
            </a:extLst>
          </p:cNvPr>
          <p:cNvSpPr/>
          <p:nvPr/>
        </p:nvSpPr>
        <p:spPr>
          <a:xfrm>
            <a:off x="4328160" y="1645920"/>
            <a:ext cx="60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F5EFEB"/>
                </a:solidFill>
              </a:rPr>
              <a:t>→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27CEAF3-14CF-4696-B954-69F4B37F8C0D}"/>
              </a:ext>
            </a:extLst>
          </p:cNvPr>
          <p:cNvSpPr/>
          <p:nvPr/>
        </p:nvSpPr>
        <p:spPr>
          <a:xfrm>
            <a:off x="268224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Регистрация</a:t>
            </a:r>
            <a:endParaRPr lang="en-US" sz="1867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2C428E6-7656-4A6E-AB0B-6D903D38B76D}"/>
              </a:ext>
            </a:extLst>
          </p:cNvPr>
          <p:cNvSpPr/>
          <p:nvPr/>
        </p:nvSpPr>
        <p:spPr>
          <a:xfrm>
            <a:off x="268224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аккаунта, вход в систему</a:t>
            </a:r>
            <a:endParaRPr lang="en-US" sz="1333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74FBEFC-29D4-430B-A849-979CE8756633}"/>
              </a:ext>
            </a:extLst>
          </p:cNvPr>
          <p:cNvSpPr/>
          <p:nvPr/>
        </p:nvSpPr>
        <p:spPr>
          <a:xfrm>
            <a:off x="5669280" y="1584960"/>
            <a:ext cx="853440" cy="853440"/>
          </a:xfrm>
          <a:prstGeom prst="ellipse">
            <a:avLst/>
          </a:prstGeom>
          <a:solidFill>
            <a:srgbClr val="577C8E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A9A924F-513F-4F2F-B9C5-AA77EEC04FEE}"/>
              </a:ext>
            </a:extLst>
          </p:cNvPr>
          <p:cNvSpPr/>
          <p:nvPr/>
        </p:nvSpPr>
        <p:spPr>
          <a:xfrm>
            <a:off x="566928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933" dirty="0">
              <a:solidFill>
                <a:srgbClr val="F5EFEB"/>
              </a:solidFill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3C93654-F330-4DD5-BD7D-9A1499B19DF3}"/>
              </a:ext>
            </a:extLst>
          </p:cNvPr>
          <p:cNvSpPr/>
          <p:nvPr/>
        </p:nvSpPr>
        <p:spPr>
          <a:xfrm>
            <a:off x="6644640" y="1645920"/>
            <a:ext cx="60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F5EFEB"/>
                </a:solidFill>
              </a:rPr>
              <a:t>→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568D1CC-ACE0-463C-AE1D-FAD7BC78498A}"/>
              </a:ext>
            </a:extLst>
          </p:cNvPr>
          <p:cNvSpPr/>
          <p:nvPr/>
        </p:nvSpPr>
        <p:spPr>
          <a:xfrm>
            <a:off x="499872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Заявка</a:t>
            </a:r>
            <a:endParaRPr lang="en-US" sz="1867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ABEA886-BD9B-43FB-B464-8F359F72B5A9}"/>
              </a:ext>
            </a:extLst>
          </p:cNvPr>
          <p:cNvSpPr/>
          <p:nvPr/>
        </p:nvSpPr>
        <p:spPr>
          <a:xfrm>
            <a:off x="499872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записи на секцию/занятие</a:t>
            </a:r>
            <a:endParaRPr lang="en-US" sz="1333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B0BF1428-D9FF-4479-AB89-BD33E575608F}"/>
              </a:ext>
            </a:extLst>
          </p:cNvPr>
          <p:cNvSpPr/>
          <p:nvPr/>
        </p:nvSpPr>
        <p:spPr>
          <a:xfrm>
            <a:off x="7985760" y="1584960"/>
            <a:ext cx="853440" cy="853440"/>
          </a:xfrm>
          <a:prstGeom prst="ellipse">
            <a:avLst/>
          </a:prstGeom>
          <a:solidFill>
            <a:srgbClr val="577C8E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BECA9CA-5BDD-439F-9E4C-07463A2D5C0F}"/>
              </a:ext>
            </a:extLst>
          </p:cNvPr>
          <p:cNvSpPr/>
          <p:nvPr/>
        </p:nvSpPr>
        <p:spPr>
          <a:xfrm>
            <a:off x="798576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933" dirty="0">
              <a:solidFill>
                <a:srgbClr val="F5EFEB"/>
              </a:solidFill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BC8CA5D-7A72-4208-B401-388FBA46C7F5}"/>
              </a:ext>
            </a:extLst>
          </p:cNvPr>
          <p:cNvSpPr/>
          <p:nvPr/>
        </p:nvSpPr>
        <p:spPr>
          <a:xfrm>
            <a:off x="8961120" y="1645920"/>
            <a:ext cx="60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F5EFEB"/>
                </a:solidFill>
              </a:rPr>
              <a:t>→</a:t>
            </a: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1D5FEC8-E037-4071-8919-4669A1C5A4A9}"/>
              </a:ext>
            </a:extLst>
          </p:cNvPr>
          <p:cNvSpPr/>
          <p:nvPr/>
        </p:nvSpPr>
        <p:spPr>
          <a:xfrm>
            <a:off x="731520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Кабинет</a:t>
            </a:r>
            <a:endParaRPr lang="en-US" sz="1867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9EC367F-B4B5-4EF6-A297-6CD369959B1D}"/>
              </a:ext>
            </a:extLst>
          </p:cNvPr>
          <p:cNvSpPr/>
          <p:nvPr/>
        </p:nvSpPr>
        <p:spPr>
          <a:xfrm>
            <a:off x="731520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заявок, профиль, отзывы</a:t>
            </a:r>
            <a:endParaRPr lang="en-US" sz="1333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467E8EC-E601-46F7-9DD8-54CF708C0F27}"/>
              </a:ext>
            </a:extLst>
          </p:cNvPr>
          <p:cNvSpPr/>
          <p:nvPr/>
        </p:nvSpPr>
        <p:spPr>
          <a:xfrm>
            <a:off x="10302240" y="1584960"/>
            <a:ext cx="853440" cy="853440"/>
          </a:xfrm>
          <a:prstGeom prst="ellipse">
            <a:avLst/>
          </a:prstGeom>
          <a:solidFill>
            <a:srgbClr val="577C8E"/>
          </a:solidFill>
          <a:ln/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AE2C33B4-22A0-4D70-A625-0CCFC303F617}"/>
              </a:ext>
            </a:extLst>
          </p:cNvPr>
          <p:cNvSpPr/>
          <p:nvPr/>
        </p:nvSpPr>
        <p:spPr>
          <a:xfrm>
            <a:off x="1030224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933" dirty="0">
              <a:solidFill>
                <a:srgbClr val="F5EFEB"/>
              </a:solidFill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99DE8DC-1B2B-42F7-896D-10EDCEB72DF3}"/>
              </a:ext>
            </a:extLst>
          </p:cNvPr>
          <p:cNvSpPr/>
          <p:nvPr/>
        </p:nvSpPr>
        <p:spPr>
          <a:xfrm>
            <a:off x="963168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Админ</a:t>
            </a:r>
            <a:endParaRPr lang="en-US" sz="1867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FD52D1D2-94FC-48E8-94E6-9AE6F3563647}"/>
              </a:ext>
            </a:extLst>
          </p:cNvPr>
          <p:cNvSpPr/>
          <p:nvPr/>
        </p:nvSpPr>
        <p:spPr>
          <a:xfrm>
            <a:off x="963168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модерация, обработка</a:t>
            </a:r>
            <a:endParaRPr lang="en-US" sz="1333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E6522537-8475-49F8-B61C-458CAA1BBDF6}"/>
              </a:ext>
            </a:extLst>
          </p:cNvPr>
          <p:cNvSpPr/>
          <p:nvPr/>
        </p:nvSpPr>
        <p:spPr>
          <a:xfrm>
            <a:off x="609600" y="4511040"/>
            <a:ext cx="10972800" cy="1950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C14474E-840A-4AF7-AB0A-E9179C826653}"/>
              </a:ext>
            </a:extLst>
          </p:cNvPr>
          <p:cNvSpPr/>
          <p:nvPr/>
        </p:nvSpPr>
        <p:spPr>
          <a:xfrm>
            <a:off x="853440" y="4632960"/>
            <a:ext cx="1048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7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Путь администратора</a:t>
            </a:r>
            <a:endParaRPr lang="en-US" sz="1867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C5EE5B5-00E8-4E20-B18B-9163B60653D2}"/>
              </a:ext>
            </a:extLst>
          </p:cNvPr>
          <p:cNvSpPr/>
          <p:nvPr/>
        </p:nvSpPr>
        <p:spPr>
          <a:xfrm>
            <a:off x="853440" y="5120640"/>
            <a:ext cx="104851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Подвал сайта → «Панель администратора» → Авторизация (admin/admin) → Главная панель → Боковое меню: Заявки, Новости, Тренеры, Секции, Пользователи, Отзывы → CRUD + модерация + изменение статусов</a:t>
            </a:r>
            <a:endParaRPr lang="en-US" sz="1600" dirty="0"/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0797EC1A-68F9-4EEC-8F21-9B03EAEAC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91871" y="611862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8877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один скругленный угол 1">
            <a:extLst>
              <a:ext uri="{FF2B5EF4-FFF2-40B4-BE49-F238E27FC236}">
                <a16:creationId xmlns:a16="http://schemas.microsoft.com/office/drawing/2014/main" id="{11E559DF-24C8-4CC0-85FD-87ACD114845C}"/>
              </a:ext>
            </a:extLst>
          </p:cNvPr>
          <p:cNvSpPr/>
          <p:nvPr/>
        </p:nvSpPr>
        <p:spPr>
          <a:xfrm rot="10800000">
            <a:off x="0" y="-4786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Century Gothic" panose="020B0502020202020204" pitchFamily="34" charset="0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CF1980F-D6EE-47F4-9AA4-C8C2C90B3FE6}"/>
              </a:ext>
            </a:extLst>
          </p:cNvPr>
          <p:cNvSpPr txBox="1">
            <a:spLocks/>
          </p:cNvSpPr>
          <p:nvPr/>
        </p:nvSpPr>
        <p:spPr>
          <a:xfrm>
            <a:off x="534001" y="-757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2F4157"/>
                </a:solidFill>
                <a:latin typeface="Century Gothic" panose="020B0502020202020204" pitchFamily="34" charset="0"/>
              </a:rPr>
              <a:t>Заключение</a:t>
            </a:r>
            <a:endParaRPr lang="en-US" b="1" dirty="0">
              <a:solidFill>
                <a:srgbClr val="2F4157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6B174EEE-E816-4F2F-9670-069D8480C596}"/>
              </a:ext>
            </a:extLst>
          </p:cNvPr>
          <p:cNvSpPr/>
          <p:nvPr/>
        </p:nvSpPr>
        <p:spPr>
          <a:xfrm>
            <a:off x="290161" y="5370126"/>
            <a:ext cx="2682240" cy="764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538FAD">
                <a:alpha val="14000"/>
              </a:srgbClr>
            </a:outerShdw>
          </a:effectLst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C2ABE79-0809-4A08-9248-6549266947E0}"/>
              </a:ext>
            </a:extLst>
          </p:cNvPr>
          <p:cNvSpPr/>
          <p:nvPr/>
        </p:nvSpPr>
        <p:spPr>
          <a:xfrm>
            <a:off x="181608" y="5332528"/>
            <a:ext cx="256032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b="1" dirty="0">
                <a:solidFill>
                  <a:srgbClr val="538FAD"/>
                </a:solidFill>
                <a:latin typeface="Century Gothic" panose="020B0502020202020204" pitchFamily="34" charset="0"/>
              </a:rPr>
              <a:t>100</a:t>
            </a:r>
            <a:endParaRPr lang="en-US" b="1" dirty="0">
              <a:solidFill>
                <a:srgbClr val="538FAD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34AF4D1-8156-4DD3-9FCC-85256E66587B}"/>
              </a:ext>
            </a:extLst>
          </p:cNvPr>
          <p:cNvSpPr/>
          <p:nvPr/>
        </p:nvSpPr>
        <p:spPr>
          <a:xfrm>
            <a:off x="524911" y="5448833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538FAD"/>
                </a:solidFill>
                <a:latin typeface="Century Gothic" panose="020B0502020202020204" pitchFamily="34" charset="0"/>
              </a:rPr>
              <a:t>FP</a:t>
            </a: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13F65FE-662A-42ED-A87B-843889901700}"/>
              </a:ext>
            </a:extLst>
          </p:cNvPr>
          <p:cNvSpPr/>
          <p:nvPr/>
        </p:nvSpPr>
        <p:spPr>
          <a:xfrm>
            <a:off x="351121" y="57387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Функциональных точек</a:t>
            </a:r>
            <a:endParaRPr lang="en-US" sz="1333" dirty="0">
              <a:latin typeface="Century Gothic" panose="020B0502020202020204" pitchFamily="34" charset="0"/>
            </a:endParaRPr>
          </a:p>
        </p:txBody>
      </p:sp>
      <p:sp>
        <p:nvSpPr>
          <p:cNvPr id="9" name="Shape 8">
            <a:extLst>
              <a:ext uri="{FF2B5EF4-FFF2-40B4-BE49-F238E27FC236}">
                <a16:creationId xmlns:a16="http://schemas.microsoft.com/office/drawing/2014/main" id="{1D003C00-CF8D-4C00-8DE9-02C635FEBC28}"/>
              </a:ext>
            </a:extLst>
          </p:cNvPr>
          <p:cNvSpPr/>
          <p:nvPr/>
        </p:nvSpPr>
        <p:spPr>
          <a:xfrm>
            <a:off x="3216241" y="5370126"/>
            <a:ext cx="2682240" cy="764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E4F7"/>
            </a:solidFill>
            <a:prstDash val="solid"/>
          </a:ln>
          <a:effectLst>
            <a:outerShdw blurRad="101600" dist="38100" dir="8100000" algn="bl" rotWithShape="0">
              <a:srgbClr val="00838F">
                <a:alpha val="14000"/>
              </a:srgbClr>
            </a:outerShdw>
          </a:effectLst>
        </p:spPr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FF950A07-6367-4C91-A2B0-25B4346D2E12}"/>
              </a:ext>
            </a:extLst>
          </p:cNvPr>
          <p:cNvSpPr/>
          <p:nvPr/>
        </p:nvSpPr>
        <p:spPr>
          <a:xfrm>
            <a:off x="2803959" y="5332528"/>
            <a:ext cx="256032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00838F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66.7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E3A2D570-76B1-4354-9C5C-C532CAF9569C}"/>
              </a:ext>
            </a:extLst>
          </p:cNvPr>
          <p:cNvSpPr/>
          <p:nvPr/>
        </p:nvSpPr>
        <p:spPr>
          <a:xfrm>
            <a:off x="3642961" y="5448833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00838F"/>
                </a:solidFill>
                <a:latin typeface="Century Gothic" panose="020B0502020202020204" pitchFamily="34" charset="0"/>
              </a:rPr>
              <a:t>FP/чел.-мес.</a:t>
            </a:r>
            <a:endParaRPr lang="en-US" sz="1467" dirty="0">
              <a:latin typeface="Century Gothic" panose="020B0502020202020204" pitchFamily="34" charset="0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567C8BE2-43F6-423A-90FE-AA6C5C2B8E54}"/>
              </a:ext>
            </a:extLst>
          </p:cNvPr>
          <p:cNvSpPr/>
          <p:nvPr/>
        </p:nvSpPr>
        <p:spPr>
          <a:xfrm>
            <a:off x="3277201" y="57387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Производительность</a:t>
            </a:r>
            <a:endParaRPr lang="en-US" sz="1333" dirty="0">
              <a:latin typeface="Century Gothic" panose="020B0502020202020204" pitchFamily="34" charset="0"/>
            </a:endParaRPr>
          </a:p>
        </p:txBody>
      </p:sp>
      <p:sp>
        <p:nvSpPr>
          <p:cNvPr id="14" name="Shape 13">
            <a:extLst>
              <a:ext uri="{FF2B5EF4-FFF2-40B4-BE49-F238E27FC236}">
                <a16:creationId xmlns:a16="http://schemas.microsoft.com/office/drawing/2014/main" id="{E612B26B-7981-4431-8527-6C0D659A52A6}"/>
              </a:ext>
            </a:extLst>
          </p:cNvPr>
          <p:cNvSpPr/>
          <p:nvPr/>
        </p:nvSpPr>
        <p:spPr>
          <a:xfrm>
            <a:off x="6142321" y="5370126"/>
            <a:ext cx="2682240" cy="764817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6">
                <a:lumMod val="20000"/>
                <a:lumOff val="80000"/>
              </a:schemeClr>
            </a:solidFill>
            <a:prstDash val="solid"/>
          </a:ln>
          <a:effectLst>
            <a:outerShdw blurRad="101600" dist="38100" dir="8100000" algn="bl" rotWithShape="0">
              <a:srgbClr val="2E7D32">
                <a:alpha val="14000"/>
              </a:srgbClr>
            </a:outerShdw>
          </a:effectLst>
        </p:spPr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5DA7C292-FECA-4858-9DEE-22986F70CC4A}"/>
              </a:ext>
            </a:extLst>
          </p:cNvPr>
          <p:cNvSpPr/>
          <p:nvPr/>
        </p:nvSpPr>
        <p:spPr>
          <a:xfrm>
            <a:off x="5962648" y="5332528"/>
            <a:ext cx="256032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2E7D32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0.</a:t>
            </a:r>
            <a:r>
              <a:rPr lang="ru-RU" b="1" dirty="0">
                <a:solidFill>
                  <a:srgbClr val="2E7D32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1</a:t>
            </a:r>
            <a:r>
              <a:rPr lang="en-US" b="1" dirty="0">
                <a:solidFill>
                  <a:srgbClr val="2E7D32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7D45FF6D-B7C0-4118-9DE7-5E4FACF0E48A}"/>
              </a:ext>
            </a:extLst>
          </p:cNvPr>
          <p:cNvSpPr/>
          <p:nvPr/>
        </p:nvSpPr>
        <p:spPr>
          <a:xfrm>
            <a:off x="6552999" y="5448833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2E7D32"/>
                </a:solidFill>
                <a:latin typeface="Century Gothic" panose="020B0502020202020204" pitchFamily="34" charset="0"/>
              </a:rPr>
              <a:t>ош./FP</a:t>
            </a:r>
            <a:endParaRPr lang="en-US" sz="1467" dirty="0">
              <a:latin typeface="Century Gothic" panose="020B0502020202020204" pitchFamily="34" charset="0"/>
            </a:endParaRPr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8A29F47A-5F4B-4C57-A624-EC871CB9B88E}"/>
              </a:ext>
            </a:extLst>
          </p:cNvPr>
          <p:cNvSpPr/>
          <p:nvPr/>
        </p:nvSpPr>
        <p:spPr>
          <a:xfrm>
            <a:off x="6203281" y="57387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Метрика качества</a:t>
            </a:r>
            <a:endParaRPr lang="en-US" sz="1333" dirty="0">
              <a:latin typeface="Century Gothic" panose="020B0502020202020204" pitchFamily="34" charset="0"/>
            </a:endParaRPr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959C1955-49FB-4208-923B-9FAF9BD7ABB0}"/>
              </a:ext>
            </a:extLst>
          </p:cNvPr>
          <p:cNvSpPr/>
          <p:nvPr/>
        </p:nvSpPr>
        <p:spPr>
          <a:xfrm>
            <a:off x="9068401" y="5370126"/>
            <a:ext cx="2682240" cy="76481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DED6"/>
            </a:solidFill>
            <a:prstDash val="solid"/>
          </a:ln>
          <a:effectLst>
            <a:outerShdw blurRad="101600" dist="38100" dir="8100000" algn="bl" rotWithShape="0">
              <a:srgbClr val="9F6F4F">
                <a:alpha val="14000"/>
              </a:srgbClr>
            </a:outerShdw>
          </a:effectLst>
        </p:spPr>
      </p:sp>
      <p:sp>
        <p:nvSpPr>
          <p:cNvPr id="21" name="Text 20">
            <a:extLst>
              <a:ext uri="{FF2B5EF4-FFF2-40B4-BE49-F238E27FC236}">
                <a16:creationId xmlns:a16="http://schemas.microsoft.com/office/drawing/2014/main" id="{41A8DF79-3C86-4892-AA61-C3A90B67749C}"/>
              </a:ext>
            </a:extLst>
          </p:cNvPr>
          <p:cNvSpPr/>
          <p:nvPr/>
        </p:nvSpPr>
        <p:spPr>
          <a:xfrm>
            <a:off x="8888728" y="5332528"/>
            <a:ext cx="2560320" cy="573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9F6F4F"/>
                </a:solidFill>
                <a:latin typeface="Century Gothic" panose="020B0502020202020204" pitchFamily="34" charset="0"/>
                <a:ea typeface="Arial Black" pitchFamily="34" charset="-122"/>
                <a:cs typeface="Arial Black" pitchFamily="34" charset="-120"/>
              </a:rPr>
              <a:t>270</a:t>
            </a:r>
            <a:endParaRPr lang="en-US" dirty="0">
              <a:solidFill>
                <a:srgbClr val="9F6F4F"/>
              </a:solidFill>
              <a:latin typeface="Century Gothic" panose="020B0502020202020204" pitchFamily="34" charset="0"/>
            </a:endParaRPr>
          </a:p>
        </p:txBody>
      </p:sp>
      <p:sp>
        <p:nvSpPr>
          <p:cNvPr id="22" name="Text 21">
            <a:extLst>
              <a:ext uri="{FF2B5EF4-FFF2-40B4-BE49-F238E27FC236}">
                <a16:creationId xmlns:a16="http://schemas.microsoft.com/office/drawing/2014/main" id="{63C019DA-A3AB-4890-BC54-3DF797172720}"/>
              </a:ext>
            </a:extLst>
          </p:cNvPr>
          <p:cNvSpPr/>
          <p:nvPr/>
        </p:nvSpPr>
        <p:spPr>
          <a:xfrm>
            <a:off x="9495121" y="5448833"/>
            <a:ext cx="25603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9F6F4F"/>
                </a:solidFill>
                <a:latin typeface="Century Gothic" panose="020B0502020202020204" pitchFamily="34" charset="0"/>
              </a:rPr>
              <a:t>чел.-час</a:t>
            </a:r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0AA8321B-8C0A-4F8C-985B-019B27E9EA52}"/>
              </a:ext>
            </a:extLst>
          </p:cNvPr>
          <p:cNvSpPr/>
          <p:nvPr/>
        </p:nvSpPr>
        <p:spPr>
          <a:xfrm>
            <a:off x="9129361" y="573870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546E7A"/>
                </a:solidFill>
                <a:latin typeface="Century Gothic" panose="020B0502020202020204" pitchFamily="34" charset="0"/>
                <a:ea typeface="Arial" pitchFamily="34" charset="-122"/>
                <a:cs typeface="Arial" pitchFamily="34" charset="-120"/>
              </a:rPr>
              <a:t>Всего трудозатрат</a:t>
            </a:r>
            <a:endParaRPr lang="en-US" sz="1333" dirty="0">
              <a:latin typeface="Century Gothic" panose="020B0502020202020204" pitchFamily="34" charset="0"/>
            </a:endParaRPr>
          </a:p>
        </p:txBody>
      </p:sp>
      <p:sp>
        <p:nvSpPr>
          <p:cNvPr id="110" name="Shape 60">
            <a:extLst>
              <a:ext uri="{FF2B5EF4-FFF2-40B4-BE49-F238E27FC236}">
                <a16:creationId xmlns:a16="http://schemas.microsoft.com/office/drawing/2014/main" id="{25EB983B-9F02-4E47-BF2C-FC7F7A476965}"/>
              </a:ext>
            </a:extLst>
          </p:cNvPr>
          <p:cNvSpPr/>
          <p:nvPr/>
        </p:nvSpPr>
        <p:spPr>
          <a:xfrm>
            <a:off x="0" y="6284190"/>
            <a:ext cx="12192000" cy="585216"/>
          </a:xfrm>
          <a:prstGeom prst="rect">
            <a:avLst/>
          </a:prstGeom>
          <a:solidFill>
            <a:srgbClr val="2C3E50"/>
          </a:solidFill>
          <a:ln w="12700">
            <a:noFill/>
            <a:prstDash val="solid"/>
          </a:ln>
          <a:effectLst>
            <a:outerShdw blurRad="101600" dist="381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1" name="Text 61">
            <a:extLst>
              <a:ext uri="{FF2B5EF4-FFF2-40B4-BE49-F238E27FC236}">
                <a16:creationId xmlns:a16="http://schemas.microsoft.com/office/drawing/2014/main" id="{B4538070-4138-4F85-8893-790D4FE0828B}"/>
              </a:ext>
            </a:extLst>
          </p:cNvPr>
          <p:cNvSpPr/>
          <p:nvPr/>
        </p:nvSpPr>
        <p:spPr>
          <a:xfrm>
            <a:off x="482476" y="6327404"/>
            <a:ext cx="1097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C7D9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 = 105 × VA(0.95) = 100 · VA = 0.65 + 0.01 × ΣFi(30) = 0.95 · Производительность = 100 FP / 1.5 чел.-мес. = 66.67</a:t>
            </a:r>
            <a:endParaRPr lang="en-US" sz="1333" dirty="0">
              <a:solidFill>
                <a:srgbClr val="C7D9E5"/>
              </a:solidFill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FB36D971-BA13-4822-8055-0F107114F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08" y="1425934"/>
            <a:ext cx="624967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2F4157"/>
                </a:solidFill>
                <a:effectLst/>
                <a:latin typeface="Century Gothic" panose="020B0502020202020204" pitchFamily="34" charset="0"/>
              </a:rPr>
              <a:t>Разработан функциональный сайт-портфолио для научно-исследовательской группы «Центр роботизированных решений» </a:t>
            </a:r>
          </a:p>
          <a:p>
            <a:pPr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2F4157"/>
              </a:solidFill>
              <a:effectLst/>
              <a:latin typeface="Century Gothic" panose="020B0502020202020204" pitchFamily="34" charset="0"/>
            </a:endParaRPr>
          </a:p>
          <a:p>
            <a:pPr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2F4157"/>
                </a:solidFill>
                <a:effectLst/>
                <a:latin typeface="Century Gothic" panose="020B0502020202020204" pitchFamily="34" charset="0"/>
              </a:rPr>
              <a:t>Реализована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2F4157"/>
                </a:solidFill>
                <a:effectLst/>
                <a:latin typeface="Century Gothic" panose="020B0502020202020204" pitchFamily="34" charset="0"/>
              </a:rPr>
              <a:t>трёхуровненая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2F4157"/>
                </a:solidFill>
                <a:effectLst/>
                <a:latin typeface="Century Gothic" panose="020B0502020202020204" pitchFamily="34" charset="0"/>
              </a:rPr>
              <a:t> клиент-серверная архитектура на PHP/MySQL/HTML/CSS/JS с паттерном MVC</a:t>
            </a:r>
          </a:p>
          <a:p>
            <a:pPr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2F4157"/>
              </a:solidFill>
              <a:effectLst/>
              <a:latin typeface="Century Gothic" panose="020B0502020202020204" pitchFamily="34" charset="0"/>
            </a:endParaRPr>
          </a:p>
          <a:p>
            <a:pPr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2F4157"/>
                </a:solidFill>
                <a:effectLst/>
                <a:latin typeface="Century Gothic" panose="020B0502020202020204" pitchFamily="34" charset="0"/>
              </a:rPr>
              <a:t>Реализован полный цикл работы с контентом: статьи → проекты → данные → блог → администрирование</a:t>
            </a:r>
          </a:p>
          <a:p>
            <a:pPr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2F4157"/>
              </a:solidFill>
              <a:effectLst/>
              <a:latin typeface="Century Gothic" panose="020B0502020202020204" pitchFamily="34" charset="0"/>
            </a:endParaRPr>
          </a:p>
          <a:p>
            <a:pPr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2F4157"/>
                </a:solidFill>
                <a:effectLst/>
                <a:latin typeface="Century Gothic" panose="020B0502020202020204" pitchFamily="34" charset="0"/>
              </a:rPr>
              <a:t>Создана панель администратора с CRUD-операциями</a:t>
            </a:r>
          </a:p>
          <a:p>
            <a:pPr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2F4157"/>
              </a:solidFill>
              <a:effectLst/>
              <a:latin typeface="Century Gothic" panose="020B0502020202020204" pitchFamily="34" charset="0"/>
            </a:endParaRPr>
          </a:p>
          <a:p>
            <a:pPr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2F4157"/>
                </a:solidFill>
                <a:effectLst/>
                <a:latin typeface="Century Gothic" panose="020B0502020202020204" pitchFamily="34" charset="0"/>
              </a:rPr>
              <a:t>Проведено комплексное тестирование, выявлено и исправлено 6 ошибок, все требования выполнены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B7BADA9-B12D-486D-A876-DDD12500E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500" y="1930486"/>
            <a:ext cx="1024021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69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: один скругленный угол 3">
            <a:extLst>
              <a:ext uri="{FF2B5EF4-FFF2-40B4-BE49-F238E27FC236}">
                <a16:creationId xmlns:a16="http://schemas.microsoft.com/office/drawing/2014/main" id="{BF6EB891-3194-4593-A8A0-3602F56A5569}"/>
              </a:ext>
            </a:extLst>
          </p:cNvPr>
          <p:cNvSpPr/>
          <p:nvPr/>
        </p:nvSpPr>
        <p:spPr>
          <a:xfrm rot="10800000">
            <a:off x="0" y="-18288"/>
            <a:ext cx="12192000" cy="1105382"/>
          </a:xfrm>
          <a:prstGeom prst="round1Rect">
            <a:avLst/>
          </a:prstGeom>
          <a:solidFill>
            <a:srgbClr val="C7D9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4DC86AE-8908-40C5-B899-283A8366459B}"/>
              </a:ext>
            </a:extLst>
          </p:cNvPr>
          <p:cNvSpPr txBox="1">
            <a:spLocks/>
          </p:cNvSpPr>
          <p:nvPr/>
        </p:nvSpPr>
        <p:spPr>
          <a:xfrm>
            <a:off x="693821" y="0"/>
            <a:ext cx="10515600" cy="10870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>
                <a:solidFill>
                  <a:srgbClr val="2C3E50"/>
                </a:solidFill>
                <a:latin typeface="Century Gothic" panose="020B0502020202020204" pitchFamily="34" charset="0"/>
              </a:rPr>
              <a:t>Руководство пользователя</a:t>
            </a:r>
            <a:endParaRPr lang="en-US" b="1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84970A73-8075-40C2-BABD-CB87979045FF}"/>
              </a:ext>
            </a:extLst>
          </p:cNvPr>
          <p:cNvSpPr/>
          <p:nvPr/>
        </p:nvSpPr>
        <p:spPr>
          <a:xfrm>
            <a:off x="1036320" y="1584960"/>
            <a:ext cx="853440" cy="853440"/>
          </a:xfrm>
          <a:prstGeom prst="roundRect">
            <a:avLst/>
          </a:prstGeom>
          <a:solidFill>
            <a:srgbClr val="577C8E"/>
          </a:solidFill>
          <a:ln/>
        </p:spPr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6838806-EB78-4863-AB77-15B78BDFBEF9}"/>
              </a:ext>
            </a:extLst>
          </p:cNvPr>
          <p:cNvSpPr/>
          <p:nvPr/>
        </p:nvSpPr>
        <p:spPr>
          <a:xfrm>
            <a:off x="103632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933" dirty="0">
              <a:solidFill>
                <a:srgbClr val="F5EFEB"/>
              </a:solidFill>
              <a:latin typeface="Century Gothic" panose="020B0502020202020204" pitchFamily="34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03FB3738-4434-4FF7-A23E-34BB8600D0C4}"/>
              </a:ext>
            </a:extLst>
          </p:cNvPr>
          <p:cNvSpPr/>
          <p:nvPr/>
        </p:nvSpPr>
        <p:spPr>
          <a:xfrm>
            <a:off x="36576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2C3E50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Обзор</a:t>
            </a:r>
            <a:endParaRPr lang="en-US" sz="1867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9286B0A8-00F5-47B2-B6EA-03D38F582DAF}"/>
              </a:ext>
            </a:extLst>
          </p:cNvPr>
          <p:cNvSpPr/>
          <p:nvPr/>
        </p:nvSpPr>
        <p:spPr>
          <a:xfrm>
            <a:off x="36576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Главная, </a:t>
            </a:r>
            <a:r>
              <a:rPr lang="ru-RU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статьи</a:t>
            </a:r>
            <a:r>
              <a:rPr lang="en-US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ru-RU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данные, проекты</a:t>
            </a:r>
            <a:r>
              <a:rPr lang="en-US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, новости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EB70CF42-8B0D-4E2E-9F36-AA6AAEEC53BA}"/>
              </a:ext>
            </a:extLst>
          </p:cNvPr>
          <p:cNvSpPr/>
          <p:nvPr/>
        </p:nvSpPr>
        <p:spPr>
          <a:xfrm>
            <a:off x="3352800" y="1584960"/>
            <a:ext cx="853440" cy="853440"/>
          </a:xfrm>
          <a:prstGeom prst="roundRect">
            <a:avLst/>
          </a:prstGeom>
          <a:solidFill>
            <a:srgbClr val="577C8E"/>
          </a:solidFill>
          <a:ln/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A8EA97B1-FF99-4E92-B44E-0D2EF5879E51}"/>
              </a:ext>
            </a:extLst>
          </p:cNvPr>
          <p:cNvSpPr/>
          <p:nvPr/>
        </p:nvSpPr>
        <p:spPr>
          <a:xfrm>
            <a:off x="335280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933" dirty="0">
              <a:solidFill>
                <a:srgbClr val="F5EFEB"/>
              </a:solidFill>
              <a:latin typeface="Century Gothic" panose="020B0502020202020204" pitchFamily="34" charset="0"/>
            </a:endParaRPr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11DCE66E-9616-43A2-A1DE-71157BC547D2}"/>
              </a:ext>
            </a:extLst>
          </p:cNvPr>
          <p:cNvSpPr/>
          <p:nvPr/>
        </p:nvSpPr>
        <p:spPr>
          <a:xfrm>
            <a:off x="268224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867" b="1" dirty="0">
                <a:solidFill>
                  <a:srgbClr val="2C3E50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Связь</a:t>
            </a:r>
            <a:endParaRPr lang="en-US" sz="1867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C7B3D17A-E731-462A-A22B-42BE053642C0}"/>
              </a:ext>
            </a:extLst>
          </p:cNvPr>
          <p:cNvSpPr/>
          <p:nvPr/>
        </p:nvSpPr>
        <p:spPr>
          <a:xfrm>
            <a:off x="268224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 err="1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Создание</a:t>
            </a:r>
            <a:r>
              <a:rPr lang="en-US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обращения для связи с командой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19FECDA8-E7B5-481D-AB00-53D11DA85D72}"/>
              </a:ext>
            </a:extLst>
          </p:cNvPr>
          <p:cNvSpPr/>
          <p:nvPr/>
        </p:nvSpPr>
        <p:spPr>
          <a:xfrm>
            <a:off x="5669280" y="1584960"/>
            <a:ext cx="853440" cy="853440"/>
          </a:xfrm>
          <a:prstGeom prst="roundRect">
            <a:avLst/>
          </a:prstGeom>
          <a:solidFill>
            <a:srgbClr val="577C8E"/>
          </a:solidFill>
          <a:ln/>
        </p:spPr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03B3B090-DDEF-4557-8F3A-37619DDA6616}"/>
              </a:ext>
            </a:extLst>
          </p:cNvPr>
          <p:cNvSpPr/>
          <p:nvPr/>
        </p:nvSpPr>
        <p:spPr>
          <a:xfrm>
            <a:off x="566928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933" dirty="0">
              <a:solidFill>
                <a:srgbClr val="F5EFEB"/>
              </a:solidFill>
              <a:latin typeface="Century Gothic" panose="020B0502020202020204" pitchFamily="34" charset="0"/>
            </a:endParaRPr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F0D017BC-4834-4D70-B897-C8166A4A9482}"/>
              </a:ext>
            </a:extLst>
          </p:cNvPr>
          <p:cNvSpPr/>
          <p:nvPr/>
        </p:nvSpPr>
        <p:spPr>
          <a:xfrm>
            <a:off x="499872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867" b="1" dirty="0">
                <a:solidFill>
                  <a:srgbClr val="2C3E50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Подробное ознакомление</a:t>
            </a:r>
            <a:endParaRPr lang="en-US" sz="1867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020E0DBA-15C5-464C-802F-51BB399D2DE4}"/>
              </a:ext>
            </a:extLst>
          </p:cNvPr>
          <p:cNvSpPr/>
          <p:nvPr/>
        </p:nvSpPr>
        <p:spPr>
          <a:xfrm>
            <a:off x="499872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Страница конкретных проекта, статьи и т.д.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3" name="Shape 16">
            <a:extLst>
              <a:ext uri="{FF2B5EF4-FFF2-40B4-BE49-F238E27FC236}">
                <a16:creationId xmlns:a16="http://schemas.microsoft.com/office/drawing/2014/main" id="{90CB1CD8-D4BF-4B6C-AA17-1D4852F735F7}"/>
              </a:ext>
            </a:extLst>
          </p:cNvPr>
          <p:cNvSpPr/>
          <p:nvPr/>
        </p:nvSpPr>
        <p:spPr>
          <a:xfrm>
            <a:off x="7985760" y="1584960"/>
            <a:ext cx="853440" cy="853440"/>
          </a:xfrm>
          <a:prstGeom prst="roundRect">
            <a:avLst/>
          </a:prstGeom>
          <a:solidFill>
            <a:srgbClr val="577C8E"/>
          </a:solidFill>
          <a:ln/>
        </p:spPr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777D6932-201E-4257-9467-886E30A1E839}"/>
              </a:ext>
            </a:extLst>
          </p:cNvPr>
          <p:cNvSpPr/>
          <p:nvPr/>
        </p:nvSpPr>
        <p:spPr>
          <a:xfrm>
            <a:off x="798576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933" dirty="0">
              <a:solidFill>
                <a:srgbClr val="F5EFEB"/>
              </a:solidFill>
              <a:latin typeface="Century Gothic" panose="020B0502020202020204" pitchFamily="34" charset="0"/>
            </a:endParaRPr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3F19BF9E-664B-4373-90FF-671A2B0924CC}"/>
              </a:ext>
            </a:extLst>
          </p:cNvPr>
          <p:cNvSpPr/>
          <p:nvPr/>
        </p:nvSpPr>
        <p:spPr>
          <a:xfrm>
            <a:off x="731520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867" b="1" dirty="0">
                <a:solidFill>
                  <a:srgbClr val="2C3E50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Фильтрация</a:t>
            </a:r>
            <a:endParaRPr lang="en-US" sz="1867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BBEE26F4-6682-4053-907A-3171052C34E6}"/>
              </a:ext>
            </a:extLst>
          </p:cNvPr>
          <p:cNvSpPr/>
          <p:nvPr/>
        </p:nvSpPr>
        <p:spPr>
          <a:xfrm>
            <a:off x="731520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ru-RU" sz="1400" dirty="0">
                <a:solidFill>
                  <a:srgbClr val="64748B"/>
                </a:solidFill>
                <a:latin typeface="Century Gothic" panose="020B0502020202020204" pitchFamily="34" charset="0"/>
                <a:cs typeface="Calibri" pitchFamily="34" charset="-120"/>
              </a:rPr>
              <a:t>Удобный и быстрый поиск необходимого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28" name="Shape 21">
            <a:extLst>
              <a:ext uri="{FF2B5EF4-FFF2-40B4-BE49-F238E27FC236}">
                <a16:creationId xmlns:a16="http://schemas.microsoft.com/office/drawing/2014/main" id="{3740BEC3-E132-4215-A171-157064E178B1}"/>
              </a:ext>
            </a:extLst>
          </p:cNvPr>
          <p:cNvSpPr/>
          <p:nvPr/>
        </p:nvSpPr>
        <p:spPr>
          <a:xfrm>
            <a:off x="10302240" y="1584960"/>
            <a:ext cx="853440" cy="853440"/>
          </a:xfrm>
          <a:prstGeom prst="roundRect">
            <a:avLst/>
          </a:prstGeom>
          <a:solidFill>
            <a:srgbClr val="577C8E"/>
          </a:solidFill>
          <a:ln/>
        </p:spPr>
      </p:sp>
      <p:sp>
        <p:nvSpPr>
          <p:cNvPr id="29" name="Text 22">
            <a:extLst>
              <a:ext uri="{FF2B5EF4-FFF2-40B4-BE49-F238E27FC236}">
                <a16:creationId xmlns:a16="http://schemas.microsoft.com/office/drawing/2014/main" id="{E6E8883D-0072-4358-9BD6-B3967C3E76B1}"/>
              </a:ext>
            </a:extLst>
          </p:cNvPr>
          <p:cNvSpPr/>
          <p:nvPr/>
        </p:nvSpPr>
        <p:spPr>
          <a:xfrm>
            <a:off x="10302240" y="1584960"/>
            <a:ext cx="853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5EFEB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933" dirty="0">
              <a:solidFill>
                <a:srgbClr val="F5EFEB"/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C47F7968-D7A8-4AD4-9C3A-8B7A9AAB4941}"/>
              </a:ext>
            </a:extLst>
          </p:cNvPr>
          <p:cNvSpPr/>
          <p:nvPr/>
        </p:nvSpPr>
        <p:spPr>
          <a:xfrm>
            <a:off x="9631680" y="2682240"/>
            <a:ext cx="2194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2C3E50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Админ</a:t>
            </a:r>
            <a:endParaRPr lang="en-US" sz="1867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31" name="Text 24">
            <a:extLst>
              <a:ext uri="{FF2B5EF4-FFF2-40B4-BE49-F238E27FC236}">
                <a16:creationId xmlns:a16="http://schemas.microsoft.com/office/drawing/2014/main" id="{9E63FA21-E9D4-4490-8346-997A8CE0D6AA}"/>
              </a:ext>
            </a:extLst>
          </p:cNvPr>
          <p:cNvSpPr/>
          <p:nvPr/>
        </p:nvSpPr>
        <p:spPr>
          <a:xfrm>
            <a:off x="9631680" y="3169920"/>
            <a:ext cx="21945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CRUD, обработка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32" name="Shape 25">
            <a:extLst>
              <a:ext uri="{FF2B5EF4-FFF2-40B4-BE49-F238E27FC236}">
                <a16:creationId xmlns:a16="http://schemas.microsoft.com/office/drawing/2014/main" id="{360F85E5-58F8-4A77-85C1-4A22491A7084}"/>
              </a:ext>
            </a:extLst>
          </p:cNvPr>
          <p:cNvSpPr/>
          <p:nvPr/>
        </p:nvSpPr>
        <p:spPr>
          <a:xfrm>
            <a:off x="609600" y="4511040"/>
            <a:ext cx="10972800" cy="1950720"/>
          </a:xfrm>
          <a:prstGeom prst="roundRect">
            <a:avLst/>
          </a:prstGeom>
          <a:solidFill>
            <a:srgbClr val="C7D9E5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CFB6330B-104E-4C7D-A897-A822A102CB0B}"/>
              </a:ext>
            </a:extLst>
          </p:cNvPr>
          <p:cNvSpPr/>
          <p:nvPr/>
        </p:nvSpPr>
        <p:spPr>
          <a:xfrm>
            <a:off x="853440" y="4632960"/>
            <a:ext cx="104851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2C3E50"/>
                </a:solidFill>
                <a:latin typeface="Century Gothic" panose="020B0502020202020204" pitchFamily="34" charset="0"/>
                <a:ea typeface="Trebuchet MS" pitchFamily="34" charset="-122"/>
                <a:cs typeface="Trebuchet MS" pitchFamily="34" charset="-120"/>
              </a:rPr>
              <a:t>Путь администратора</a:t>
            </a:r>
            <a:endParaRPr lang="en-US" sz="1867" dirty="0">
              <a:solidFill>
                <a:srgbClr val="2C3E50"/>
              </a:solidFill>
              <a:latin typeface="Century Gothic" panose="020B0502020202020204" pitchFamily="34" charset="0"/>
            </a:endParaRPr>
          </a:p>
        </p:txBody>
      </p:sp>
      <p:sp>
        <p:nvSpPr>
          <p:cNvPr id="34" name="Text 27">
            <a:extLst>
              <a:ext uri="{FF2B5EF4-FFF2-40B4-BE49-F238E27FC236}">
                <a16:creationId xmlns:a16="http://schemas.microsoft.com/office/drawing/2014/main" id="{19D56D74-2147-4F74-8FCA-66A5A3B11B79}"/>
              </a:ext>
            </a:extLst>
          </p:cNvPr>
          <p:cNvSpPr/>
          <p:nvPr/>
        </p:nvSpPr>
        <p:spPr>
          <a:xfrm>
            <a:off x="853440" y="5120640"/>
            <a:ext cx="1048512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В поисковой строке написать путь </a:t>
            </a:r>
            <a:r>
              <a:rPr lang="en-US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dirty="0" err="1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obschee</a:t>
            </a:r>
            <a:r>
              <a:rPr lang="en-US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/admin-</a:t>
            </a:r>
            <a:r>
              <a:rPr lang="en-US" dirty="0" err="1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login.php</a:t>
            </a:r>
            <a:r>
              <a:rPr lang="ru-RU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dirty="0" err="1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Авторизация</a:t>
            </a:r>
            <a:r>
              <a:rPr lang="en-US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(admin/admin) → </a:t>
            </a:r>
            <a:r>
              <a:rPr lang="ru-RU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Данные</a:t>
            </a:r>
            <a:r>
              <a:rPr lang="en-US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dirty="0" err="1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Боковое</a:t>
            </a:r>
            <a:r>
              <a:rPr lang="en-US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меню</a:t>
            </a:r>
            <a:r>
              <a:rPr lang="en-US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ru-RU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Статьи, Блог, Данные, Проекты, На сайт</a:t>
            </a:r>
            <a:r>
              <a:rPr lang="en-US" dirty="0">
                <a:solidFill>
                  <a:srgbClr val="64748B"/>
                </a:solidFill>
                <a:latin typeface="Century Gothic" panose="020B0502020202020204" pitchFamily="34" charset="0"/>
                <a:ea typeface="Calibri" pitchFamily="34" charset="-122"/>
                <a:cs typeface="Calibri" pitchFamily="34" charset="-120"/>
              </a:rPr>
              <a:t>→ CRUD + изменение статусов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35" name="Picture 4">
            <a:extLst>
              <a:ext uri="{FF2B5EF4-FFF2-40B4-BE49-F238E27FC236}">
                <a16:creationId xmlns:a16="http://schemas.microsoft.com/office/drawing/2014/main" id="{61E811D5-40E8-4C06-8473-4E981CBA6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91871" y="611862"/>
            <a:ext cx="457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Овал 35">
            <a:extLst>
              <a:ext uri="{FF2B5EF4-FFF2-40B4-BE49-F238E27FC236}">
                <a16:creationId xmlns:a16="http://schemas.microsoft.com/office/drawing/2014/main" id="{ED0A8848-38BC-4688-BE0F-9BFCD212A09C}"/>
              </a:ext>
            </a:extLst>
          </p:cNvPr>
          <p:cNvSpPr/>
          <p:nvPr/>
        </p:nvSpPr>
        <p:spPr>
          <a:xfrm>
            <a:off x="2560320" y="1981200"/>
            <a:ext cx="101600" cy="1016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549A4DD5-3057-4AF4-9A75-D7B8C06E04AE}"/>
              </a:ext>
            </a:extLst>
          </p:cNvPr>
          <p:cNvSpPr/>
          <p:nvPr/>
        </p:nvSpPr>
        <p:spPr>
          <a:xfrm>
            <a:off x="4897120" y="1981200"/>
            <a:ext cx="101600" cy="1016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1F1B59DA-1670-4EC1-9A44-D369BD04A13E}"/>
              </a:ext>
            </a:extLst>
          </p:cNvPr>
          <p:cNvSpPr/>
          <p:nvPr/>
        </p:nvSpPr>
        <p:spPr>
          <a:xfrm>
            <a:off x="7172960" y="1981200"/>
            <a:ext cx="101600" cy="1016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CBF05299-962D-4F06-ACD8-6E4DA6CB90F1}"/>
              </a:ext>
            </a:extLst>
          </p:cNvPr>
          <p:cNvSpPr/>
          <p:nvPr/>
        </p:nvSpPr>
        <p:spPr>
          <a:xfrm>
            <a:off x="9509760" y="1981200"/>
            <a:ext cx="101600" cy="101600"/>
          </a:xfrm>
          <a:prstGeom prst="ellipse">
            <a:avLst/>
          </a:prstGeom>
          <a:solidFill>
            <a:srgbClr val="2C3E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57588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33F40-5607-40E7-A1A1-E0DE44A4B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4400" b="1" dirty="0">
                <a:solidFill>
                  <a:srgbClr val="CEAF9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и отладка основных модулей</a:t>
            </a:r>
            <a:br>
              <a:rPr lang="ru-RU" sz="4400" b="1" dirty="0">
                <a:solidFill>
                  <a:srgbClr val="CEAF9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C3E428-8C4E-487C-803A-0F226F5DD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7501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49A67-A789-440C-9667-34953C5BA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D65EEC9-B568-4A42-97B2-74F639948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9176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0C003366-80A9-45C3-9761-45579BB71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92218" y="12444413"/>
            <a:ext cx="1293495" cy="129349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BE5424-54ED-4541-ABD9-2F2F1A278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85926" y="12600086"/>
            <a:ext cx="1015284" cy="10152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197235-BB14-44E5-BEF2-9C51F74F23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32296" y="12444413"/>
            <a:ext cx="1293495" cy="129349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EFEC63A-7411-4F70-9F10-5E0F2150D3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696901" y="12600086"/>
            <a:ext cx="1204771" cy="120477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8B35FE2-1298-4A5E-A22E-CACFF5C66E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297033" y="12706137"/>
            <a:ext cx="803181" cy="80318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E5AA12E-A3D0-4A55-B4BF-E4BA70045E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539141" y="12600086"/>
            <a:ext cx="1015284" cy="101528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4691F28-C699-468D-A27B-4C4E129759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97216" y="12566951"/>
            <a:ext cx="1048419" cy="1048419"/>
          </a:xfrm>
          <a:prstGeom prst="rect">
            <a:avLst/>
          </a:prstGeom>
        </p:spPr>
      </p:pic>
      <p:pic>
        <p:nvPicPr>
          <p:cNvPr id="22" name="Объект 4">
            <a:extLst>
              <a:ext uri="{FF2B5EF4-FFF2-40B4-BE49-F238E27FC236}">
                <a16:creationId xmlns:a16="http://schemas.microsoft.com/office/drawing/2014/main" id="{0A035D21-DE56-4C6F-86D6-760CA4F1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616542" y="-5142547"/>
            <a:ext cx="1293495" cy="129349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FC94B25-F568-478A-9FE2-1AA43DD0C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839690" y="-5003442"/>
            <a:ext cx="1015284" cy="101528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08EB0C2-05FA-4D40-B3BB-AE06CAB0DE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728116" y="-5142547"/>
            <a:ext cx="1293495" cy="129349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3207AC9-7FA0-4468-80D7-AA2878B524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8852" y="-5098185"/>
            <a:ext cx="1204771" cy="120477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B516632-F303-44EB-B8E9-DBCA463615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80740" y="-4897390"/>
            <a:ext cx="803181" cy="803181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148C05A-8266-4BBB-BF64-1BFD67EBF0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0525" y="-5003442"/>
            <a:ext cx="1015284" cy="101528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1149992-0BD1-4328-A1AD-8CC71283E0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259892" y="-5020009"/>
            <a:ext cx="1048419" cy="1048419"/>
          </a:xfrm>
          <a:prstGeom prst="rect">
            <a:avLst/>
          </a:prstGeom>
        </p:spPr>
      </p:pic>
      <p:pic>
        <p:nvPicPr>
          <p:cNvPr id="29" name="Объект 4">
            <a:extLst>
              <a:ext uri="{FF2B5EF4-FFF2-40B4-BE49-F238E27FC236}">
                <a16:creationId xmlns:a16="http://schemas.microsoft.com/office/drawing/2014/main" id="{D672DB12-454C-4463-8460-650B00964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904" y="-5142547"/>
            <a:ext cx="1293495" cy="1293495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56E2BF8-9F80-4F37-89FC-EA26A82CE6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98756" y="-5003442"/>
            <a:ext cx="1015284" cy="1015284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463348A-77F3-45EF-BB00-9FF3ED344C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10330" y="-5142547"/>
            <a:ext cx="1293495" cy="129349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5B3684C-2378-4EF3-B184-D54418139A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17301" y="-5098185"/>
            <a:ext cx="1204771" cy="1204771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3B61592-21B4-4BD1-B65C-851EC37D36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219186" y="-4897390"/>
            <a:ext cx="803181" cy="803181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C12ED24-9EA9-45D5-8FCF-C6D3A26271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08971" y="-5003442"/>
            <a:ext cx="1015284" cy="101528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4B65740-D445-4B40-A529-FB02D9ABA96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78554" y="-5020009"/>
            <a:ext cx="1048419" cy="1048419"/>
          </a:xfrm>
          <a:prstGeom prst="rect">
            <a:avLst/>
          </a:prstGeom>
        </p:spPr>
      </p:pic>
      <p:pic>
        <p:nvPicPr>
          <p:cNvPr id="36" name="Объект 4">
            <a:extLst>
              <a:ext uri="{FF2B5EF4-FFF2-40B4-BE49-F238E27FC236}">
                <a16:creationId xmlns:a16="http://schemas.microsoft.com/office/drawing/2014/main" id="{E2B5B9DC-3071-45D9-A549-1ABAE3075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784381" y="-7125726"/>
            <a:ext cx="1293495" cy="129349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4DE300DD-90E8-4AF0-A597-3BBFC0A056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007529" y="-6986621"/>
            <a:ext cx="1015284" cy="1015284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15FBFFB3-9554-46CB-98BF-E56E835459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895955" y="-7125726"/>
            <a:ext cx="1293495" cy="129349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B8CB431-47F6-41FC-BC47-F39CA23CAF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88987" y="-7081364"/>
            <a:ext cx="1204771" cy="120477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0C4063E2-B113-44BC-9EEA-4D57D11C50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787099" y="-6880569"/>
            <a:ext cx="803181" cy="803181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8BA05EFB-9AB8-45E0-9F69-B72DBAE2B7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3397314" y="-6986621"/>
            <a:ext cx="1015284" cy="1015284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B00BDC87-2535-4F85-989A-EDEFFFE763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10427731" y="-7003188"/>
            <a:ext cx="1048419" cy="1048419"/>
          </a:xfrm>
          <a:prstGeom prst="rect">
            <a:avLst/>
          </a:prstGeom>
        </p:spPr>
      </p:pic>
      <p:pic>
        <p:nvPicPr>
          <p:cNvPr id="43" name="Объект 4">
            <a:extLst>
              <a:ext uri="{FF2B5EF4-FFF2-40B4-BE49-F238E27FC236}">
                <a16:creationId xmlns:a16="http://schemas.microsoft.com/office/drawing/2014/main" id="{EC69D091-0C21-4008-8F07-35EECFAE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4065" y="-7125726"/>
            <a:ext cx="1293495" cy="129349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CFBBD0F0-D7D4-4FCC-B1A3-992D6B8B6C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0917" y="-6986621"/>
            <a:ext cx="1015284" cy="1015284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6F7E205B-E158-4E78-9995-0231401526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2491" y="-7125726"/>
            <a:ext cx="1293495" cy="1293495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52253CC7-28C5-4A62-83B9-A7262A3CEE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9462" y="-7081364"/>
            <a:ext cx="1204771" cy="1204771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91DC5386-7528-458B-984A-7C63972A66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1347" y="-6880569"/>
            <a:ext cx="803181" cy="803181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EBB2639F-1942-4638-9BE8-7C771470FF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41132" y="-6986621"/>
            <a:ext cx="1015284" cy="1015284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C77A2B96-EF3F-4DDE-9EC9-23AA0D6CE7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0715" y="-7003188"/>
            <a:ext cx="1048419" cy="1048419"/>
          </a:xfrm>
          <a:prstGeom prst="rect">
            <a:avLst/>
          </a:prstGeom>
        </p:spPr>
      </p:pic>
      <p:pic>
        <p:nvPicPr>
          <p:cNvPr id="64" name="Объект 4">
            <a:extLst>
              <a:ext uri="{FF2B5EF4-FFF2-40B4-BE49-F238E27FC236}">
                <a16:creationId xmlns:a16="http://schemas.microsoft.com/office/drawing/2014/main" id="{A7AA140A-4CDD-4F97-AB7D-A0C2D5795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64245" y="-9287082"/>
            <a:ext cx="1293495" cy="1293495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9DAA31C0-1623-4EB1-BA77-13B4556463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787393" y="-9147977"/>
            <a:ext cx="1015284" cy="1015284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E40955E9-2B33-4442-BB19-5DB73A0B2E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675819" y="-9287082"/>
            <a:ext cx="1293495" cy="1293495"/>
          </a:xfrm>
          <a:prstGeom prst="rect">
            <a:avLst/>
          </a:prstGeom>
        </p:spPr>
      </p:pic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8647C88E-5938-400C-86DC-0BBD8FD84D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31149" y="-9242720"/>
            <a:ext cx="1204771" cy="1204771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BAAAF049-7DD4-49F2-A8C7-2534D63622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33037" y="-9041925"/>
            <a:ext cx="803181" cy="803181"/>
          </a:xfrm>
          <a:prstGeom prst="rect">
            <a:avLst/>
          </a:prstGeom>
        </p:spPr>
      </p:pic>
      <p:pic>
        <p:nvPicPr>
          <p:cNvPr id="69" name="Рисунок 68">
            <a:extLst>
              <a:ext uri="{FF2B5EF4-FFF2-40B4-BE49-F238E27FC236}">
                <a16:creationId xmlns:a16="http://schemas.microsoft.com/office/drawing/2014/main" id="{5855A36A-AACD-4A2A-BE0B-C814174EEF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2822" y="-9147977"/>
            <a:ext cx="1015284" cy="1015284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366E843A-CAED-4FA1-AFE9-E8173051651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207595" y="-9164544"/>
            <a:ext cx="1048419" cy="1048419"/>
          </a:xfrm>
          <a:prstGeom prst="rect">
            <a:avLst/>
          </a:prstGeom>
        </p:spPr>
      </p:pic>
      <p:pic>
        <p:nvPicPr>
          <p:cNvPr id="71" name="Объект 4">
            <a:extLst>
              <a:ext uri="{FF2B5EF4-FFF2-40B4-BE49-F238E27FC236}">
                <a16:creationId xmlns:a16="http://schemas.microsoft.com/office/drawing/2014/main" id="{E6A36CCC-8F63-4FA5-ADBA-AD163EDDC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201" y="-9287082"/>
            <a:ext cx="1293495" cy="1293495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E9B74204-0577-44E8-B83A-F488EB381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51053" y="-9147977"/>
            <a:ext cx="1015284" cy="1015284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FD3C315F-7290-4408-B30A-239E4E1585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62627" y="-9287082"/>
            <a:ext cx="1293495" cy="1293495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32C45A18-0C9E-4846-81F2-456BF67454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69598" y="-9242720"/>
            <a:ext cx="1204771" cy="1204771"/>
          </a:xfrm>
          <a:prstGeom prst="rect">
            <a:avLst/>
          </a:prstGeom>
        </p:spPr>
      </p:pic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F10E97CD-E668-470E-A185-74E69E8400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271483" y="-9041925"/>
            <a:ext cx="803181" cy="803181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F589EBF0-F2A4-4B8D-A459-C7CE8A5788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61268" y="-9147977"/>
            <a:ext cx="1015284" cy="1015284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C7613EB9-7611-41FD-8A2E-8C99EEC935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30851" y="-9164544"/>
            <a:ext cx="1048419" cy="1048419"/>
          </a:xfrm>
          <a:prstGeom prst="rect">
            <a:avLst/>
          </a:prstGeom>
        </p:spPr>
      </p:pic>
      <p:pic>
        <p:nvPicPr>
          <p:cNvPr id="78" name="Объект 4">
            <a:extLst>
              <a:ext uri="{FF2B5EF4-FFF2-40B4-BE49-F238E27FC236}">
                <a16:creationId xmlns:a16="http://schemas.microsoft.com/office/drawing/2014/main" id="{A8FA87BD-7844-4065-9F8B-C7DD478E4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784381" y="-3280885"/>
            <a:ext cx="1293495" cy="1293495"/>
          </a:xfrm>
          <a:prstGeom prst="rect">
            <a:avLst/>
          </a:prstGeom>
        </p:spPr>
      </p:pic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37061EE-D7C2-477E-A694-A928EF052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007529" y="-3141780"/>
            <a:ext cx="1015284" cy="1015284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BB3A1563-05F6-4404-BA60-9E8280533F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895955" y="-3280885"/>
            <a:ext cx="1293495" cy="1293495"/>
          </a:xfrm>
          <a:prstGeom prst="rect">
            <a:avLst/>
          </a:prstGeom>
        </p:spPr>
      </p:pic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753996FE-BE67-4871-9BB0-62708B51CF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88987" y="-3236523"/>
            <a:ext cx="1204771" cy="1204771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F35765EB-E2AB-4DA0-BD83-8CA887FE5F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787099" y="-3035728"/>
            <a:ext cx="803181" cy="803181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1AC63F21-7505-4E0F-A256-5427DA281B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3397314" y="-3141780"/>
            <a:ext cx="1015284" cy="1015284"/>
          </a:xfrm>
          <a:prstGeom prst="rect">
            <a:avLst/>
          </a:prstGeom>
        </p:spPr>
      </p:pic>
      <p:pic>
        <p:nvPicPr>
          <p:cNvPr id="84" name="Рисунок 83">
            <a:extLst>
              <a:ext uri="{FF2B5EF4-FFF2-40B4-BE49-F238E27FC236}">
                <a16:creationId xmlns:a16="http://schemas.microsoft.com/office/drawing/2014/main" id="{94B24DCB-9E30-4594-9DBE-222B71EBF8E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10427731" y="-3158347"/>
            <a:ext cx="1048419" cy="1048419"/>
          </a:xfrm>
          <a:prstGeom prst="rect">
            <a:avLst/>
          </a:prstGeom>
        </p:spPr>
      </p:pic>
      <p:pic>
        <p:nvPicPr>
          <p:cNvPr id="85" name="Объект 4">
            <a:extLst>
              <a:ext uri="{FF2B5EF4-FFF2-40B4-BE49-F238E27FC236}">
                <a16:creationId xmlns:a16="http://schemas.microsoft.com/office/drawing/2014/main" id="{6E97DABD-BF3D-4876-82B0-AA5D48011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4065" y="-3280885"/>
            <a:ext cx="1293495" cy="1293495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548B786D-6A82-4A58-B582-373880ADB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0917" y="-3141780"/>
            <a:ext cx="1015284" cy="1015284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AEDA5100-F475-40FD-8216-C9FA6D70BB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2491" y="-3280885"/>
            <a:ext cx="1293495" cy="1293495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CA59D9E7-160F-4955-B84D-AC48D1F768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9462" y="-3236523"/>
            <a:ext cx="1204771" cy="1204771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A6FF9D88-4C31-4A7E-BA7F-206C07F5C1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1347" y="-3035728"/>
            <a:ext cx="803181" cy="803181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85A08FBB-B416-4E04-BF5F-79FD183AC9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41132" y="-3141780"/>
            <a:ext cx="1015284" cy="1015284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5FA14820-1093-4D88-9F7A-043ADC3B70A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0715" y="-3158347"/>
            <a:ext cx="1048419" cy="1048419"/>
          </a:xfrm>
          <a:prstGeom prst="rect">
            <a:avLst/>
          </a:prstGeom>
        </p:spPr>
      </p:pic>
      <p:pic>
        <p:nvPicPr>
          <p:cNvPr id="92" name="Объект 4">
            <a:extLst>
              <a:ext uri="{FF2B5EF4-FFF2-40B4-BE49-F238E27FC236}">
                <a16:creationId xmlns:a16="http://schemas.microsoft.com/office/drawing/2014/main" id="{0E21CC2B-21B5-4A51-9769-318E908CA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117901" y="3900626"/>
            <a:ext cx="1293495" cy="1293495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8DE3A7B1-B107-4B67-9BD4-41BEA4AA94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58951" y="4039731"/>
            <a:ext cx="1015284" cy="1015284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614E55D4-51F9-41F3-8D58-32703143FF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0525" y="3900626"/>
            <a:ext cx="1293495" cy="1293495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839D07AB-8DE3-4159-AFE0-AFD846A504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7493" y="3944988"/>
            <a:ext cx="1204771" cy="1204771"/>
          </a:xfrm>
          <a:prstGeom prst="rect">
            <a:avLst/>
          </a:prstGeom>
        </p:spPr>
      </p:pic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1C8BCEF6-381D-4A93-80BC-3832D8E96A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879381" y="4145783"/>
            <a:ext cx="803181" cy="803181"/>
          </a:xfrm>
          <a:prstGeom prst="rect">
            <a:avLst/>
          </a:prstGeom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375757D7-E1CE-4411-8ED7-C1F47C30B8F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269166" y="4039731"/>
            <a:ext cx="1015284" cy="1015284"/>
          </a:xfrm>
          <a:prstGeom prst="rect">
            <a:avLst/>
          </a:prstGeom>
        </p:spPr>
      </p:pic>
      <p:pic>
        <p:nvPicPr>
          <p:cNvPr id="98" name="Рисунок 97">
            <a:extLst>
              <a:ext uri="{FF2B5EF4-FFF2-40B4-BE49-F238E27FC236}">
                <a16:creationId xmlns:a16="http://schemas.microsoft.com/office/drawing/2014/main" id="{62C1F4D1-8850-46F9-A90E-5316655746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761251" y="4023164"/>
            <a:ext cx="1048419" cy="1048419"/>
          </a:xfrm>
          <a:prstGeom prst="rect">
            <a:avLst/>
          </a:prstGeom>
        </p:spPr>
      </p:pic>
      <p:pic>
        <p:nvPicPr>
          <p:cNvPr id="99" name="Объект 4">
            <a:extLst>
              <a:ext uri="{FF2B5EF4-FFF2-40B4-BE49-F238E27FC236}">
                <a16:creationId xmlns:a16="http://schemas.microsoft.com/office/drawing/2014/main" id="{8209CED2-5298-4594-A5B0-ACF899F580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0545" y="3900626"/>
            <a:ext cx="1293495" cy="1293495"/>
          </a:xfrm>
          <a:prstGeom prst="rect">
            <a:avLst/>
          </a:prstGeom>
        </p:spPr>
      </p:pic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10C990BD-0D0D-458F-ABB6-8959FF1C3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97397" y="4039731"/>
            <a:ext cx="1015284" cy="1015284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440769DD-9BAC-4277-9751-F748D56879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08971" y="3900626"/>
            <a:ext cx="1293495" cy="1293495"/>
          </a:xfrm>
          <a:prstGeom prst="rect">
            <a:avLst/>
          </a:prstGeom>
        </p:spPr>
      </p:pic>
      <p:pic>
        <p:nvPicPr>
          <p:cNvPr id="102" name="Рисунок 101">
            <a:extLst>
              <a:ext uri="{FF2B5EF4-FFF2-40B4-BE49-F238E27FC236}">
                <a16:creationId xmlns:a16="http://schemas.microsoft.com/office/drawing/2014/main" id="{27B2F604-7DB9-4A0A-9CF5-5A527BD513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15942" y="3944988"/>
            <a:ext cx="1204771" cy="1204771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CE0039BB-4402-40B0-BBB7-6D74AD770A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717827" y="4145783"/>
            <a:ext cx="803181" cy="803181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FFB32511-9599-48A2-B069-5BD16F91FB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107612" y="4039731"/>
            <a:ext cx="1015284" cy="1015284"/>
          </a:xfrm>
          <a:prstGeom prst="rect">
            <a:avLst/>
          </a:prstGeom>
        </p:spPr>
      </p:pic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3E897896-23D1-463E-8014-62D73E563F4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77195" y="4023164"/>
            <a:ext cx="1048419" cy="1048419"/>
          </a:xfrm>
          <a:prstGeom prst="rect">
            <a:avLst/>
          </a:prstGeom>
        </p:spPr>
      </p:pic>
      <p:pic>
        <p:nvPicPr>
          <p:cNvPr id="106" name="Объект 4">
            <a:extLst>
              <a:ext uri="{FF2B5EF4-FFF2-40B4-BE49-F238E27FC236}">
                <a16:creationId xmlns:a16="http://schemas.microsoft.com/office/drawing/2014/main" id="{900E3C72-F8FF-4090-84A0-F2B609D6E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5740" y="1917447"/>
            <a:ext cx="1293495" cy="1293495"/>
          </a:xfrm>
          <a:prstGeom prst="rect">
            <a:avLst/>
          </a:prstGeom>
        </p:spPr>
      </p:pic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36083486-A4A5-4765-BFEB-38C6DF9982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508888" y="2056552"/>
            <a:ext cx="1015284" cy="1015284"/>
          </a:xfrm>
          <a:prstGeom prst="rect">
            <a:avLst/>
          </a:prstGeom>
        </p:spPr>
      </p:pic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1BCA8E18-C494-4824-8358-61CF9ECD04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397314" y="1917447"/>
            <a:ext cx="1293495" cy="1293495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E5C7360F-87B7-4997-9B76-B16276C863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09654" y="1961809"/>
            <a:ext cx="1204771" cy="1204771"/>
          </a:xfrm>
          <a:prstGeom prst="rect">
            <a:avLst/>
          </a:prstGeom>
        </p:spPr>
      </p:pic>
      <p:pic>
        <p:nvPicPr>
          <p:cNvPr id="110" name="Рисунок 109">
            <a:extLst>
              <a:ext uri="{FF2B5EF4-FFF2-40B4-BE49-F238E27FC236}">
                <a16:creationId xmlns:a16="http://schemas.microsoft.com/office/drawing/2014/main" id="{4A31CF14-389E-487E-AC38-B0C910B698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11542" y="2162604"/>
            <a:ext cx="803181" cy="803181"/>
          </a:xfrm>
          <a:prstGeom prst="rect">
            <a:avLst/>
          </a:prstGeom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E1297AB4-7375-4C84-BEA7-C78F36EDB9B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327" y="2056552"/>
            <a:ext cx="1015284" cy="1015284"/>
          </a:xfrm>
          <a:prstGeom prst="rect">
            <a:avLst/>
          </a:prstGeom>
        </p:spPr>
      </p:pic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070CEB5D-52BF-4777-9405-808B04526B6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929090" y="2039985"/>
            <a:ext cx="1048419" cy="1048419"/>
          </a:xfrm>
          <a:prstGeom prst="rect">
            <a:avLst/>
          </a:prstGeom>
        </p:spPr>
      </p:pic>
      <p:pic>
        <p:nvPicPr>
          <p:cNvPr id="113" name="Объект 4">
            <a:extLst>
              <a:ext uri="{FF2B5EF4-FFF2-40B4-BE49-F238E27FC236}">
                <a16:creationId xmlns:a16="http://schemas.microsoft.com/office/drawing/2014/main" id="{EC191FDC-6470-4F3C-AB44-5C52259EB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2706" y="1917447"/>
            <a:ext cx="1293495" cy="1293495"/>
          </a:xfrm>
          <a:prstGeom prst="rect">
            <a:avLst/>
          </a:prstGeom>
        </p:spPr>
      </p:pic>
      <p:pic>
        <p:nvPicPr>
          <p:cNvPr id="114" name="Рисунок 113">
            <a:extLst>
              <a:ext uri="{FF2B5EF4-FFF2-40B4-BE49-F238E27FC236}">
                <a16:creationId xmlns:a16="http://schemas.microsoft.com/office/drawing/2014/main" id="{50B80FE0-A27B-4807-9B84-07AFB5B6C5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29558" y="2056552"/>
            <a:ext cx="1015284" cy="1015284"/>
          </a:xfrm>
          <a:prstGeom prst="rect">
            <a:avLst/>
          </a:prstGeom>
        </p:spPr>
      </p:pic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E680B064-66E2-469E-8B8B-C49C49F0B9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1132" y="1917447"/>
            <a:ext cx="1293495" cy="1293495"/>
          </a:xfrm>
          <a:prstGeom prst="rect">
            <a:avLst/>
          </a:prstGeom>
        </p:spPr>
      </p:pic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A85E855D-733E-43AF-8A1F-49050DB82C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48103" y="1961809"/>
            <a:ext cx="1204771" cy="1204771"/>
          </a:xfrm>
          <a:prstGeom prst="rect">
            <a:avLst/>
          </a:prstGeom>
        </p:spPr>
      </p:pic>
      <p:pic>
        <p:nvPicPr>
          <p:cNvPr id="117" name="Рисунок 116">
            <a:extLst>
              <a:ext uri="{FF2B5EF4-FFF2-40B4-BE49-F238E27FC236}">
                <a16:creationId xmlns:a16="http://schemas.microsoft.com/office/drawing/2014/main" id="{AFAA2431-FA11-4415-B8C2-D0303ABB57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549988" y="2162604"/>
            <a:ext cx="803181" cy="803181"/>
          </a:xfrm>
          <a:prstGeom prst="rect">
            <a:avLst/>
          </a:prstGeom>
        </p:spPr>
      </p:pic>
      <p:pic>
        <p:nvPicPr>
          <p:cNvPr id="118" name="Рисунок 117">
            <a:extLst>
              <a:ext uri="{FF2B5EF4-FFF2-40B4-BE49-F238E27FC236}">
                <a16:creationId xmlns:a16="http://schemas.microsoft.com/office/drawing/2014/main" id="{2D69CCDA-661B-40B8-9AFF-E87391BBD9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939773" y="2056552"/>
            <a:ext cx="1015284" cy="1015284"/>
          </a:xfrm>
          <a:prstGeom prst="rect">
            <a:avLst/>
          </a:prstGeom>
        </p:spPr>
      </p:pic>
      <p:pic>
        <p:nvPicPr>
          <p:cNvPr id="119" name="Рисунок 118">
            <a:extLst>
              <a:ext uri="{FF2B5EF4-FFF2-40B4-BE49-F238E27FC236}">
                <a16:creationId xmlns:a16="http://schemas.microsoft.com/office/drawing/2014/main" id="{C7FE5F76-E150-42CB-8021-A3B63C1540F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09356" y="2039985"/>
            <a:ext cx="1048419" cy="1048419"/>
          </a:xfrm>
          <a:prstGeom prst="rect">
            <a:avLst/>
          </a:prstGeom>
        </p:spPr>
      </p:pic>
      <p:pic>
        <p:nvPicPr>
          <p:cNvPr id="120" name="Объект 4">
            <a:extLst>
              <a:ext uri="{FF2B5EF4-FFF2-40B4-BE49-F238E27FC236}">
                <a16:creationId xmlns:a16="http://schemas.microsoft.com/office/drawing/2014/main" id="{907CF672-0386-4299-A441-6E33E947B6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65604" y="-243909"/>
            <a:ext cx="1293495" cy="1293495"/>
          </a:xfrm>
          <a:prstGeom prst="rect">
            <a:avLst/>
          </a:prstGeom>
        </p:spPr>
      </p:pic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6A5BF168-4CAC-44DB-BCF4-8660AB6A5B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11248" y="-104804"/>
            <a:ext cx="1015284" cy="1015284"/>
          </a:xfrm>
          <a:prstGeom prst="rect">
            <a:avLst/>
          </a:prstGeom>
        </p:spPr>
      </p:pic>
      <p:pic>
        <p:nvPicPr>
          <p:cNvPr id="122" name="Рисунок 121">
            <a:extLst>
              <a:ext uri="{FF2B5EF4-FFF2-40B4-BE49-F238E27FC236}">
                <a16:creationId xmlns:a16="http://schemas.microsoft.com/office/drawing/2014/main" id="{7B8B7840-901D-4A47-87E9-6998D6B7C8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2822" y="-243909"/>
            <a:ext cx="1293495" cy="1293495"/>
          </a:xfrm>
          <a:prstGeom prst="rect">
            <a:avLst/>
          </a:prstGeom>
        </p:spPr>
      </p:pic>
      <p:pic>
        <p:nvPicPr>
          <p:cNvPr id="123" name="Рисунок 122">
            <a:extLst>
              <a:ext uri="{FF2B5EF4-FFF2-40B4-BE49-F238E27FC236}">
                <a16:creationId xmlns:a16="http://schemas.microsoft.com/office/drawing/2014/main" id="{56414F72-1F01-446F-AE24-3BEC3CEEB4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329790" y="-199547"/>
            <a:ext cx="1204771" cy="1204771"/>
          </a:xfrm>
          <a:prstGeom prst="rect">
            <a:avLst/>
          </a:prstGeom>
        </p:spPr>
      </p:pic>
      <p:pic>
        <p:nvPicPr>
          <p:cNvPr id="124" name="Рисунок 123">
            <a:extLst>
              <a:ext uri="{FF2B5EF4-FFF2-40B4-BE49-F238E27FC236}">
                <a16:creationId xmlns:a16="http://schemas.microsoft.com/office/drawing/2014/main" id="{D6692026-FD79-4984-BF1B-5F43676BFB3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31678" y="1248"/>
            <a:ext cx="803181" cy="803181"/>
          </a:xfrm>
          <a:prstGeom prst="rect">
            <a:avLst/>
          </a:prstGeom>
        </p:spPr>
      </p:pic>
      <p:pic>
        <p:nvPicPr>
          <p:cNvPr id="125" name="Рисунок 124">
            <a:extLst>
              <a:ext uri="{FF2B5EF4-FFF2-40B4-BE49-F238E27FC236}">
                <a16:creationId xmlns:a16="http://schemas.microsoft.com/office/drawing/2014/main" id="{6F5960F2-D1AD-47C7-A79E-5FA76545C3B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321463" y="-104804"/>
            <a:ext cx="1015284" cy="1015284"/>
          </a:xfrm>
          <a:prstGeom prst="rect">
            <a:avLst/>
          </a:prstGeom>
        </p:spPr>
      </p:pic>
      <p:pic>
        <p:nvPicPr>
          <p:cNvPr id="126" name="Рисунок 125">
            <a:extLst>
              <a:ext uri="{FF2B5EF4-FFF2-40B4-BE49-F238E27FC236}">
                <a16:creationId xmlns:a16="http://schemas.microsoft.com/office/drawing/2014/main" id="{BD876129-25E2-4E0B-B717-AF557306EA1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708954" y="-121371"/>
            <a:ext cx="1048419" cy="1048419"/>
          </a:xfrm>
          <a:prstGeom prst="rect">
            <a:avLst/>
          </a:prstGeom>
        </p:spPr>
      </p:pic>
      <p:pic>
        <p:nvPicPr>
          <p:cNvPr id="127" name="Объект 4">
            <a:extLst>
              <a:ext uri="{FF2B5EF4-FFF2-40B4-BE49-F238E27FC236}">
                <a16:creationId xmlns:a16="http://schemas.microsoft.com/office/drawing/2014/main" id="{CA136950-33D1-413F-BE1E-3686E7DC7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72842" y="-243909"/>
            <a:ext cx="1293495" cy="1293495"/>
          </a:xfrm>
          <a:prstGeom prst="rect">
            <a:avLst/>
          </a:prstGeom>
        </p:spPr>
      </p:pic>
      <p:pic>
        <p:nvPicPr>
          <p:cNvPr id="128" name="Рисунок 127">
            <a:extLst>
              <a:ext uri="{FF2B5EF4-FFF2-40B4-BE49-F238E27FC236}">
                <a16:creationId xmlns:a16="http://schemas.microsoft.com/office/drawing/2014/main" id="{0AE8F324-7E9D-4110-9A3B-61A36F811A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49694" y="-104804"/>
            <a:ext cx="1015284" cy="1015284"/>
          </a:xfrm>
          <a:prstGeom prst="rect">
            <a:avLst/>
          </a:prstGeom>
        </p:spPr>
      </p:pic>
      <p:pic>
        <p:nvPicPr>
          <p:cNvPr id="129" name="Рисунок 128">
            <a:extLst>
              <a:ext uri="{FF2B5EF4-FFF2-40B4-BE49-F238E27FC236}">
                <a16:creationId xmlns:a16="http://schemas.microsoft.com/office/drawing/2014/main" id="{89869314-9E90-48FC-AF53-64E4BE7E8B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61268" y="-243909"/>
            <a:ext cx="1293495" cy="1293495"/>
          </a:xfrm>
          <a:prstGeom prst="rect">
            <a:avLst/>
          </a:prstGeom>
        </p:spPr>
      </p:pic>
      <p:pic>
        <p:nvPicPr>
          <p:cNvPr id="130" name="Рисунок 129">
            <a:extLst>
              <a:ext uri="{FF2B5EF4-FFF2-40B4-BE49-F238E27FC236}">
                <a16:creationId xmlns:a16="http://schemas.microsoft.com/office/drawing/2014/main" id="{FFD0BEF6-9859-4DA2-81CA-3C1F681B00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68239" y="-199547"/>
            <a:ext cx="1204771" cy="1204771"/>
          </a:xfrm>
          <a:prstGeom prst="rect">
            <a:avLst/>
          </a:prstGeom>
        </p:spPr>
      </p:pic>
      <p:pic>
        <p:nvPicPr>
          <p:cNvPr id="131" name="Рисунок 130">
            <a:extLst>
              <a:ext uri="{FF2B5EF4-FFF2-40B4-BE49-F238E27FC236}">
                <a16:creationId xmlns:a16="http://schemas.microsoft.com/office/drawing/2014/main" id="{3DF9DA03-881B-490D-A271-E71B28E4F3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770124" y="1248"/>
            <a:ext cx="803181" cy="803181"/>
          </a:xfrm>
          <a:prstGeom prst="rect">
            <a:avLst/>
          </a:prstGeom>
        </p:spPr>
      </p:pic>
      <p:pic>
        <p:nvPicPr>
          <p:cNvPr id="132" name="Рисунок 131">
            <a:extLst>
              <a:ext uri="{FF2B5EF4-FFF2-40B4-BE49-F238E27FC236}">
                <a16:creationId xmlns:a16="http://schemas.microsoft.com/office/drawing/2014/main" id="{B3B9D5B9-4020-40F1-B086-F7C2D38F054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159909" y="-104804"/>
            <a:ext cx="1015284" cy="1015284"/>
          </a:xfrm>
          <a:prstGeom prst="rect">
            <a:avLst/>
          </a:prstGeom>
        </p:spPr>
      </p:pic>
      <p:pic>
        <p:nvPicPr>
          <p:cNvPr id="133" name="Рисунок 132">
            <a:extLst>
              <a:ext uri="{FF2B5EF4-FFF2-40B4-BE49-F238E27FC236}">
                <a16:creationId xmlns:a16="http://schemas.microsoft.com/office/drawing/2014/main" id="{F3B255DA-3510-43C7-A667-F91944D02CA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29492" y="-121371"/>
            <a:ext cx="1048419" cy="1048419"/>
          </a:xfrm>
          <a:prstGeom prst="rect">
            <a:avLst/>
          </a:prstGeom>
        </p:spPr>
      </p:pic>
      <p:pic>
        <p:nvPicPr>
          <p:cNvPr id="134" name="Объект 4">
            <a:extLst>
              <a:ext uri="{FF2B5EF4-FFF2-40B4-BE49-F238E27FC236}">
                <a16:creationId xmlns:a16="http://schemas.microsoft.com/office/drawing/2014/main" id="{2BE1F0BB-6C13-4221-B9E5-0A7CC736B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5740" y="5762288"/>
            <a:ext cx="1293495" cy="1293495"/>
          </a:xfrm>
          <a:prstGeom prst="rect">
            <a:avLst/>
          </a:prstGeom>
        </p:spPr>
      </p:pic>
      <p:pic>
        <p:nvPicPr>
          <p:cNvPr id="135" name="Рисунок 134">
            <a:extLst>
              <a:ext uri="{FF2B5EF4-FFF2-40B4-BE49-F238E27FC236}">
                <a16:creationId xmlns:a16="http://schemas.microsoft.com/office/drawing/2014/main" id="{CC471E72-2703-47D2-B19F-CCE655408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508888" y="5901393"/>
            <a:ext cx="1015284" cy="1015284"/>
          </a:xfrm>
          <a:prstGeom prst="rect">
            <a:avLst/>
          </a:prstGeom>
        </p:spPr>
      </p:pic>
      <p:pic>
        <p:nvPicPr>
          <p:cNvPr id="136" name="Рисунок 135">
            <a:extLst>
              <a:ext uri="{FF2B5EF4-FFF2-40B4-BE49-F238E27FC236}">
                <a16:creationId xmlns:a16="http://schemas.microsoft.com/office/drawing/2014/main" id="{9BD715CF-B96E-44E6-BE73-8BF5F2DAB2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397314" y="5762288"/>
            <a:ext cx="1293495" cy="1293495"/>
          </a:xfrm>
          <a:prstGeom prst="rect">
            <a:avLst/>
          </a:prstGeom>
        </p:spPr>
      </p:pic>
      <p:pic>
        <p:nvPicPr>
          <p:cNvPr id="137" name="Рисунок 136">
            <a:extLst>
              <a:ext uri="{FF2B5EF4-FFF2-40B4-BE49-F238E27FC236}">
                <a16:creationId xmlns:a16="http://schemas.microsoft.com/office/drawing/2014/main" id="{A2F32D69-F8B5-4BDE-AE5A-B656070D5C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09654" y="5806650"/>
            <a:ext cx="1204771" cy="1204771"/>
          </a:xfrm>
          <a:prstGeom prst="rect">
            <a:avLst/>
          </a:prstGeom>
        </p:spPr>
      </p:pic>
      <p:pic>
        <p:nvPicPr>
          <p:cNvPr id="138" name="Рисунок 137">
            <a:extLst>
              <a:ext uri="{FF2B5EF4-FFF2-40B4-BE49-F238E27FC236}">
                <a16:creationId xmlns:a16="http://schemas.microsoft.com/office/drawing/2014/main" id="{A52C3F14-86BC-41AE-9B20-85C700456B8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11542" y="6007445"/>
            <a:ext cx="803181" cy="803181"/>
          </a:xfrm>
          <a:prstGeom prst="rect">
            <a:avLst/>
          </a:prstGeom>
        </p:spPr>
      </p:pic>
      <p:pic>
        <p:nvPicPr>
          <p:cNvPr id="139" name="Рисунок 138">
            <a:extLst>
              <a:ext uri="{FF2B5EF4-FFF2-40B4-BE49-F238E27FC236}">
                <a16:creationId xmlns:a16="http://schemas.microsoft.com/office/drawing/2014/main" id="{9D80AA20-DDD8-4D82-A5B1-BD36AC99782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327" y="5901393"/>
            <a:ext cx="1015284" cy="1015284"/>
          </a:xfrm>
          <a:prstGeom prst="rect">
            <a:avLst/>
          </a:prstGeom>
        </p:spPr>
      </p:pic>
      <p:pic>
        <p:nvPicPr>
          <p:cNvPr id="140" name="Рисунок 139">
            <a:extLst>
              <a:ext uri="{FF2B5EF4-FFF2-40B4-BE49-F238E27FC236}">
                <a16:creationId xmlns:a16="http://schemas.microsoft.com/office/drawing/2014/main" id="{76B07219-2069-4A59-A7F3-3E974D880F3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929090" y="5884826"/>
            <a:ext cx="1048419" cy="1048419"/>
          </a:xfrm>
          <a:prstGeom prst="rect">
            <a:avLst/>
          </a:prstGeom>
        </p:spPr>
      </p:pic>
      <p:pic>
        <p:nvPicPr>
          <p:cNvPr id="141" name="Объект 4">
            <a:extLst>
              <a:ext uri="{FF2B5EF4-FFF2-40B4-BE49-F238E27FC236}">
                <a16:creationId xmlns:a16="http://schemas.microsoft.com/office/drawing/2014/main" id="{3F96ECFD-BABF-42AD-AF6C-C4747079F7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2706" y="5762288"/>
            <a:ext cx="1293495" cy="1293495"/>
          </a:xfrm>
          <a:prstGeom prst="rect">
            <a:avLst/>
          </a:prstGeom>
        </p:spPr>
      </p:pic>
      <p:pic>
        <p:nvPicPr>
          <p:cNvPr id="142" name="Рисунок 141">
            <a:extLst>
              <a:ext uri="{FF2B5EF4-FFF2-40B4-BE49-F238E27FC236}">
                <a16:creationId xmlns:a16="http://schemas.microsoft.com/office/drawing/2014/main" id="{B0F5D21C-3D54-4545-B22E-FEC2230469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29558" y="5901393"/>
            <a:ext cx="1015284" cy="1015284"/>
          </a:xfrm>
          <a:prstGeom prst="rect">
            <a:avLst/>
          </a:prstGeom>
        </p:spPr>
      </p:pic>
      <p:pic>
        <p:nvPicPr>
          <p:cNvPr id="143" name="Рисунок 142">
            <a:extLst>
              <a:ext uri="{FF2B5EF4-FFF2-40B4-BE49-F238E27FC236}">
                <a16:creationId xmlns:a16="http://schemas.microsoft.com/office/drawing/2014/main" id="{92135845-7B14-4521-84D7-2155F326DC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1132" y="5762288"/>
            <a:ext cx="1293495" cy="1293495"/>
          </a:xfrm>
          <a:prstGeom prst="rect">
            <a:avLst/>
          </a:prstGeom>
        </p:spPr>
      </p:pic>
      <p:pic>
        <p:nvPicPr>
          <p:cNvPr id="144" name="Рисунок 143">
            <a:extLst>
              <a:ext uri="{FF2B5EF4-FFF2-40B4-BE49-F238E27FC236}">
                <a16:creationId xmlns:a16="http://schemas.microsoft.com/office/drawing/2014/main" id="{0D872AEE-5624-4D45-A3A3-EA61D54463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48103" y="5806650"/>
            <a:ext cx="1204771" cy="1204771"/>
          </a:xfrm>
          <a:prstGeom prst="rect">
            <a:avLst/>
          </a:prstGeom>
        </p:spPr>
      </p:pic>
      <p:pic>
        <p:nvPicPr>
          <p:cNvPr id="145" name="Рисунок 144">
            <a:extLst>
              <a:ext uri="{FF2B5EF4-FFF2-40B4-BE49-F238E27FC236}">
                <a16:creationId xmlns:a16="http://schemas.microsoft.com/office/drawing/2014/main" id="{3F0E432F-8ACA-4687-8351-AF958BCFBC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549988" y="6007445"/>
            <a:ext cx="803181" cy="803181"/>
          </a:xfrm>
          <a:prstGeom prst="rect">
            <a:avLst/>
          </a:prstGeom>
        </p:spPr>
      </p:pic>
      <p:pic>
        <p:nvPicPr>
          <p:cNvPr id="146" name="Рисунок 145">
            <a:extLst>
              <a:ext uri="{FF2B5EF4-FFF2-40B4-BE49-F238E27FC236}">
                <a16:creationId xmlns:a16="http://schemas.microsoft.com/office/drawing/2014/main" id="{C744ABD2-5B43-4DEC-9C1B-8F0D40E458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939773" y="5901393"/>
            <a:ext cx="1015284" cy="1015284"/>
          </a:xfrm>
          <a:prstGeom prst="rect">
            <a:avLst/>
          </a:prstGeom>
        </p:spPr>
      </p:pic>
      <p:pic>
        <p:nvPicPr>
          <p:cNvPr id="147" name="Рисунок 146">
            <a:extLst>
              <a:ext uri="{FF2B5EF4-FFF2-40B4-BE49-F238E27FC236}">
                <a16:creationId xmlns:a16="http://schemas.microsoft.com/office/drawing/2014/main" id="{EA273028-8BDE-4745-AE72-FB0B9F9A3F8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909356" y="5884826"/>
            <a:ext cx="1048419" cy="104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17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0C003366-80A9-45C3-9761-45579BB712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92218" y="12444413"/>
            <a:ext cx="1293495" cy="129349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BE5424-54ED-4541-ABD9-2F2F1A278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885926" y="12600086"/>
            <a:ext cx="1015284" cy="101528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9197235-BB14-44E5-BEF2-9C51F74F23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032296" y="12444413"/>
            <a:ext cx="1293495" cy="129349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EFEC63A-7411-4F70-9F10-5E0F2150D3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0696901" y="12600086"/>
            <a:ext cx="1204771" cy="1204771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8B35FE2-1298-4A5E-A22E-CACFF5C66E0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297033" y="12706137"/>
            <a:ext cx="803181" cy="803181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E5AA12E-A3D0-4A55-B4BF-E4BA70045E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539141" y="12600086"/>
            <a:ext cx="1015284" cy="1015284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4691F28-C699-468D-A27B-4C4E1297590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97216" y="12566951"/>
            <a:ext cx="1048419" cy="1048419"/>
          </a:xfrm>
          <a:prstGeom prst="rect">
            <a:avLst/>
          </a:prstGeom>
        </p:spPr>
      </p:pic>
      <p:pic>
        <p:nvPicPr>
          <p:cNvPr id="22" name="Объект 4">
            <a:extLst>
              <a:ext uri="{FF2B5EF4-FFF2-40B4-BE49-F238E27FC236}">
                <a16:creationId xmlns:a16="http://schemas.microsoft.com/office/drawing/2014/main" id="{0A035D21-DE56-4C6F-86D6-760CA4F1A5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616542" y="-5142547"/>
            <a:ext cx="1293495" cy="129349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FC94B25-F568-478A-9FE2-1AA43DD0C7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839690" y="-5003442"/>
            <a:ext cx="1015284" cy="101528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08EB0C2-05FA-4D40-B3BB-AE06CAB0DE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728116" y="-5142547"/>
            <a:ext cx="1293495" cy="1293495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23207AC9-7FA0-4468-80D7-AA2878B524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78852" y="-5098185"/>
            <a:ext cx="1204771" cy="1204771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8B516632-F303-44EB-B8E9-DBCA463615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80740" y="-4897390"/>
            <a:ext cx="803181" cy="803181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148C05A-8266-4BBB-BF64-1BFD67EBF0E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70525" y="-5003442"/>
            <a:ext cx="1015284" cy="101528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F1149992-0BD1-4328-A1AD-8CC71283E09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259892" y="-5020009"/>
            <a:ext cx="1048419" cy="1048419"/>
          </a:xfrm>
          <a:prstGeom prst="rect">
            <a:avLst/>
          </a:prstGeom>
        </p:spPr>
      </p:pic>
      <p:pic>
        <p:nvPicPr>
          <p:cNvPr id="29" name="Объект 4">
            <a:extLst>
              <a:ext uri="{FF2B5EF4-FFF2-40B4-BE49-F238E27FC236}">
                <a16:creationId xmlns:a16="http://schemas.microsoft.com/office/drawing/2014/main" id="{D672DB12-454C-4463-8460-650B00964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21904" y="-5142547"/>
            <a:ext cx="1293495" cy="1293495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56E2BF8-9F80-4F37-89FC-EA26A82CE6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98756" y="-5003442"/>
            <a:ext cx="1015284" cy="1015284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463348A-77F3-45EF-BB00-9FF3ED344C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10330" y="-5142547"/>
            <a:ext cx="1293495" cy="129349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5B3684C-2378-4EF3-B184-D54418139A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17301" y="-5098185"/>
            <a:ext cx="1204771" cy="1204771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3B61592-21B4-4BD1-B65C-851EC37D366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219186" y="-4897390"/>
            <a:ext cx="803181" cy="803181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C12ED24-9EA9-45D5-8FCF-C6D3A26271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08971" y="-5003442"/>
            <a:ext cx="1015284" cy="101528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14B65740-D445-4B40-A529-FB02D9ABA96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78554" y="-5020009"/>
            <a:ext cx="1048419" cy="1048419"/>
          </a:xfrm>
          <a:prstGeom prst="rect">
            <a:avLst/>
          </a:prstGeom>
        </p:spPr>
      </p:pic>
      <p:pic>
        <p:nvPicPr>
          <p:cNvPr id="36" name="Объект 4">
            <a:extLst>
              <a:ext uri="{FF2B5EF4-FFF2-40B4-BE49-F238E27FC236}">
                <a16:creationId xmlns:a16="http://schemas.microsoft.com/office/drawing/2014/main" id="{E2B5B9DC-3071-45D9-A549-1ABAE3075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784381" y="-7125726"/>
            <a:ext cx="1293495" cy="1293495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4DE300DD-90E8-4AF0-A597-3BBFC0A056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007529" y="-6986621"/>
            <a:ext cx="1015284" cy="1015284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15FBFFB3-9554-46CB-98BF-E56E835459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895955" y="-7125726"/>
            <a:ext cx="1293495" cy="129349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B8CB431-47F6-41FC-BC47-F39CA23CAFB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88987" y="-7081364"/>
            <a:ext cx="1204771" cy="1204771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0C4063E2-B113-44BC-9EEA-4D57D11C50B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787099" y="-6880569"/>
            <a:ext cx="803181" cy="803181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8BA05EFB-9AB8-45E0-9F69-B72DBAE2B7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3397314" y="-6986621"/>
            <a:ext cx="1015284" cy="1015284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B00BDC87-2535-4F85-989A-EDEFFFE763F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10427731" y="-7003188"/>
            <a:ext cx="1048419" cy="1048419"/>
          </a:xfrm>
          <a:prstGeom prst="rect">
            <a:avLst/>
          </a:prstGeom>
        </p:spPr>
      </p:pic>
      <p:pic>
        <p:nvPicPr>
          <p:cNvPr id="43" name="Объект 4">
            <a:extLst>
              <a:ext uri="{FF2B5EF4-FFF2-40B4-BE49-F238E27FC236}">
                <a16:creationId xmlns:a16="http://schemas.microsoft.com/office/drawing/2014/main" id="{EC69D091-0C21-4008-8F07-35EECFAE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4065" y="-7125726"/>
            <a:ext cx="1293495" cy="1293495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CFBBD0F0-D7D4-4FCC-B1A3-992D6B8B6C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0917" y="-6986621"/>
            <a:ext cx="1015284" cy="1015284"/>
          </a:xfrm>
          <a:prstGeom prst="rect">
            <a:avLst/>
          </a:prstGeom>
        </p:spPr>
      </p:pic>
      <p:pic>
        <p:nvPicPr>
          <p:cNvPr id="45" name="Рисунок 44">
            <a:extLst>
              <a:ext uri="{FF2B5EF4-FFF2-40B4-BE49-F238E27FC236}">
                <a16:creationId xmlns:a16="http://schemas.microsoft.com/office/drawing/2014/main" id="{6F7E205B-E158-4E78-9995-0231401526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2491" y="-7125726"/>
            <a:ext cx="1293495" cy="1293495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52253CC7-28C5-4A62-83B9-A7262A3CEE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9462" y="-7081364"/>
            <a:ext cx="1204771" cy="1204771"/>
          </a:xfrm>
          <a:prstGeom prst="rect">
            <a:avLst/>
          </a:prstGeom>
        </p:spPr>
      </p:pic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91DC5386-7528-458B-984A-7C63972A66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1347" y="-6880569"/>
            <a:ext cx="803181" cy="803181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EBB2639F-1942-4638-9BE8-7C771470FF5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41132" y="-6986621"/>
            <a:ext cx="1015284" cy="1015284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C77A2B96-EF3F-4DDE-9EC9-23AA0D6CE72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0715" y="-7003188"/>
            <a:ext cx="1048419" cy="1048419"/>
          </a:xfrm>
          <a:prstGeom prst="rect">
            <a:avLst/>
          </a:prstGeom>
        </p:spPr>
      </p:pic>
      <p:pic>
        <p:nvPicPr>
          <p:cNvPr id="64" name="Объект 4">
            <a:extLst>
              <a:ext uri="{FF2B5EF4-FFF2-40B4-BE49-F238E27FC236}">
                <a16:creationId xmlns:a16="http://schemas.microsoft.com/office/drawing/2014/main" id="{A7AA140A-4CDD-4F97-AB7D-A0C2D5795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64245" y="-9287082"/>
            <a:ext cx="1293495" cy="1293495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9DAA31C0-1623-4EB1-BA77-13B4556463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787393" y="-9147977"/>
            <a:ext cx="1015284" cy="1015284"/>
          </a:xfrm>
          <a:prstGeom prst="rect">
            <a:avLst/>
          </a:prstGeom>
        </p:spPr>
      </p:pic>
      <p:pic>
        <p:nvPicPr>
          <p:cNvPr id="66" name="Рисунок 65">
            <a:extLst>
              <a:ext uri="{FF2B5EF4-FFF2-40B4-BE49-F238E27FC236}">
                <a16:creationId xmlns:a16="http://schemas.microsoft.com/office/drawing/2014/main" id="{E40955E9-2B33-4442-BB19-5DB73A0B2E0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675819" y="-9287082"/>
            <a:ext cx="1293495" cy="1293495"/>
          </a:xfrm>
          <a:prstGeom prst="rect">
            <a:avLst/>
          </a:prstGeom>
        </p:spPr>
      </p:pic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8647C88E-5938-400C-86DC-0BBD8FD84D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31149" y="-9242720"/>
            <a:ext cx="1204771" cy="1204771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BAAAF049-7DD4-49F2-A8C7-2534D636222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33037" y="-9041925"/>
            <a:ext cx="803181" cy="803181"/>
          </a:xfrm>
          <a:prstGeom prst="rect">
            <a:avLst/>
          </a:prstGeom>
        </p:spPr>
      </p:pic>
      <p:pic>
        <p:nvPicPr>
          <p:cNvPr id="69" name="Рисунок 68">
            <a:extLst>
              <a:ext uri="{FF2B5EF4-FFF2-40B4-BE49-F238E27FC236}">
                <a16:creationId xmlns:a16="http://schemas.microsoft.com/office/drawing/2014/main" id="{5855A36A-AACD-4A2A-BE0B-C814174EEFC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2822" y="-9147977"/>
            <a:ext cx="1015284" cy="1015284"/>
          </a:xfrm>
          <a:prstGeom prst="rect">
            <a:avLst/>
          </a:prstGeom>
        </p:spPr>
      </p:pic>
      <p:pic>
        <p:nvPicPr>
          <p:cNvPr id="70" name="Рисунок 69">
            <a:extLst>
              <a:ext uri="{FF2B5EF4-FFF2-40B4-BE49-F238E27FC236}">
                <a16:creationId xmlns:a16="http://schemas.microsoft.com/office/drawing/2014/main" id="{366E843A-CAED-4FA1-AFE9-E8173051651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207595" y="-9164544"/>
            <a:ext cx="1048419" cy="1048419"/>
          </a:xfrm>
          <a:prstGeom prst="rect">
            <a:avLst/>
          </a:prstGeom>
        </p:spPr>
      </p:pic>
      <p:pic>
        <p:nvPicPr>
          <p:cNvPr id="71" name="Объект 4">
            <a:extLst>
              <a:ext uri="{FF2B5EF4-FFF2-40B4-BE49-F238E27FC236}">
                <a16:creationId xmlns:a16="http://schemas.microsoft.com/office/drawing/2014/main" id="{E6A36CCC-8F63-4FA5-ADBA-AD163EDDC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201" y="-9287082"/>
            <a:ext cx="1293495" cy="1293495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E9B74204-0577-44E8-B83A-F488EB381D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51053" y="-9147977"/>
            <a:ext cx="1015284" cy="1015284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FD3C315F-7290-4408-B30A-239E4E1585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62627" y="-9287082"/>
            <a:ext cx="1293495" cy="1293495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32C45A18-0C9E-4846-81F2-456BF674549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669598" y="-9242720"/>
            <a:ext cx="1204771" cy="1204771"/>
          </a:xfrm>
          <a:prstGeom prst="rect">
            <a:avLst/>
          </a:prstGeom>
        </p:spPr>
      </p:pic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F10E97CD-E668-470E-A185-74E69E8400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271483" y="-9041925"/>
            <a:ext cx="803181" cy="803181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F589EBF0-F2A4-4B8D-A459-C7CE8A57888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661268" y="-9147977"/>
            <a:ext cx="1015284" cy="1015284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C7613EB9-7611-41FD-8A2E-8C99EEC9355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30851" y="-9164544"/>
            <a:ext cx="1048419" cy="1048419"/>
          </a:xfrm>
          <a:prstGeom prst="rect">
            <a:avLst/>
          </a:prstGeom>
        </p:spPr>
      </p:pic>
      <p:pic>
        <p:nvPicPr>
          <p:cNvPr id="78" name="Объект 4">
            <a:extLst>
              <a:ext uri="{FF2B5EF4-FFF2-40B4-BE49-F238E27FC236}">
                <a16:creationId xmlns:a16="http://schemas.microsoft.com/office/drawing/2014/main" id="{A8FA87BD-7844-4065-9F8B-C7DD478E4E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784381" y="-3280885"/>
            <a:ext cx="1293495" cy="1293495"/>
          </a:xfrm>
          <a:prstGeom prst="rect">
            <a:avLst/>
          </a:prstGeom>
        </p:spPr>
      </p:pic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37061EE-D7C2-477E-A694-A928EF0520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5007529" y="-3141780"/>
            <a:ext cx="1015284" cy="1015284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BB3A1563-05F6-4404-BA60-9E8280533F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6895955" y="-3280885"/>
            <a:ext cx="1293495" cy="1293495"/>
          </a:xfrm>
          <a:prstGeom prst="rect">
            <a:avLst/>
          </a:prstGeom>
        </p:spPr>
      </p:pic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753996FE-BE67-4871-9BB0-62708B51CFA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388987" y="-3236523"/>
            <a:ext cx="1204771" cy="1204771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F35765EB-E2AB-4DA0-BD83-8CA887FE5F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787099" y="-3035728"/>
            <a:ext cx="803181" cy="803181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1AC63F21-7505-4E0F-A256-5427DA281B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3397314" y="-3141780"/>
            <a:ext cx="1015284" cy="1015284"/>
          </a:xfrm>
          <a:prstGeom prst="rect">
            <a:avLst/>
          </a:prstGeom>
        </p:spPr>
      </p:pic>
      <p:pic>
        <p:nvPicPr>
          <p:cNvPr id="84" name="Рисунок 83">
            <a:extLst>
              <a:ext uri="{FF2B5EF4-FFF2-40B4-BE49-F238E27FC236}">
                <a16:creationId xmlns:a16="http://schemas.microsoft.com/office/drawing/2014/main" id="{94B24DCB-9E30-4594-9DBE-222B71EBF8E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10427731" y="-3158347"/>
            <a:ext cx="1048419" cy="1048419"/>
          </a:xfrm>
          <a:prstGeom prst="rect">
            <a:avLst/>
          </a:prstGeom>
        </p:spPr>
      </p:pic>
      <p:pic>
        <p:nvPicPr>
          <p:cNvPr id="85" name="Объект 4">
            <a:extLst>
              <a:ext uri="{FF2B5EF4-FFF2-40B4-BE49-F238E27FC236}">
                <a16:creationId xmlns:a16="http://schemas.microsoft.com/office/drawing/2014/main" id="{6E97DABD-BF3D-4876-82B0-AA5D480112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4065" y="-3280885"/>
            <a:ext cx="1293495" cy="1293495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548B786D-6A82-4A58-B582-373880ADB4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30917" y="-3141780"/>
            <a:ext cx="1015284" cy="1015284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AEDA5100-F475-40FD-8216-C9FA6D70BB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42491" y="-3280885"/>
            <a:ext cx="1293495" cy="1293495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CA59D9E7-160F-4955-B84D-AC48D1F768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9462" y="-3236523"/>
            <a:ext cx="1204771" cy="1204771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A6FF9D88-4C31-4A7E-BA7F-206C07F5C1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051347" y="-3035728"/>
            <a:ext cx="803181" cy="803181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85A08FBB-B416-4E04-BF5F-79FD183AC9E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441132" y="-3141780"/>
            <a:ext cx="1015284" cy="1015284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5FA14820-1093-4D88-9F7A-043ADC3B70A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0715" y="-3158347"/>
            <a:ext cx="1048419" cy="1048419"/>
          </a:xfrm>
          <a:prstGeom prst="rect">
            <a:avLst/>
          </a:prstGeom>
        </p:spPr>
      </p:pic>
      <p:pic>
        <p:nvPicPr>
          <p:cNvPr id="92" name="Объект 4">
            <a:extLst>
              <a:ext uri="{FF2B5EF4-FFF2-40B4-BE49-F238E27FC236}">
                <a16:creationId xmlns:a16="http://schemas.microsoft.com/office/drawing/2014/main" id="{0E21CC2B-21B5-4A51-9769-318E908CAEA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1100709" y="2821189"/>
            <a:ext cx="1293495" cy="1293495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8DE3A7B1-B107-4B67-9BD4-41BEA4AA942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76143" y="2960294"/>
            <a:ext cx="1015284" cy="1015284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614E55D4-51F9-41F3-8D58-32703143FFD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87717" y="2821189"/>
            <a:ext cx="1293495" cy="1293495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839D07AB-8DE3-4159-AFE0-AFD846A5041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94685" y="2865551"/>
            <a:ext cx="1204771" cy="1204771"/>
          </a:xfrm>
          <a:prstGeom prst="rect">
            <a:avLst/>
          </a:prstGeom>
        </p:spPr>
      </p:pic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1C8BCEF6-381D-4A93-80BC-3832D8E96A9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896573" y="3066346"/>
            <a:ext cx="803181" cy="803181"/>
          </a:xfrm>
          <a:prstGeom prst="rect">
            <a:avLst/>
          </a:prstGeom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375757D7-E1CE-4411-8ED7-C1F47C30B8F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286358" y="2960294"/>
            <a:ext cx="1015284" cy="1015284"/>
          </a:xfrm>
          <a:prstGeom prst="rect">
            <a:avLst/>
          </a:prstGeom>
        </p:spPr>
      </p:pic>
      <p:pic>
        <p:nvPicPr>
          <p:cNvPr id="98" name="Рисунок 97">
            <a:extLst>
              <a:ext uri="{FF2B5EF4-FFF2-40B4-BE49-F238E27FC236}">
                <a16:creationId xmlns:a16="http://schemas.microsoft.com/office/drawing/2014/main" id="{62C1F4D1-8850-46F9-A90E-5316655746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761251" y="4023164"/>
            <a:ext cx="1048419" cy="1048419"/>
          </a:xfrm>
          <a:prstGeom prst="rect">
            <a:avLst/>
          </a:prstGeom>
        </p:spPr>
      </p:pic>
      <p:pic>
        <p:nvPicPr>
          <p:cNvPr id="99" name="Объект 4">
            <a:extLst>
              <a:ext uri="{FF2B5EF4-FFF2-40B4-BE49-F238E27FC236}">
                <a16:creationId xmlns:a16="http://schemas.microsoft.com/office/drawing/2014/main" id="{8209CED2-5298-4594-A5B0-ACF899F5801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37737" y="2821189"/>
            <a:ext cx="1293495" cy="1293495"/>
          </a:xfrm>
          <a:prstGeom prst="rect">
            <a:avLst/>
          </a:prstGeom>
        </p:spPr>
      </p:pic>
      <p:pic>
        <p:nvPicPr>
          <p:cNvPr id="100" name="Рисунок 99">
            <a:extLst>
              <a:ext uri="{FF2B5EF4-FFF2-40B4-BE49-F238E27FC236}">
                <a16:creationId xmlns:a16="http://schemas.microsoft.com/office/drawing/2014/main" id="{10C990BD-0D0D-458F-ABB6-8959FF1C38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97397" y="4039731"/>
            <a:ext cx="1015284" cy="1015284"/>
          </a:xfrm>
          <a:prstGeom prst="rect">
            <a:avLst/>
          </a:prstGeom>
        </p:spPr>
      </p:pic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440769DD-9BAC-4277-9751-F748D56879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08971" y="3900626"/>
            <a:ext cx="1293495" cy="1293495"/>
          </a:xfrm>
          <a:prstGeom prst="rect">
            <a:avLst/>
          </a:prstGeom>
        </p:spPr>
      </p:pic>
      <p:pic>
        <p:nvPicPr>
          <p:cNvPr id="102" name="Рисунок 101">
            <a:extLst>
              <a:ext uri="{FF2B5EF4-FFF2-40B4-BE49-F238E27FC236}">
                <a16:creationId xmlns:a16="http://schemas.microsoft.com/office/drawing/2014/main" id="{27B2F604-7DB9-4A0A-9CF5-5A527BD513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15942" y="3944988"/>
            <a:ext cx="1204771" cy="1204771"/>
          </a:xfrm>
          <a:prstGeom prst="rect">
            <a:avLst/>
          </a:prstGeom>
        </p:spPr>
      </p:pic>
      <p:pic>
        <p:nvPicPr>
          <p:cNvPr id="103" name="Рисунок 102">
            <a:extLst>
              <a:ext uri="{FF2B5EF4-FFF2-40B4-BE49-F238E27FC236}">
                <a16:creationId xmlns:a16="http://schemas.microsoft.com/office/drawing/2014/main" id="{CE0039BB-4402-40B0-BBB7-6D74AD770A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717827" y="4145783"/>
            <a:ext cx="803181" cy="803181"/>
          </a:xfrm>
          <a:prstGeom prst="rect">
            <a:avLst/>
          </a:prstGeom>
        </p:spPr>
      </p:pic>
      <p:pic>
        <p:nvPicPr>
          <p:cNvPr id="104" name="Рисунок 103">
            <a:extLst>
              <a:ext uri="{FF2B5EF4-FFF2-40B4-BE49-F238E27FC236}">
                <a16:creationId xmlns:a16="http://schemas.microsoft.com/office/drawing/2014/main" id="{FFB32511-9599-48A2-B069-5BD16F91FB2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107612" y="4039731"/>
            <a:ext cx="1015284" cy="1015284"/>
          </a:xfrm>
          <a:prstGeom prst="rect">
            <a:avLst/>
          </a:prstGeom>
        </p:spPr>
      </p:pic>
      <p:pic>
        <p:nvPicPr>
          <p:cNvPr id="105" name="Рисунок 104">
            <a:extLst>
              <a:ext uri="{FF2B5EF4-FFF2-40B4-BE49-F238E27FC236}">
                <a16:creationId xmlns:a16="http://schemas.microsoft.com/office/drawing/2014/main" id="{3E897896-23D1-463E-8014-62D73E563F4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94387" y="2943727"/>
            <a:ext cx="1048419" cy="1048419"/>
          </a:xfrm>
          <a:prstGeom prst="rect">
            <a:avLst/>
          </a:prstGeom>
        </p:spPr>
      </p:pic>
      <p:pic>
        <p:nvPicPr>
          <p:cNvPr id="106" name="Объект 4">
            <a:extLst>
              <a:ext uri="{FF2B5EF4-FFF2-40B4-BE49-F238E27FC236}">
                <a16:creationId xmlns:a16="http://schemas.microsoft.com/office/drawing/2014/main" id="{900E3C72-F8FF-4090-84A0-F2B609D6EC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5740" y="1917447"/>
            <a:ext cx="1293495" cy="1293495"/>
          </a:xfrm>
          <a:prstGeom prst="rect">
            <a:avLst/>
          </a:prstGeom>
        </p:spPr>
      </p:pic>
      <p:pic>
        <p:nvPicPr>
          <p:cNvPr id="107" name="Рисунок 106">
            <a:extLst>
              <a:ext uri="{FF2B5EF4-FFF2-40B4-BE49-F238E27FC236}">
                <a16:creationId xmlns:a16="http://schemas.microsoft.com/office/drawing/2014/main" id="{36083486-A4A5-4765-BFEB-38C6DF9982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508888" y="2056552"/>
            <a:ext cx="1015284" cy="1015284"/>
          </a:xfrm>
          <a:prstGeom prst="rect">
            <a:avLst/>
          </a:prstGeom>
        </p:spPr>
      </p:pic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1BCA8E18-C494-4824-8358-61CF9ECD04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397314" y="1917447"/>
            <a:ext cx="1293495" cy="1293495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E5C7360F-87B7-4997-9B76-B16276C8631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132104" y="1277091"/>
            <a:ext cx="1204771" cy="1204771"/>
          </a:xfrm>
          <a:prstGeom prst="rect">
            <a:avLst/>
          </a:prstGeom>
        </p:spPr>
      </p:pic>
      <p:pic>
        <p:nvPicPr>
          <p:cNvPr id="110" name="Рисунок 109">
            <a:extLst>
              <a:ext uri="{FF2B5EF4-FFF2-40B4-BE49-F238E27FC236}">
                <a16:creationId xmlns:a16="http://schemas.microsoft.com/office/drawing/2014/main" id="{4A31CF14-389E-487E-AC38-B0C910B698E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733992" y="1477886"/>
            <a:ext cx="803181" cy="803181"/>
          </a:xfrm>
          <a:prstGeom prst="rect">
            <a:avLst/>
          </a:prstGeom>
        </p:spPr>
      </p:pic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E1297AB4-7375-4C84-BEA7-C78F36EDB9B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3777" y="1371834"/>
            <a:ext cx="1015284" cy="1015284"/>
          </a:xfrm>
          <a:prstGeom prst="rect">
            <a:avLst/>
          </a:prstGeom>
        </p:spPr>
      </p:pic>
      <p:pic>
        <p:nvPicPr>
          <p:cNvPr id="112" name="Рисунок 111">
            <a:extLst>
              <a:ext uri="{FF2B5EF4-FFF2-40B4-BE49-F238E27FC236}">
                <a16:creationId xmlns:a16="http://schemas.microsoft.com/office/drawing/2014/main" id="{070CEB5D-52BF-4777-9405-808B04526B6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929090" y="2039985"/>
            <a:ext cx="1048419" cy="1048419"/>
          </a:xfrm>
          <a:prstGeom prst="rect">
            <a:avLst/>
          </a:prstGeom>
        </p:spPr>
      </p:pic>
      <p:pic>
        <p:nvPicPr>
          <p:cNvPr id="113" name="Объект 4">
            <a:extLst>
              <a:ext uri="{FF2B5EF4-FFF2-40B4-BE49-F238E27FC236}">
                <a16:creationId xmlns:a16="http://schemas.microsoft.com/office/drawing/2014/main" id="{EC191FDC-6470-4F3C-AB44-5C52259EB3F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75156" y="1232729"/>
            <a:ext cx="1293495" cy="1293495"/>
          </a:xfrm>
          <a:prstGeom prst="rect">
            <a:avLst/>
          </a:prstGeom>
        </p:spPr>
      </p:pic>
      <p:pic>
        <p:nvPicPr>
          <p:cNvPr id="114" name="Рисунок 113">
            <a:extLst>
              <a:ext uri="{FF2B5EF4-FFF2-40B4-BE49-F238E27FC236}">
                <a16:creationId xmlns:a16="http://schemas.microsoft.com/office/drawing/2014/main" id="{50B80FE0-A27B-4807-9B84-07AFB5B6C57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352008" y="1371834"/>
            <a:ext cx="1015284" cy="1015284"/>
          </a:xfrm>
          <a:prstGeom prst="rect">
            <a:avLst/>
          </a:prstGeom>
        </p:spPr>
      </p:pic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E680B064-66E2-469E-8B8B-C49C49F0B96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63582" y="1232729"/>
            <a:ext cx="1293495" cy="1293495"/>
          </a:xfrm>
          <a:prstGeom prst="rect">
            <a:avLst/>
          </a:prstGeom>
        </p:spPr>
      </p:pic>
      <p:pic>
        <p:nvPicPr>
          <p:cNvPr id="116" name="Рисунок 115">
            <a:extLst>
              <a:ext uri="{FF2B5EF4-FFF2-40B4-BE49-F238E27FC236}">
                <a16:creationId xmlns:a16="http://schemas.microsoft.com/office/drawing/2014/main" id="{A85E855D-733E-43AF-8A1F-49050DB82C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48103" y="1961809"/>
            <a:ext cx="1204771" cy="1204771"/>
          </a:xfrm>
          <a:prstGeom prst="rect">
            <a:avLst/>
          </a:prstGeom>
        </p:spPr>
      </p:pic>
      <p:pic>
        <p:nvPicPr>
          <p:cNvPr id="117" name="Рисунок 116">
            <a:extLst>
              <a:ext uri="{FF2B5EF4-FFF2-40B4-BE49-F238E27FC236}">
                <a16:creationId xmlns:a16="http://schemas.microsoft.com/office/drawing/2014/main" id="{AFAA2431-FA11-4415-B8C2-D0303ABB574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549988" y="2162604"/>
            <a:ext cx="803181" cy="803181"/>
          </a:xfrm>
          <a:prstGeom prst="rect">
            <a:avLst/>
          </a:prstGeom>
        </p:spPr>
      </p:pic>
      <p:pic>
        <p:nvPicPr>
          <p:cNvPr id="118" name="Рисунок 117">
            <a:extLst>
              <a:ext uri="{FF2B5EF4-FFF2-40B4-BE49-F238E27FC236}">
                <a16:creationId xmlns:a16="http://schemas.microsoft.com/office/drawing/2014/main" id="{2D69CCDA-661B-40B8-9AFF-E87391BBD957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962223" y="1371834"/>
            <a:ext cx="1015284" cy="1015284"/>
          </a:xfrm>
          <a:prstGeom prst="rect">
            <a:avLst/>
          </a:prstGeom>
        </p:spPr>
      </p:pic>
      <p:pic>
        <p:nvPicPr>
          <p:cNvPr id="119" name="Рисунок 118">
            <a:extLst>
              <a:ext uri="{FF2B5EF4-FFF2-40B4-BE49-F238E27FC236}">
                <a16:creationId xmlns:a16="http://schemas.microsoft.com/office/drawing/2014/main" id="{C7FE5F76-E150-42CB-8021-A3B63C1540F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931806" y="1355267"/>
            <a:ext cx="1048419" cy="1048419"/>
          </a:xfrm>
          <a:prstGeom prst="rect">
            <a:avLst/>
          </a:prstGeom>
        </p:spPr>
      </p:pic>
      <p:pic>
        <p:nvPicPr>
          <p:cNvPr id="120" name="Объект 4">
            <a:extLst>
              <a:ext uri="{FF2B5EF4-FFF2-40B4-BE49-F238E27FC236}">
                <a16:creationId xmlns:a16="http://schemas.microsoft.com/office/drawing/2014/main" id="{907CF672-0386-4299-A441-6E33E947B64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1065604" y="-243909"/>
            <a:ext cx="1293495" cy="1293495"/>
          </a:xfrm>
          <a:prstGeom prst="rect">
            <a:avLst/>
          </a:prstGeom>
        </p:spPr>
      </p:pic>
      <p:pic>
        <p:nvPicPr>
          <p:cNvPr id="121" name="Рисунок 120">
            <a:extLst>
              <a:ext uri="{FF2B5EF4-FFF2-40B4-BE49-F238E27FC236}">
                <a16:creationId xmlns:a16="http://schemas.microsoft.com/office/drawing/2014/main" id="{6A5BF168-4CAC-44DB-BCF4-8660AB6A5B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711248" y="-104804"/>
            <a:ext cx="1015284" cy="1015284"/>
          </a:xfrm>
          <a:prstGeom prst="rect">
            <a:avLst/>
          </a:prstGeom>
        </p:spPr>
      </p:pic>
      <p:pic>
        <p:nvPicPr>
          <p:cNvPr id="122" name="Рисунок 121">
            <a:extLst>
              <a:ext uri="{FF2B5EF4-FFF2-40B4-BE49-F238E27FC236}">
                <a16:creationId xmlns:a16="http://schemas.microsoft.com/office/drawing/2014/main" id="{7B8B7840-901D-4A47-87E9-6998D6B7C85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2822" y="-243909"/>
            <a:ext cx="1293495" cy="1293495"/>
          </a:xfrm>
          <a:prstGeom prst="rect">
            <a:avLst/>
          </a:prstGeom>
        </p:spPr>
      </p:pic>
      <p:pic>
        <p:nvPicPr>
          <p:cNvPr id="123" name="Рисунок 122">
            <a:extLst>
              <a:ext uri="{FF2B5EF4-FFF2-40B4-BE49-F238E27FC236}">
                <a16:creationId xmlns:a16="http://schemas.microsoft.com/office/drawing/2014/main" id="{56414F72-1F01-446F-AE24-3BEC3CEEB44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329790" y="-199547"/>
            <a:ext cx="1204771" cy="1204771"/>
          </a:xfrm>
          <a:prstGeom prst="rect">
            <a:avLst/>
          </a:prstGeom>
        </p:spPr>
      </p:pic>
      <p:pic>
        <p:nvPicPr>
          <p:cNvPr id="124" name="Рисунок 123">
            <a:extLst>
              <a:ext uri="{FF2B5EF4-FFF2-40B4-BE49-F238E27FC236}">
                <a16:creationId xmlns:a16="http://schemas.microsoft.com/office/drawing/2014/main" id="{D6692026-FD79-4984-BF1B-5F43676BFB3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931678" y="1248"/>
            <a:ext cx="803181" cy="803181"/>
          </a:xfrm>
          <a:prstGeom prst="rect">
            <a:avLst/>
          </a:prstGeom>
        </p:spPr>
      </p:pic>
      <p:pic>
        <p:nvPicPr>
          <p:cNvPr id="125" name="Рисунок 124">
            <a:extLst>
              <a:ext uri="{FF2B5EF4-FFF2-40B4-BE49-F238E27FC236}">
                <a16:creationId xmlns:a16="http://schemas.microsoft.com/office/drawing/2014/main" id="{6F5960F2-D1AD-47C7-A79E-5FA76545C3B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321463" y="-104804"/>
            <a:ext cx="1015284" cy="1015284"/>
          </a:xfrm>
          <a:prstGeom prst="rect">
            <a:avLst/>
          </a:prstGeom>
        </p:spPr>
      </p:pic>
      <p:pic>
        <p:nvPicPr>
          <p:cNvPr id="126" name="Рисунок 125">
            <a:extLst>
              <a:ext uri="{FF2B5EF4-FFF2-40B4-BE49-F238E27FC236}">
                <a16:creationId xmlns:a16="http://schemas.microsoft.com/office/drawing/2014/main" id="{BD876129-25E2-4E0B-B717-AF557306EA1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2708954" y="-121371"/>
            <a:ext cx="1048419" cy="1048419"/>
          </a:xfrm>
          <a:prstGeom prst="rect">
            <a:avLst/>
          </a:prstGeom>
        </p:spPr>
      </p:pic>
      <p:pic>
        <p:nvPicPr>
          <p:cNvPr id="127" name="Объект 4">
            <a:extLst>
              <a:ext uri="{FF2B5EF4-FFF2-40B4-BE49-F238E27FC236}">
                <a16:creationId xmlns:a16="http://schemas.microsoft.com/office/drawing/2014/main" id="{CA136950-33D1-413F-BE1E-3686E7DC7AF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772842" y="-243909"/>
            <a:ext cx="1293495" cy="1293495"/>
          </a:xfrm>
          <a:prstGeom prst="rect">
            <a:avLst/>
          </a:prstGeom>
        </p:spPr>
      </p:pic>
      <p:pic>
        <p:nvPicPr>
          <p:cNvPr id="128" name="Рисунок 127">
            <a:extLst>
              <a:ext uri="{FF2B5EF4-FFF2-40B4-BE49-F238E27FC236}">
                <a16:creationId xmlns:a16="http://schemas.microsoft.com/office/drawing/2014/main" id="{0AE8F324-7E9D-4110-9A3B-61A36F811A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549694" y="-104804"/>
            <a:ext cx="1015284" cy="1015284"/>
          </a:xfrm>
          <a:prstGeom prst="rect">
            <a:avLst/>
          </a:prstGeom>
        </p:spPr>
      </p:pic>
      <p:pic>
        <p:nvPicPr>
          <p:cNvPr id="129" name="Рисунок 128">
            <a:extLst>
              <a:ext uri="{FF2B5EF4-FFF2-40B4-BE49-F238E27FC236}">
                <a16:creationId xmlns:a16="http://schemas.microsoft.com/office/drawing/2014/main" id="{89869314-9E90-48FC-AF53-64E4BE7E8B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61268" y="-243909"/>
            <a:ext cx="1293495" cy="1293495"/>
          </a:xfrm>
          <a:prstGeom prst="rect">
            <a:avLst/>
          </a:prstGeom>
        </p:spPr>
      </p:pic>
      <p:pic>
        <p:nvPicPr>
          <p:cNvPr id="130" name="Рисунок 129">
            <a:extLst>
              <a:ext uri="{FF2B5EF4-FFF2-40B4-BE49-F238E27FC236}">
                <a16:creationId xmlns:a16="http://schemas.microsoft.com/office/drawing/2014/main" id="{FFD0BEF6-9859-4DA2-81CA-3C1F681B00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168239" y="-199547"/>
            <a:ext cx="1204771" cy="1204771"/>
          </a:xfrm>
          <a:prstGeom prst="rect">
            <a:avLst/>
          </a:prstGeom>
        </p:spPr>
      </p:pic>
      <p:pic>
        <p:nvPicPr>
          <p:cNvPr id="131" name="Рисунок 130">
            <a:extLst>
              <a:ext uri="{FF2B5EF4-FFF2-40B4-BE49-F238E27FC236}">
                <a16:creationId xmlns:a16="http://schemas.microsoft.com/office/drawing/2014/main" id="{3DF9DA03-881B-490D-A271-E71B28E4F3D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770124" y="1248"/>
            <a:ext cx="803181" cy="803181"/>
          </a:xfrm>
          <a:prstGeom prst="rect">
            <a:avLst/>
          </a:prstGeom>
        </p:spPr>
      </p:pic>
      <p:pic>
        <p:nvPicPr>
          <p:cNvPr id="132" name="Рисунок 131">
            <a:extLst>
              <a:ext uri="{FF2B5EF4-FFF2-40B4-BE49-F238E27FC236}">
                <a16:creationId xmlns:a16="http://schemas.microsoft.com/office/drawing/2014/main" id="{B3B9D5B9-4020-40F1-B086-F7C2D38F054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159909" y="-104804"/>
            <a:ext cx="1015284" cy="1015284"/>
          </a:xfrm>
          <a:prstGeom prst="rect">
            <a:avLst/>
          </a:prstGeom>
        </p:spPr>
      </p:pic>
      <p:pic>
        <p:nvPicPr>
          <p:cNvPr id="133" name="Рисунок 132">
            <a:extLst>
              <a:ext uri="{FF2B5EF4-FFF2-40B4-BE49-F238E27FC236}">
                <a16:creationId xmlns:a16="http://schemas.microsoft.com/office/drawing/2014/main" id="{F3B255DA-3510-43C7-A667-F91944D02CA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129492" y="-121371"/>
            <a:ext cx="1048419" cy="1048419"/>
          </a:xfrm>
          <a:prstGeom prst="rect">
            <a:avLst/>
          </a:prstGeom>
        </p:spPr>
      </p:pic>
      <p:pic>
        <p:nvPicPr>
          <p:cNvPr id="134" name="Объект 4">
            <a:extLst>
              <a:ext uri="{FF2B5EF4-FFF2-40B4-BE49-F238E27FC236}">
                <a16:creationId xmlns:a16="http://schemas.microsoft.com/office/drawing/2014/main" id="{2BE1F0BB-6C13-4221-B9E5-0A7CC736B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5285740" y="5762288"/>
            <a:ext cx="1293495" cy="1293495"/>
          </a:xfrm>
          <a:prstGeom prst="rect">
            <a:avLst/>
          </a:prstGeom>
        </p:spPr>
      </p:pic>
      <p:pic>
        <p:nvPicPr>
          <p:cNvPr id="135" name="Рисунок 134">
            <a:extLst>
              <a:ext uri="{FF2B5EF4-FFF2-40B4-BE49-F238E27FC236}">
                <a16:creationId xmlns:a16="http://schemas.microsoft.com/office/drawing/2014/main" id="{CC471E72-2703-47D2-B19F-CCE655408A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508888" y="5901393"/>
            <a:ext cx="1015284" cy="1015284"/>
          </a:xfrm>
          <a:prstGeom prst="rect">
            <a:avLst/>
          </a:prstGeom>
        </p:spPr>
      </p:pic>
      <p:pic>
        <p:nvPicPr>
          <p:cNvPr id="136" name="Рисунок 135">
            <a:extLst>
              <a:ext uri="{FF2B5EF4-FFF2-40B4-BE49-F238E27FC236}">
                <a16:creationId xmlns:a16="http://schemas.microsoft.com/office/drawing/2014/main" id="{9BD715CF-B96E-44E6-BE73-8BF5F2DAB2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3397314" y="5762288"/>
            <a:ext cx="1293495" cy="1293495"/>
          </a:xfrm>
          <a:prstGeom prst="rect">
            <a:avLst/>
          </a:prstGeom>
        </p:spPr>
      </p:pic>
      <p:pic>
        <p:nvPicPr>
          <p:cNvPr id="137" name="Рисунок 136">
            <a:extLst>
              <a:ext uri="{FF2B5EF4-FFF2-40B4-BE49-F238E27FC236}">
                <a16:creationId xmlns:a16="http://schemas.microsoft.com/office/drawing/2014/main" id="{A2F32D69-F8B5-4BDE-AE5A-B656070D5CA4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132104" y="4506118"/>
            <a:ext cx="1204771" cy="1204771"/>
          </a:xfrm>
          <a:prstGeom prst="rect">
            <a:avLst/>
          </a:prstGeom>
        </p:spPr>
      </p:pic>
      <p:pic>
        <p:nvPicPr>
          <p:cNvPr id="138" name="Рисунок 137">
            <a:extLst>
              <a:ext uri="{FF2B5EF4-FFF2-40B4-BE49-F238E27FC236}">
                <a16:creationId xmlns:a16="http://schemas.microsoft.com/office/drawing/2014/main" id="{A52C3F14-86BC-41AE-9B20-85C700456B8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733992" y="4706913"/>
            <a:ext cx="803181" cy="803181"/>
          </a:xfrm>
          <a:prstGeom prst="rect">
            <a:avLst/>
          </a:prstGeom>
        </p:spPr>
      </p:pic>
      <p:pic>
        <p:nvPicPr>
          <p:cNvPr id="139" name="Рисунок 138">
            <a:extLst>
              <a:ext uri="{FF2B5EF4-FFF2-40B4-BE49-F238E27FC236}">
                <a16:creationId xmlns:a16="http://schemas.microsoft.com/office/drawing/2014/main" id="{9D80AA20-DDD8-4D82-A5B1-BD36AC99782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23777" y="4600861"/>
            <a:ext cx="1015284" cy="1015284"/>
          </a:xfrm>
          <a:prstGeom prst="rect">
            <a:avLst/>
          </a:prstGeom>
        </p:spPr>
      </p:pic>
      <p:pic>
        <p:nvPicPr>
          <p:cNvPr id="140" name="Рисунок 139">
            <a:extLst>
              <a:ext uri="{FF2B5EF4-FFF2-40B4-BE49-F238E27FC236}">
                <a16:creationId xmlns:a16="http://schemas.microsoft.com/office/drawing/2014/main" id="{76B07219-2069-4A59-A7F3-3E974D880F3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-6929090" y="5884826"/>
            <a:ext cx="1048419" cy="1048419"/>
          </a:xfrm>
          <a:prstGeom prst="rect">
            <a:avLst/>
          </a:prstGeom>
        </p:spPr>
      </p:pic>
      <p:pic>
        <p:nvPicPr>
          <p:cNvPr id="141" name="Объект 4">
            <a:extLst>
              <a:ext uri="{FF2B5EF4-FFF2-40B4-BE49-F238E27FC236}">
                <a16:creationId xmlns:a16="http://schemas.microsoft.com/office/drawing/2014/main" id="{3F96ECFD-BABF-42AD-AF6C-C4747079F70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75156" y="4461756"/>
            <a:ext cx="1293495" cy="1293495"/>
          </a:xfrm>
          <a:prstGeom prst="rect">
            <a:avLst/>
          </a:prstGeom>
        </p:spPr>
      </p:pic>
      <p:pic>
        <p:nvPicPr>
          <p:cNvPr id="142" name="Рисунок 141">
            <a:extLst>
              <a:ext uri="{FF2B5EF4-FFF2-40B4-BE49-F238E27FC236}">
                <a16:creationId xmlns:a16="http://schemas.microsoft.com/office/drawing/2014/main" id="{B0F5D21C-3D54-4545-B22E-FEC22304696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352008" y="4600861"/>
            <a:ext cx="1015284" cy="1015284"/>
          </a:xfrm>
          <a:prstGeom prst="rect">
            <a:avLst/>
          </a:prstGeom>
        </p:spPr>
      </p:pic>
      <p:pic>
        <p:nvPicPr>
          <p:cNvPr id="143" name="Рисунок 142">
            <a:extLst>
              <a:ext uri="{FF2B5EF4-FFF2-40B4-BE49-F238E27FC236}">
                <a16:creationId xmlns:a16="http://schemas.microsoft.com/office/drawing/2014/main" id="{92135845-7B14-4521-84D7-2155F326DC8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463582" y="4461756"/>
            <a:ext cx="1293495" cy="1293495"/>
          </a:xfrm>
          <a:prstGeom prst="rect">
            <a:avLst/>
          </a:prstGeom>
        </p:spPr>
      </p:pic>
      <p:pic>
        <p:nvPicPr>
          <p:cNvPr id="144" name="Рисунок 143">
            <a:extLst>
              <a:ext uri="{FF2B5EF4-FFF2-40B4-BE49-F238E27FC236}">
                <a16:creationId xmlns:a16="http://schemas.microsoft.com/office/drawing/2014/main" id="{0D872AEE-5624-4D45-A3A3-EA61D54463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948103" y="5806650"/>
            <a:ext cx="1204771" cy="1204771"/>
          </a:xfrm>
          <a:prstGeom prst="rect">
            <a:avLst/>
          </a:prstGeom>
        </p:spPr>
      </p:pic>
      <p:pic>
        <p:nvPicPr>
          <p:cNvPr id="145" name="Рисунок 144">
            <a:extLst>
              <a:ext uri="{FF2B5EF4-FFF2-40B4-BE49-F238E27FC236}">
                <a16:creationId xmlns:a16="http://schemas.microsoft.com/office/drawing/2014/main" id="{3F0E432F-8ACA-4687-8351-AF958BCFBC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549988" y="6007445"/>
            <a:ext cx="803181" cy="803181"/>
          </a:xfrm>
          <a:prstGeom prst="rect">
            <a:avLst/>
          </a:prstGeom>
        </p:spPr>
      </p:pic>
      <p:pic>
        <p:nvPicPr>
          <p:cNvPr id="146" name="Рисунок 145">
            <a:extLst>
              <a:ext uri="{FF2B5EF4-FFF2-40B4-BE49-F238E27FC236}">
                <a16:creationId xmlns:a16="http://schemas.microsoft.com/office/drawing/2014/main" id="{C744ABD2-5B43-4DEC-9C1B-8F0D40E4588F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962223" y="4600861"/>
            <a:ext cx="1015284" cy="1015284"/>
          </a:xfrm>
          <a:prstGeom prst="rect">
            <a:avLst/>
          </a:prstGeom>
        </p:spPr>
      </p:pic>
      <p:pic>
        <p:nvPicPr>
          <p:cNvPr id="147" name="Рисунок 146">
            <a:extLst>
              <a:ext uri="{FF2B5EF4-FFF2-40B4-BE49-F238E27FC236}">
                <a16:creationId xmlns:a16="http://schemas.microsoft.com/office/drawing/2014/main" id="{EA273028-8BDE-4745-AE72-FB0B9F9A3F8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931806" y="4584294"/>
            <a:ext cx="1048419" cy="1048419"/>
          </a:xfrm>
          <a:prstGeom prst="rect">
            <a:avLst/>
          </a:prstGeom>
        </p:spPr>
      </p:pic>
      <p:pic>
        <p:nvPicPr>
          <p:cNvPr id="156" name="Объект 4">
            <a:extLst>
              <a:ext uri="{FF2B5EF4-FFF2-40B4-BE49-F238E27FC236}">
                <a16:creationId xmlns:a16="http://schemas.microsoft.com/office/drawing/2014/main" id="{C7EF023A-AE5B-48DD-A698-9A5E10A85BD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-1169718" y="5843967"/>
            <a:ext cx="1293495" cy="1293495"/>
          </a:xfrm>
          <a:prstGeom prst="rect">
            <a:avLst/>
          </a:prstGeom>
        </p:spPr>
      </p:pic>
      <p:pic>
        <p:nvPicPr>
          <p:cNvPr id="157" name="Рисунок 156">
            <a:extLst>
              <a:ext uri="{FF2B5EF4-FFF2-40B4-BE49-F238E27FC236}">
                <a16:creationId xmlns:a16="http://schemas.microsoft.com/office/drawing/2014/main" id="{A4120492-B99D-4345-8DE2-CD4034943D6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07134" y="5983072"/>
            <a:ext cx="1015284" cy="1015284"/>
          </a:xfrm>
          <a:prstGeom prst="rect">
            <a:avLst/>
          </a:prstGeom>
        </p:spPr>
      </p:pic>
      <p:pic>
        <p:nvPicPr>
          <p:cNvPr id="158" name="Рисунок 157">
            <a:extLst>
              <a:ext uri="{FF2B5EF4-FFF2-40B4-BE49-F238E27FC236}">
                <a16:creationId xmlns:a16="http://schemas.microsoft.com/office/drawing/2014/main" id="{9518B02E-3871-46E2-AEE2-819EFD71FAE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18708" y="5843967"/>
            <a:ext cx="1293495" cy="1293495"/>
          </a:xfrm>
          <a:prstGeom prst="rect">
            <a:avLst/>
          </a:prstGeom>
        </p:spPr>
      </p:pic>
      <p:pic>
        <p:nvPicPr>
          <p:cNvPr id="159" name="Рисунок 158">
            <a:extLst>
              <a:ext uri="{FF2B5EF4-FFF2-40B4-BE49-F238E27FC236}">
                <a16:creationId xmlns:a16="http://schemas.microsoft.com/office/drawing/2014/main" id="{5C096979-B94F-4B9E-BF3E-3597245790C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225676" y="5888329"/>
            <a:ext cx="1204771" cy="1204771"/>
          </a:xfrm>
          <a:prstGeom prst="rect">
            <a:avLst/>
          </a:prstGeom>
        </p:spPr>
      </p:pic>
      <p:pic>
        <p:nvPicPr>
          <p:cNvPr id="160" name="Рисунок 159">
            <a:extLst>
              <a:ext uri="{FF2B5EF4-FFF2-40B4-BE49-F238E27FC236}">
                <a16:creationId xmlns:a16="http://schemas.microsoft.com/office/drawing/2014/main" id="{8E7BC846-94BE-4907-B95F-C7415F2B203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827564" y="6089124"/>
            <a:ext cx="803181" cy="803181"/>
          </a:xfrm>
          <a:prstGeom prst="rect">
            <a:avLst/>
          </a:prstGeom>
        </p:spPr>
      </p:pic>
      <p:pic>
        <p:nvPicPr>
          <p:cNvPr id="161" name="Рисунок 160">
            <a:extLst>
              <a:ext uri="{FF2B5EF4-FFF2-40B4-BE49-F238E27FC236}">
                <a16:creationId xmlns:a16="http://schemas.microsoft.com/office/drawing/2014/main" id="{098271CD-5EEE-469A-B163-033A32FEAD3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217349" y="5983072"/>
            <a:ext cx="1015284" cy="1015284"/>
          </a:xfrm>
          <a:prstGeom prst="rect">
            <a:avLst/>
          </a:prstGeom>
        </p:spPr>
      </p:pic>
      <p:pic>
        <p:nvPicPr>
          <p:cNvPr id="162" name="Объект 4">
            <a:extLst>
              <a:ext uri="{FF2B5EF4-FFF2-40B4-BE49-F238E27FC236}">
                <a16:creationId xmlns:a16="http://schemas.microsoft.com/office/drawing/2014/main" id="{5C007C49-F55B-4C9D-A9FC-B969336CBC3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668728" y="5843967"/>
            <a:ext cx="1293495" cy="1293495"/>
          </a:xfrm>
          <a:prstGeom prst="rect">
            <a:avLst/>
          </a:prstGeom>
        </p:spPr>
      </p:pic>
      <p:pic>
        <p:nvPicPr>
          <p:cNvPr id="163" name="Рисунок 162">
            <a:extLst>
              <a:ext uri="{FF2B5EF4-FFF2-40B4-BE49-F238E27FC236}">
                <a16:creationId xmlns:a16="http://schemas.microsoft.com/office/drawing/2014/main" id="{07253EA4-DFE3-4134-BDFF-744BA0A7D74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25378" y="5966505"/>
            <a:ext cx="1048419" cy="1048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3232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2880</TotalTime>
  <Words>3139</Words>
  <Application>Microsoft Office PowerPoint</Application>
  <PresentationFormat>Широкоэкранный</PresentationFormat>
  <Paragraphs>497</Paragraphs>
  <Slides>32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43" baseType="lpstr">
      <vt:lpstr>Arial</vt:lpstr>
      <vt:lpstr>Arial Black</vt:lpstr>
      <vt:lpstr>Calibri</vt:lpstr>
      <vt:lpstr>Calibri Light</vt:lpstr>
      <vt:lpstr>Century Gothic</vt:lpstr>
      <vt:lpstr>Consolas</vt:lpstr>
      <vt:lpstr>quote-cjk-patch</vt:lpstr>
      <vt:lpstr>Times New Roman</vt:lpstr>
      <vt:lpstr>Trebuchet MS</vt:lpstr>
      <vt:lpstr>Wingdings 3</vt:lpstr>
      <vt:lpstr>Тема Office</vt:lpstr>
      <vt:lpstr>Презентация PowerPoint</vt:lpstr>
      <vt:lpstr>Курсовая </vt:lpstr>
      <vt:lpstr>Актуальность разработки</vt:lpstr>
      <vt:lpstr>Актуальность разработки</vt:lpstr>
      <vt:lpstr>Актуальность разработки</vt:lpstr>
      <vt:lpstr>Презентация PowerPoint</vt:lpstr>
      <vt:lpstr>Архитектура ПО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Рекомендации пользователям по обеспечению информационной безопасности. </vt:lpstr>
      <vt:lpstr>Презентация PowerPoint</vt:lpstr>
      <vt:lpstr>Презентация PowerPoint</vt:lpstr>
      <vt:lpstr>Презентация PowerPoint</vt:lpstr>
      <vt:lpstr>Презентация PowerPoint</vt:lpstr>
      <vt:lpstr>Тестирование и отладка основных модулей </vt:lpstr>
      <vt:lpstr>Выводы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root</dc:creator>
  <cp:lastModifiedBy>root</cp:lastModifiedBy>
  <cp:revision>74</cp:revision>
  <dcterms:created xsi:type="dcterms:W3CDTF">2026-02-17T08:20:02Z</dcterms:created>
  <dcterms:modified xsi:type="dcterms:W3CDTF">2026-02-24T17:02:44Z</dcterms:modified>
</cp:coreProperties>
</file>