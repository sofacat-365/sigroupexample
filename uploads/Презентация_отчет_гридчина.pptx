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70" r:id="rId3"/>
    <p:sldId id="259" r:id="rId4"/>
    <p:sldId id="260" r:id="rId5"/>
    <p:sldId id="273" r:id="rId6"/>
    <p:sldId id="275" r:id="rId7"/>
    <p:sldId id="274" r:id="rId8"/>
    <p:sldId id="286" r:id="rId9"/>
    <p:sldId id="276" r:id="rId10"/>
    <p:sldId id="280" r:id="rId11"/>
    <p:sldId id="278" r:id="rId12"/>
    <p:sldId id="282" r:id="rId13"/>
    <p:sldId id="28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52" y="49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CC051-D67E-402E-A500-A7E05C06B0D7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F64DA-FFD9-4BE2-9787-4383320DFD7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648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2681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9007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3296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212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DA7C4-3DB9-49D3-8A87-765E83F2D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BCAF58-5A15-4902-B3AC-73EA58D76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8384A-468B-427F-ADBD-81A86954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3D6FF7-9EE8-4919-8887-653FF88E3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552670-B25F-491B-BC24-9A3A80E8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69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3125B-6631-4592-A707-1769E07A1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AE8BF3-05DA-48C8-85E2-3AD59C1A8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83E9CB-F479-4BE9-A0DF-43DB674C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66D0C7-315C-40B5-8BCA-AA4FC8E53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9CD6BE-7D4D-455E-8967-78D683DC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189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A3C0F-97F7-47C1-A5BF-36D7678A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AF9808-8004-4BF9-82A3-61265A87A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9C8BE-5DB4-481B-8826-1DFD19C0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645AB2-8701-4A30-BD7E-37E79377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B9BFFA-9E49-4A72-99F3-C34622EE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771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63850-EDE4-4C32-A40E-9BEBAE48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BE700C-4F9E-4E48-A1BB-32C0A4847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1EF8AF-6198-4D6C-BE60-A3C9BC4A2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8445E1-27A9-4650-B922-76A65203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887137-E58B-4490-BBA7-9463863E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6D7D31-04AE-4186-95A2-452BADC9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71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81696-A0B4-488F-B29E-8C573818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D60C6C-18CD-44D5-8A4B-4DEE6DE7F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488998-1414-489E-8E50-7F55830CC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B79546-8317-43DF-9410-0E6C0F19B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4B58FB-B6D6-497F-B709-4B54BDEF5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0B010F-CFF7-4F6D-9556-740429D9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F65993-4361-434B-A656-7B2E344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E22FB5B-0569-4DFB-8B01-9F976CE5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845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3E1AE-0B7C-4816-84D8-42C26B6E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4824B81-9798-4C3C-8BE0-D9910B182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63AE247-E3B0-482F-A980-00303333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0FB154-020F-4E47-A545-EFF1E870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586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2745FAF-04FF-4528-AD76-D3D60F95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ABAEC2-45C0-4353-A5F5-651D6858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240098-1E1A-412F-9513-57BF53A8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909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C74F1-1CC7-4F58-AD32-811B90B9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D4A987-023F-4AF6-89BD-42B8FF89A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B44F29-B42A-4307-8C00-3A463CFE9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121464-B040-44F1-BBA2-8B4710B6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0F16F7-9A52-4FC0-A775-15539455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B1858C-105E-4F66-9967-721358FC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622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E324C-0D60-4250-8317-037E2A0B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88BE69-9122-48ED-BB73-AD101AA2C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2A6421-53E9-4E27-9FE0-65AC42D4D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A1343D-6E09-4528-9737-93A77600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94B140-E23B-4DC8-A558-209FE3B0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2FB23E-097E-4358-8B28-E626F51B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558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CB8E6-53CA-4D60-B095-3E14AD0C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0E1CC4-2B4A-47C7-AE55-778079F8C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A7FA2A-8A61-421C-85C5-505A9304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137AFE-57C6-4079-80FC-E397CD52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6DAEC5-EFFE-46D2-8DD3-686254E06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6588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B88E02-0D58-4A99-BE86-27AD1F73C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5DAAD3-0680-40ED-A262-0B93C39B7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0BC27F-8686-46FF-86D5-9CDED63EF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7916A2-0881-4C23-928C-8F36132B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B1D47F-C565-410C-9374-9EA0DD8F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944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58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439EF-E41B-40B5-9A6F-DE9B2B75F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D62558-C92C-42FA-B0F3-DF5030F74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45B91B-1345-4D97-8E17-562E245C6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68886-33A2-4B1C-9ED0-45C4CA292D46}" type="datetimeFigureOut">
              <a:rPr lang="ru-RU" smtClean="0"/>
              <a:t>22.02.2026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E3A362-746B-4440-975D-49CD02AF9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4A4B49-1334-401A-805A-DE66504F3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4BCE8-0A81-4AB7-9503-DF45598C93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040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5.svg"/><Relationship Id="rId3" Type="http://schemas.microsoft.com/office/2007/relationships/hdphoto" Target="../media/hdphoto1.wdp"/><Relationship Id="rId7" Type="http://schemas.openxmlformats.org/officeDocument/2006/relationships/image" Target="../media/image27.svg"/><Relationship Id="rId12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29.svg"/><Relationship Id="rId5" Type="http://schemas.openxmlformats.org/officeDocument/2006/relationships/image" Target="../media/image11.svg"/><Relationship Id="rId10" Type="http://schemas.openxmlformats.org/officeDocument/2006/relationships/image" Target="../media/image28.png"/><Relationship Id="rId4" Type="http://schemas.openxmlformats.org/officeDocument/2006/relationships/image" Target="../media/image10.png"/><Relationship Id="rId9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2030276" y="1569556"/>
            <a:ext cx="7856620" cy="20162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fontAlgn="base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«ДОНСКОЙ ГОСУДАРСТВЕННЫЙ ТЕХНИЧЕСКИЙ УНИВЕРСИТЕТ»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(ДГТУ)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Авиационно-технологический колледж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3C2608F-0A7F-4BCC-AE70-AD38E34C8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306" y="0"/>
            <a:ext cx="1472561" cy="156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01819" y="3291350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756" y="3691460"/>
            <a:ext cx="944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сайта-портфолио для научно-исследовательской группы с публикацией статей, данными экспериментов и блогом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598311" y="5104535"/>
            <a:ext cx="10848622" cy="1753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Выполнил студент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группы ИСП9-К42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С.О.Гридчина </a:t>
            </a:r>
          </a:p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Руководитель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А.А. Михалева</a:t>
            </a:r>
          </a:p>
          <a:p>
            <a:pPr algn="r"/>
            <a:endParaRPr lang="ru-RU" sz="2000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Ростов-на-Дону, 2026</a:t>
            </a:r>
          </a:p>
        </p:txBody>
      </p:sp>
    </p:spTree>
    <p:extLst>
      <p:ext uri="{BB962C8B-B14F-4D97-AF65-F5344CB8AC3E}">
        <p14:creationId xmlns:p14="http://schemas.microsoft.com/office/powerpoint/2010/main" val="3749762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C565BBA6-387D-4C0A-BEE3-ED841914FA92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6A0095-A7CF-49F1-9FC5-955D8254A994}"/>
              </a:ext>
            </a:extLst>
          </p:cNvPr>
          <p:cNvSpPr/>
          <p:nvPr/>
        </p:nvSpPr>
        <p:spPr>
          <a:xfrm>
            <a:off x="0" y="5752618"/>
            <a:ext cx="12192000" cy="1105382"/>
          </a:xfrm>
          <a:prstGeom prst="rect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5ABC7C6-E2E1-4DA9-8F71-258A70671656}"/>
              </a:ext>
            </a:extLst>
          </p:cNvPr>
          <p:cNvSpPr/>
          <p:nvPr/>
        </p:nvSpPr>
        <p:spPr>
          <a:xfrm>
            <a:off x="569953" y="2032434"/>
            <a:ext cx="4572000" cy="2926080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4675E67-F4A6-4443-A50D-820157ED726F}"/>
              </a:ext>
            </a:extLst>
          </p:cNvPr>
          <p:cNvSpPr/>
          <p:nvPr/>
        </p:nvSpPr>
        <p:spPr>
          <a:xfrm>
            <a:off x="5873884" y="2032434"/>
            <a:ext cx="5759235" cy="2926080"/>
          </a:xfrm>
          <a:prstGeom prst="round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150760A-C9B2-476D-8FA9-A8018A4D3439}"/>
              </a:ext>
            </a:extLst>
          </p:cNvPr>
          <p:cNvSpPr/>
          <p:nvPr/>
        </p:nvSpPr>
        <p:spPr>
          <a:xfrm>
            <a:off x="897858" y="2270831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7B8A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A7D5A00-8483-44E0-BE93-A70DCA2088CA}"/>
              </a:ext>
            </a:extLst>
          </p:cNvPr>
          <p:cNvSpPr/>
          <p:nvPr/>
        </p:nvSpPr>
        <p:spPr>
          <a:xfrm>
            <a:off x="806418" y="2636591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ea typeface="Arial" pitchFamily="34" charset="-122"/>
                <a:cs typeface="Arial" panose="020B0604020202020204" pitchFamily="34" charset="0"/>
              </a:rPr>
              <a:t>Нет единого места для хранения данных группы</a:t>
            </a:r>
            <a:endParaRPr lang="en-US" sz="1600" dirty="0">
              <a:solidFill>
                <a:srgbClr val="577B8A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Статичные визитки не отражают инновационность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Отсутствует интерактивная демонстрация экспериментов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FC697C9-2CFA-4B8D-A111-12686C23B595}"/>
              </a:ext>
            </a:extLst>
          </p:cNvPr>
          <p:cNvSpPr/>
          <p:nvPr/>
        </p:nvSpPr>
        <p:spPr>
          <a:xfrm>
            <a:off x="6117723" y="2270831"/>
            <a:ext cx="40746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577B8E"/>
                </a:solidFill>
                <a:latin typeface="Century Gothic" panose="020B0502020202020204" pitchFamily="34" charset="0"/>
              </a:rPr>
              <a:t>РЕШЕНИЕ</a:t>
            </a:r>
            <a:endParaRPr lang="en-US" sz="2000" b="1" dirty="0">
              <a:solidFill>
                <a:srgbClr val="577B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9612011-6B91-4D1F-BC2D-26FADE77E978}"/>
              </a:ext>
            </a:extLst>
          </p:cNvPr>
          <p:cNvSpPr/>
          <p:nvPr/>
        </p:nvSpPr>
        <p:spPr>
          <a:xfrm>
            <a:off x="6087243" y="2636591"/>
            <a:ext cx="528924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Многофункциональный сайт-портфолио на PHP/MySQL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Централизованное хранение: статьи, проекты, блог, данные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Ролевая модель: администратор + посетитель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Адаптивный дизайн для любых устройств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752CE-A343-45B7-B72B-4305BE21BE56}"/>
              </a:ext>
            </a:extLst>
          </p:cNvPr>
          <p:cNvSpPr txBox="1"/>
          <p:nvPr/>
        </p:nvSpPr>
        <p:spPr>
          <a:xfrm>
            <a:off x="569953" y="5952941"/>
            <a:ext cx="9572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Без современного веб-ресурса научная группа теряет видимость, партнёров и возможность обмена данными</a:t>
            </a:r>
            <a:endParaRPr lang="ru-RU" dirty="0">
              <a:solidFill>
                <a:srgbClr val="F9F9F9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FA82F0C7-AAEE-4066-8BAE-130228FEA464}"/>
              </a:ext>
            </a:extLst>
          </p:cNvPr>
          <p:cNvGrpSpPr/>
          <p:nvPr/>
        </p:nvGrpSpPr>
        <p:grpSpPr>
          <a:xfrm>
            <a:off x="556360" y="-112281"/>
            <a:ext cx="10515600" cy="1325563"/>
            <a:chOff x="509286" y="256139"/>
            <a:chExt cx="10515600" cy="1325563"/>
          </a:xfrm>
        </p:grpSpPr>
        <p:sp>
          <p:nvSpPr>
            <p:cNvPr id="4" name="Заголовок 1">
              <a:extLst>
                <a:ext uri="{FF2B5EF4-FFF2-40B4-BE49-F238E27FC236}">
                  <a16:creationId xmlns:a16="http://schemas.microsoft.com/office/drawing/2014/main" id="{048D9CFF-0B98-4278-99E3-06D767ACBA8A}"/>
                </a:ext>
              </a:extLst>
            </p:cNvPr>
            <p:cNvSpPr txBox="1">
              <a:spLocks/>
            </p:cNvSpPr>
            <p:nvPr/>
          </p:nvSpPr>
          <p:spPr>
            <a:xfrm>
              <a:off x="509286" y="256139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>
                  <a:solidFill>
                    <a:srgbClr val="2C3E50"/>
                  </a:solidFill>
                  <a:latin typeface="Century Gothic" panose="020B0502020202020204" pitchFamily="34" charset="0"/>
                  <a:ea typeface="Arial Black" pitchFamily="34" charset="-122"/>
                  <a:cs typeface="Arial Black" pitchFamily="34" charset="-120"/>
                </a:rPr>
                <a:t>Актуальность темы</a:t>
              </a:r>
              <a:endParaRPr lang="en-US" dirty="0">
                <a:solidFill>
                  <a:srgbClr val="2C3E50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E93AC3EC-21C7-4DE7-8F1D-D4C8E9897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0516" y="425402"/>
              <a:ext cx="912617" cy="912617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812311C0-AF87-42B7-BC66-8AC3C73A5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71853" y="473666"/>
              <a:ext cx="847897" cy="847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53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2758CC2-8190-4694-BCAB-66CDB830FCBE}"/>
              </a:ext>
            </a:extLst>
          </p:cNvPr>
          <p:cNvSpPr/>
          <p:nvPr/>
        </p:nvSpPr>
        <p:spPr>
          <a:xfrm>
            <a:off x="693821" y="1334788"/>
            <a:ext cx="10765116" cy="1227661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верхние углы 12">
            <a:extLst>
              <a:ext uri="{FF2B5EF4-FFF2-40B4-BE49-F238E27FC236}">
                <a16:creationId xmlns:a16="http://schemas.microsoft.com/office/drawing/2014/main" id="{BBAB3284-3196-4C84-9BBB-7DBDAA887E85}"/>
              </a:ext>
            </a:extLst>
          </p:cNvPr>
          <p:cNvSpPr/>
          <p:nvPr/>
        </p:nvSpPr>
        <p:spPr>
          <a:xfrm rot="16200000">
            <a:off x="580035" y="1437851"/>
            <a:ext cx="1227660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/>
              <a:t>1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6CF66B2-9879-4D64-B513-C63B33C4D81C}"/>
              </a:ext>
            </a:extLst>
          </p:cNvPr>
          <p:cNvSpPr/>
          <p:nvPr/>
        </p:nvSpPr>
        <p:spPr>
          <a:xfrm>
            <a:off x="0" y="5752618"/>
            <a:ext cx="12192000" cy="110538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9C8B469-84B0-46B6-9550-B2F2A685F2BF}"/>
              </a:ext>
            </a:extLst>
          </p:cNvPr>
          <p:cNvSpPr/>
          <p:nvPr/>
        </p:nvSpPr>
        <p:spPr>
          <a:xfrm>
            <a:off x="693821" y="4265175"/>
            <a:ext cx="10765116" cy="1227661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верхние углы 16">
            <a:extLst>
              <a:ext uri="{FF2B5EF4-FFF2-40B4-BE49-F238E27FC236}">
                <a16:creationId xmlns:a16="http://schemas.microsoft.com/office/drawing/2014/main" id="{11F91AF2-DE6A-4B2B-856D-468E82AC4D2B}"/>
              </a:ext>
            </a:extLst>
          </p:cNvPr>
          <p:cNvSpPr/>
          <p:nvPr/>
        </p:nvSpPr>
        <p:spPr>
          <a:xfrm rot="16200000">
            <a:off x="580035" y="4376476"/>
            <a:ext cx="1227660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/>
              <a:t>3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67E0ACA-BDC0-499A-B2BD-8C26922CCEBB}"/>
              </a:ext>
            </a:extLst>
          </p:cNvPr>
          <p:cNvSpPr/>
          <p:nvPr/>
        </p:nvSpPr>
        <p:spPr>
          <a:xfrm>
            <a:off x="693821" y="2745562"/>
            <a:ext cx="10765116" cy="1227658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верхние углы 14">
            <a:extLst>
              <a:ext uri="{FF2B5EF4-FFF2-40B4-BE49-F238E27FC236}">
                <a16:creationId xmlns:a16="http://schemas.microsoft.com/office/drawing/2014/main" id="{A5A0A3E5-6DA0-42FE-B8DA-2C26C9C74169}"/>
              </a:ext>
            </a:extLst>
          </p:cNvPr>
          <p:cNvSpPr/>
          <p:nvPr/>
        </p:nvSpPr>
        <p:spPr>
          <a:xfrm rot="16200000">
            <a:off x="580036" y="2860182"/>
            <a:ext cx="1227658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/>
              <a:t>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81214B-36FD-4615-91A3-0D0E9CBBC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9" y="5989587"/>
            <a:ext cx="12104572" cy="5032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Структура проекта: /admin/ · /assets/css/ · /assets/js/ · /obschee/ · index.php · config.php · database.php</a:t>
            </a:r>
          </a:p>
        </p:txBody>
      </p:sp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B895E85D-F9FF-4017-B60D-19EB1E6D8E1B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39DF2-3583-427D-A46E-6508BCA7F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21" y="0"/>
            <a:ext cx="10515600" cy="108709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Архитектура </a:t>
            </a:r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ПО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3E69B-FDDD-49ED-8409-FE5EFDE331C0}"/>
              </a:ext>
            </a:extLst>
          </p:cNvPr>
          <p:cNvSpPr txBox="1"/>
          <p:nvPr/>
        </p:nvSpPr>
        <p:spPr>
          <a:xfrm>
            <a:off x="1801463" y="1324063"/>
            <a:ext cx="9388337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800" dirty="0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(Модель): Классы и функции PHP, отвечающие за непосредственную работу с данными в MySQL (SQL-запросы).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9B951-12C9-4D43-AEA0-095CE52FEAF4}"/>
              </a:ext>
            </a:extLst>
          </p:cNvPr>
          <p:cNvSpPr txBox="1"/>
          <p:nvPr/>
        </p:nvSpPr>
        <p:spPr>
          <a:xfrm>
            <a:off x="1812549" y="4222697"/>
            <a:ext cx="939687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800" dirty="0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Controller (Контроллер): PHP-скрипты (например, index.php, admin.php), которые принимают входящие HTTP-запросы, вызывают соответствующие методы для обработки данных и передают результат пользователю.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AD2CB-7095-4355-A128-E5CFA12F6F2A}"/>
              </a:ext>
            </a:extLst>
          </p:cNvPr>
          <p:cNvSpPr txBox="1"/>
          <p:nvPr/>
        </p:nvSpPr>
        <p:spPr>
          <a:xfrm>
            <a:off x="1801463" y="2744728"/>
            <a:ext cx="939687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800" dirty="0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View (Представление): HTML-страницы, которые наполняются данными, полученными от контроллера.</a:t>
            </a:r>
          </a:p>
        </p:txBody>
      </p:sp>
    </p:spTree>
    <p:extLst>
      <p:ext uri="{BB962C8B-B14F-4D97-AF65-F5344CB8AC3E}">
        <p14:creationId xmlns:p14="http://schemas.microsoft.com/office/powerpoint/2010/main" val="250626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C02EAA5A-99E9-418E-9AEF-390D94D91B73}"/>
              </a:ext>
            </a:extLst>
          </p:cNvPr>
          <p:cNvGrpSpPr/>
          <p:nvPr/>
        </p:nvGrpSpPr>
        <p:grpSpPr>
          <a:xfrm>
            <a:off x="2379964" y="1761808"/>
            <a:ext cx="7432071" cy="4433615"/>
            <a:chOff x="2668386" y="1946841"/>
            <a:chExt cx="5303520" cy="3163824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EE35F6B9-B77B-4744-9623-13B084B40897}"/>
                </a:ext>
              </a:extLst>
            </p:cNvPr>
            <p:cNvSpPr/>
            <p:nvPr/>
          </p:nvSpPr>
          <p:spPr>
            <a:xfrm>
              <a:off x="2668386" y="1946841"/>
              <a:ext cx="5303520" cy="914400"/>
            </a:xfrm>
            <a:prstGeom prst="roundRect">
              <a:avLst/>
            </a:prstGeom>
            <a:solidFill>
              <a:srgbClr val="577C8E"/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022358A3-C326-4167-AD3B-A34C41182668}"/>
                </a:ext>
              </a:extLst>
            </p:cNvPr>
            <p:cNvSpPr/>
            <p:nvPr/>
          </p:nvSpPr>
          <p:spPr>
            <a:xfrm>
              <a:off x="2714106" y="2019993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2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HTML · CSS · JavaScript</a:t>
              </a:r>
              <a:endParaRPr lang="en-US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DE3026EA-EB81-4542-8026-8EAA697A38AF}"/>
                </a:ext>
              </a:extLst>
            </p:cNvPr>
            <p:cNvSpPr/>
            <p:nvPr/>
          </p:nvSpPr>
          <p:spPr>
            <a:xfrm>
              <a:off x="2714106" y="2422329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Семантическая разметка, </a:t>
              </a:r>
              <a:r>
                <a:rPr lang="ru-RU" sz="1600" dirty="0">
                  <a:solidFill>
                    <a:srgbClr val="FFFFFF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а</a:t>
              </a:r>
              <a:r>
                <a:rPr lang="en-US" sz="1600" dirty="0">
                  <a:solidFill>
                    <a:srgbClr val="FFFFFF"/>
                  </a:solidFill>
                  <a:latin typeface="Century Gothic" panose="020B0502020202020204" pitchFamily="34" charset="0"/>
                  <a:cs typeface="Calibri" pitchFamily="34" charset="-120"/>
                </a:rPr>
                <a:t>даптивный дизайн, Grid, анимации</a:t>
              </a:r>
            </a:p>
            <a:p>
              <a:pPr marL="0" indent="0" algn="ctr">
                <a:buNone/>
              </a:pPr>
              <a:endParaRPr lang="en-US" sz="1600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04213AA7-103E-40D6-A287-66C0999AF8F3}"/>
                </a:ext>
              </a:extLst>
            </p:cNvPr>
            <p:cNvSpPr/>
            <p:nvPr/>
          </p:nvSpPr>
          <p:spPr>
            <a:xfrm>
              <a:off x="2668386" y="3071553"/>
              <a:ext cx="5303520" cy="914400"/>
            </a:xfrm>
            <a:prstGeom prst="roundRect">
              <a:avLst/>
            </a:prstGeom>
            <a:solidFill>
              <a:srgbClr val="2C3E50"/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7F22E73D-A10C-45CF-95A6-7B1BE8EAF5CB}"/>
                </a:ext>
              </a:extLst>
            </p:cNvPr>
            <p:cNvSpPr/>
            <p:nvPr/>
          </p:nvSpPr>
          <p:spPr>
            <a:xfrm>
              <a:off x="2714106" y="3144705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PHP · MVC</a:t>
              </a: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10BF57B4-EBF0-4652-9EEE-34767561A8CC}"/>
                </a:ext>
              </a:extLst>
            </p:cNvPr>
            <p:cNvSpPr/>
            <p:nvPr/>
          </p:nvSpPr>
          <p:spPr>
            <a:xfrm>
              <a:off x="2714106" y="3492177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ru-RU" sz="1600" dirty="0">
                  <a:solidFill>
                    <a:srgbClr val="FFFFFF"/>
                  </a:solidFill>
                  <a:latin typeface="Century Gothic" panose="020B0502020202020204" pitchFamily="34" charset="0"/>
                  <a:cs typeface="Calibri" pitchFamily="34" charset="-120"/>
                </a:rPr>
                <a:t>Объектно-ориентированное программирование (ООП), архитектура MVC, автозагрузка классов</a:t>
              </a:r>
              <a:endParaRPr lang="en-US" sz="1600" dirty="0">
                <a:solidFill>
                  <a:srgbClr val="FFFFFF"/>
                </a:solidFill>
                <a:latin typeface="Century Gothic" panose="020B0502020202020204" pitchFamily="34" charset="0"/>
                <a:cs typeface="Calibri" pitchFamily="34" charset="-120"/>
              </a:endParaRPr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A5CF8E3C-C2E2-4AD3-BA11-E893966571A5}"/>
                </a:ext>
              </a:extLst>
            </p:cNvPr>
            <p:cNvSpPr/>
            <p:nvPr/>
          </p:nvSpPr>
          <p:spPr>
            <a:xfrm>
              <a:off x="2668386" y="4196265"/>
              <a:ext cx="5303520" cy="914400"/>
            </a:xfrm>
            <a:prstGeom prst="roundRect">
              <a:avLst/>
            </a:prstGeom>
            <a:solidFill>
              <a:srgbClr val="0B1B36"/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35541880-A4CC-4DD9-8CBE-E5E68B2FD049}"/>
                </a:ext>
              </a:extLst>
            </p:cNvPr>
            <p:cNvSpPr/>
            <p:nvPr/>
          </p:nvSpPr>
          <p:spPr>
            <a:xfrm>
              <a:off x="2714106" y="4269417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MySQL · PDO · phpMyAdmin</a:t>
              </a:r>
              <a:endParaRPr lang="en-US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5EAFA24B-EEF1-4FD9-BD6F-E3CC73C7E43E}"/>
                </a:ext>
              </a:extLst>
            </p:cNvPr>
            <p:cNvSpPr/>
            <p:nvPr/>
          </p:nvSpPr>
          <p:spPr>
            <a:xfrm>
              <a:off x="2714106" y="4616889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ru-RU" sz="1600" dirty="0">
                  <a:solidFill>
                    <a:srgbClr val="D0ECF8"/>
                  </a:solidFill>
                  <a:latin typeface="Century Gothic" panose="020B0502020202020204" pitchFamily="34" charset="0"/>
                </a:rPr>
                <a:t>База данных, сложные запросы, связи таблиц, PDO (подготовленные запросы)</a:t>
              </a:r>
              <a:endParaRPr lang="en-US" sz="1600" dirty="0">
                <a:solidFill>
                  <a:srgbClr val="D0ECF8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DC495D8B-857E-4590-AA46-D4A6718FD9B5}"/>
                </a:ext>
              </a:extLst>
            </p:cNvPr>
            <p:cNvSpPr/>
            <p:nvPr/>
          </p:nvSpPr>
          <p:spPr>
            <a:xfrm>
              <a:off x="5023104" y="2861241"/>
              <a:ext cx="595376" cy="210312"/>
            </a:xfrm>
            <a:prstGeom prst="rect">
              <a:avLst/>
            </a:prstGeom>
            <a:gradFill>
              <a:gsLst>
                <a:gs pos="0">
                  <a:srgbClr val="577C8E"/>
                </a:gs>
                <a:gs pos="100000">
                  <a:srgbClr val="2C3E50"/>
                </a:gs>
              </a:gsLst>
              <a:lin ang="5400000" scaled="1"/>
            </a:gradFill>
            <a:ln w="12700">
              <a:noFill/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8BCE6F47-2FC8-4A61-942E-73B307C630B5}"/>
                </a:ext>
              </a:extLst>
            </p:cNvPr>
            <p:cNvSpPr/>
            <p:nvPr/>
          </p:nvSpPr>
          <p:spPr>
            <a:xfrm>
              <a:off x="5023104" y="3985953"/>
              <a:ext cx="595376" cy="210312"/>
            </a:xfrm>
            <a:prstGeom prst="rect">
              <a:avLst/>
            </a:prstGeom>
            <a:gradFill>
              <a:gsLst>
                <a:gs pos="0">
                  <a:srgbClr val="2C3E50"/>
                </a:gs>
                <a:gs pos="100000">
                  <a:srgbClr val="0B1B36"/>
                </a:gs>
              </a:gsLst>
              <a:lin ang="5400000" scaled="1"/>
            </a:gradFill>
            <a:ln w="12700">
              <a:noFill/>
              <a:prstDash val="solid"/>
            </a:ln>
          </p:spPr>
        </p:sp>
      </p:grpSp>
      <p:sp>
        <p:nvSpPr>
          <p:cNvPr id="26" name="Прямоугольник: один скругленный угол 25">
            <a:extLst>
              <a:ext uri="{FF2B5EF4-FFF2-40B4-BE49-F238E27FC236}">
                <a16:creationId xmlns:a16="http://schemas.microsoft.com/office/drawing/2014/main" id="{2F2B7128-2584-4332-B685-B23DFCBBCEBF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BF3555E5-8D14-4067-A69B-AECA40B694D1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С</a:t>
            </a:r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редства разработки</a:t>
            </a:r>
          </a:p>
        </p:txBody>
      </p:sp>
      <p:pic>
        <p:nvPicPr>
          <p:cNvPr id="24" name="Объект 4">
            <a:extLst>
              <a:ext uri="{FF2B5EF4-FFF2-40B4-BE49-F238E27FC236}">
                <a16:creationId xmlns:a16="http://schemas.microsoft.com/office/drawing/2014/main" id="{EF4D9219-D13C-46FF-B423-4843D85E3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9355" y="86204"/>
            <a:ext cx="974709" cy="97470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B27D526-CCFA-48C0-A755-F048094E28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8360" y="214184"/>
            <a:ext cx="742236" cy="7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9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F550F60F-F0C1-4A11-9329-084B7E65D1E3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4DD3E72-3681-4244-AECA-2155C77A4828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Функционал системы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C591266-2825-43FA-9AFD-80A29F0E2725}"/>
              </a:ext>
            </a:extLst>
          </p:cNvPr>
          <p:cNvSpPr/>
          <p:nvPr/>
        </p:nvSpPr>
        <p:spPr>
          <a:xfrm>
            <a:off x="415637" y="1307274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4B23311-F4EB-4E4C-9B0C-E1B898079C2D}"/>
              </a:ext>
            </a:extLst>
          </p:cNvPr>
          <p:cNvSpPr/>
          <p:nvPr/>
        </p:nvSpPr>
        <p:spPr>
          <a:xfrm>
            <a:off x="1366613" y="152673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Публикации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67D906C-2F47-40EA-A8BF-04CC1CE78DC6}"/>
              </a:ext>
            </a:extLst>
          </p:cNvPr>
          <p:cNvSpPr/>
          <p:nvPr/>
        </p:nvSpPr>
        <p:spPr>
          <a:xfrm>
            <a:off x="659477" y="216071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Список статей, фильтр, поиск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16B9A2A-EB8F-4E6D-B48E-E01AC158B673}"/>
              </a:ext>
            </a:extLst>
          </p:cNvPr>
          <p:cNvSpPr/>
          <p:nvPr/>
        </p:nvSpPr>
        <p:spPr>
          <a:xfrm>
            <a:off x="4158581" y="1307274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AF705B3-D0C5-412E-A531-458C4A2F4227}"/>
              </a:ext>
            </a:extLst>
          </p:cNvPr>
          <p:cNvSpPr/>
          <p:nvPr/>
        </p:nvSpPr>
        <p:spPr>
          <a:xfrm>
            <a:off x="5109557" y="152673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Проекты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C4BD42-091F-48D2-BBF3-4978817F6156}"/>
              </a:ext>
            </a:extLst>
          </p:cNvPr>
          <p:cNvSpPr/>
          <p:nvPr/>
        </p:nvSpPr>
        <p:spPr>
          <a:xfrm>
            <a:off x="4402421" y="216071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Карточки проектов, статус, детальный просмотр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8C0C836-1134-4544-AEB0-1B3C0D9A84B8}"/>
              </a:ext>
            </a:extLst>
          </p:cNvPr>
          <p:cNvSpPr/>
          <p:nvPr/>
        </p:nvSpPr>
        <p:spPr>
          <a:xfrm>
            <a:off x="7901525" y="1307274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5316387-2C6B-46AB-AE16-7EEE94776C3D}"/>
              </a:ext>
            </a:extLst>
          </p:cNvPr>
          <p:cNvSpPr/>
          <p:nvPr/>
        </p:nvSpPr>
        <p:spPr>
          <a:xfrm>
            <a:off x="8852501" y="152673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Блог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DDC6FB7-85F2-46EE-914A-22DEBE6B0A85}"/>
              </a:ext>
            </a:extLst>
          </p:cNvPr>
          <p:cNvSpPr/>
          <p:nvPr/>
        </p:nvSpPr>
        <p:spPr>
          <a:xfrm>
            <a:off x="8145365" y="216071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Записи с тегами, поиск по автору и дате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F1AC8AF-E3EB-4221-8703-0317A00EC0A8}"/>
              </a:ext>
            </a:extLst>
          </p:cNvPr>
          <p:cNvSpPr/>
          <p:nvPr/>
        </p:nvSpPr>
        <p:spPr>
          <a:xfrm>
            <a:off x="415637" y="3465258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4783EBB-7085-4648-B0EC-BDCE8E2F0817}"/>
              </a:ext>
            </a:extLst>
          </p:cNvPr>
          <p:cNvSpPr/>
          <p:nvPr/>
        </p:nvSpPr>
        <p:spPr>
          <a:xfrm>
            <a:off x="1366613" y="368471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Науч. данные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52219A0-1DD7-4015-998F-AEECF401DF63}"/>
              </a:ext>
            </a:extLst>
          </p:cNvPr>
          <p:cNvSpPr/>
          <p:nvPr/>
        </p:nvSpPr>
        <p:spPr>
          <a:xfrm>
            <a:off x="659477" y="431869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Наборы данных, фильтрация по доступу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F7C954CA-41CF-40DD-A8AA-980BC5DF4344}"/>
              </a:ext>
            </a:extLst>
          </p:cNvPr>
          <p:cNvSpPr/>
          <p:nvPr/>
        </p:nvSpPr>
        <p:spPr>
          <a:xfrm>
            <a:off x="4158581" y="3465258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6B6F00C-61CA-47CB-90E5-93E87411E6B5}"/>
              </a:ext>
            </a:extLst>
          </p:cNvPr>
          <p:cNvSpPr/>
          <p:nvPr/>
        </p:nvSpPr>
        <p:spPr>
          <a:xfrm>
            <a:off x="5109557" y="368471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b="1" dirty="0">
                <a:solidFill>
                  <a:srgbClr val="2F4157"/>
                </a:solidFill>
                <a:latin typeface="Century Gothic" panose="020B0502020202020204" pitchFamily="34" charset="0"/>
              </a:rPr>
              <a:t>Главная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0EDB90F-10AD-4378-A41A-DBBEB424C753}"/>
              </a:ext>
            </a:extLst>
          </p:cNvPr>
          <p:cNvSpPr/>
          <p:nvPr/>
        </p:nvSpPr>
        <p:spPr>
          <a:xfrm>
            <a:off x="4402421" y="431869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Краткая информация о группе и последние работы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7038259-1270-45C9-AC34-2D589923391B}"/>
              </a:ext>
            </a:extLst>
          </p:cNvPr>
          <p:cNvSpPr/>
          <p:nvPr/>
        </p:nvSpPr>
        <p:spPr>
          <a:xfrm>
            <a:off x="7901525" y="3465258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0D71AA2-7648-4B33-A982-AC5D95773B1C}"/>
              </a:ext>
            </a:extLst>
          </p:cNvPr>
          <p:cNvSpPr/>
          <p:nvPr/>
        </p:nvSpPr>
        <p:spPr>
          <a:xfrm>
            <a:off x="8852501" y="368471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Админ-панель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17DF209-427B-4339-BD12-88734887C4E9}"/>
              </a:ext>
            </a:extLst>
          </p:cNvPr>
          <p:cNvSpPr/>
          <p:nvPr/>
        </p:nvSpPr>
        <p:spPr>
          <a:xfrm>
            <a:off x="8145365" y="431869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CRUD-операции, авторизация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3" name="Рисунок 2" descr="Книги со сплошной заливкой">
            <a:extLst>
              <a:ext uri="{FF2B5EF4-FFF2-40B4-BE49-F238E27FC236}">
                <a16:creationId xmlns:a16="http://schemas.microsoft.com/office/drawing/2014/main" id="{1F9F8AA0-3229-42F9-B2B8-7B316B9D4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53" y="1476571"/>
            <a:ext cx="735640" cy="735640"/>
          </a:xfrm>
          <a:prstGeom prst="rect">
            <a:avLst/>
          </a:prstGeom>
        </p:spPr>
      </p:pic>
      <p:pic>
        <p:nvPicPr>
          <p:cNvPr id="32" name="Рисунок 31" descr="Мозг со сплошной заливкой">
            <a:extLst>
              <a:ext uri="{FF2B5EF4-FFF2-40B4-BE49-F238E27FC236}">
                <a16:creationId xmlns:a16="http://schemas.microsoft.com/office/drawing/2014/main" id="{50B0763A-D29F-43DA-8553-8C4D2BFA39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399" y="3603808"/>
            <a:ext cx="816814" cy="816814"/>
          </a:xfrm>
          <a:prstGeom prst="rect">
            <a:avLst/>
          </a:prstGeom>
        </p:spPr>
      </p:pic>
      <p:pic>
        <p:nvPicPr>
          <p:cNvPr id="34" name="Рисунок 33" descr="Портфель со сплошной заливкой">
            <a:extLst>
              <a:ext uri="{FF2B5EF4-FFF2-40B4-BE49-F238E27FC236}">
                <a16:creationId xmlns:a16="http://schemas.microsoft.com/office/drawing/2014/main" id="{FB633611-C306-4BF8-BEE9-D5A1D1A6DD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2097" y="1476571"/>
            <a:ext cx="718692" cy="718692"/>
          </a:xfrm>
          <a:prstGeom prst="rect">
            <a:avLst/>
          </a:prstGeom>
        </p:spPr>
      </p:pic>
      <p:pic>
        <p:nvPicPr>
          <p:cNvPr id="36" name="Рисунок 35" descr="Здание со сплошной заливкой">
            <a:extLst>
              <a:ext uri="{FF2B5EF4-FFF2-40B4-BE49-F238E27FC236}">
                <a16:creationId xmlns:a16="http://schemas.microsoft.com/office/drawing/2014/main" id="{9386924D-FA27-4149-9273-C9C9F8BE8B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80501" y="3603808"/>
            <a:ext cx="798576" cy="798576"/>
          </a:xfrm>
          <a:prstGeom prst="rect">
            <a:avLst/>
          </a:prstGeom>
        </p:spPr>
      </p:pic>
      <p:pic>
        <p:nvPicPr>
          <p:cNvPr id="40" name="Рисунок 39" descr="База данных со сплошной заливкой">
            <a:extLst>
              <a:ext uri="{FF2B5EF4-FFF2-40B4-BE49-F238E27FC236}">
                <a16:creationId xmlns:a16="http://schemas.microsoft.com/office/drawing/2014/main" id="{FC35C5EF-0D3C-4CC1-9458-B97AFA416C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4001" y="3631558"/>
            <a:ext cx="789064" cy="789064"/>
          </a:xfrm>
          <a:prstGeom prst="rect">
            <a:avLst/>
          </a:prstGeom>
        </p:spPr>
      </p:pic>
      <p:pic>
        <p:nvPicPr>
          <p:cNvPr id="42" name="Рисунок 41" descr="Документ со сплошной заливкой">
            <a:extLst>
              <a:ext uri="{FF2B5EF4-FFF2-40B4-BE49-F238E27FC236}">
                <a16:creationId xmlns:a16="http://schemas.microsoft.com/office/drawing/2014/main" id="{1CEFBE4A-0E14-482A-A0AF-7F5E2154C64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2946" y="1526730"/>
            <a:ext cx="718692" cy="718692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6EC0857-E395-4997-9C05-3043751A2DBE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10166" b="16570"/>
          <a:stretch/>
        </p:blipFill>
        <p:spPr>
          <a:xfrm>
            <a:off x="1109" y="6083354"/>
            <a:ext cx="12201173" cy="76231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7165EAC-36D4-4F3C-A988-9A2446DFC8EE}"/>
              </a:ext>
            </a:extLst>
          </p:cNvPr>
          <p:cNvSpPr txBox="1"/>
          <p:nvPr/>
        </p:nvSpPr>
        <p:spPr>
          <a:xfrm>
            <a:off x="374074" y="5643330"/>
            <a:ext cx="6133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6 разделов · 2 роли · Адаптивный дизайн · CRUD</a:t>
            </a:r>
            <a:endParaRPr lang="ru-RU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A67906-112D-4A2D-8C13-A1B5FFDEFEC5}"/>
              </a:ext>
            </a:extLst>
          </p:cNvPr>
          <p:cNvSpPr txBox="1"/>
          <p:nvPr/>
        </p:nvSpPr>
        <p:spPr>
          <a:xfrm>
            <a:off x="8376671" y="5808692"/>
            <a:ext cx="4175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577C8E"/>
                </a:solidFill>
                <a:latin typeface="Century Gothic" panose="020B0502020202020204" pitchFamily="34" charset="0"/>
              </a:rPr>
              <a:t>*Ниже представлена навигация с сайта</a:t>
            </a:r>
            <a:endParaRPr lang="ru-RU" sz="1400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717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2E52F73C-0666-4E72-A006-24C332090BD6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AA527F4-0880-4C07-93A5-1340F5F19409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Пример страницы Контакты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B1DA9D-DC0C-431E-9DBB-6AE958181A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87" b="20444"/>
          <a:stretch/>
        </p:blipFill>
        <p:spPr>
          <a:xfrm>
            <a:off x="4873742" y="1236341"/>
            <a:ext cx="6897530" cy="5455920"/>
          </a:xfrm>
          <a:prstGeom prst="rect">
            <a:avLst/>
          </a:prstGeom>
        </p:spPr>
      </p:pic>
      <p:sp>
        <p:nvSpPr>
          <p:cNvPr id="9" name="Shape 3">
            <a:extLst>
              <a:ext uri="{FF2B5EF4-FFF2-40B4-BE49-F238E27FC236}">
                <a16:creationId xmlns:a16="http://schemas.microsoft.com/office/drawing/2014/main" id="{FEAE3E9D-B581-46ED-8BB0-3135CF79267A}"/>
              </a:ext>
            </a:extLst>
          </p:cNvPr>
          <p:cNvSpPr/>
          <p:nvPr/>
        </p:nvSpPr>
        <p:spPr>
          <a:xfrm>
            <a:off x="534001" y="1768877"/>
            <a:ext cx="3885599" cy="4096623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9FEAA0D-A87D-44DF-AF76-2ADCA11D9E89}"/>
              </a:ext>
            </a:extLst>
          </p:cNvPr>
          <p:cNvSpPr/>
          <p:nvPr/>
        </p:nvSpPr>
        <p:spPr>
          <a:xfrm>
            <a:off x="1269173" y="2233012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На странице Контакты есть:</a:t>
            </a:r>
            <a:endParaRPr lang="en-US" sz="2000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D604FF9-DBCD-4439-85AA-BA8A8F81E35F}"/>
              </a:ext>
            </a:extLst>
          </p:cNvPr>
          <p:cNvSpPr/>
          <p:nvPr/>
        </p:nvSpPr>
        <p:spPr>
          <a:xfrm>
            <a:off x="1028197" y="3184827"/>
            <a:ext cx="3169920" cy="646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6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-Контактная информация (почта, телефон, адрес)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70878-C86E-4F84-97FC-CDF5C54E9714}"/>
              </a:ext>
            </a:extLst>
          </p:cNvPr>
          <p:cNvSpPr txBox="1"/>
          <p:nvPr/>
        </p:nvSpPr>
        <p:spPr>
          <a:xfrm>
            <a:off x="1028197" y="4158999"/>
            <a:ext cx="316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-Связаться с нами (поля для заполнения пользователем)</a:t>
            </a: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F2E28636-5514-4E21-A78C-97A7669524F3}"/>
              </a:ext>
            </a:extLst>
          </p:cNvPr>
          <p:cNvSpPr/>
          <p:nvPr/>
        </p:nvSpPr>
        <p:spPr>
          <a:xfrm>
            <a:off x="-5508372" y="1767975"/>
            <a:ext cx="3885599" cy="4096623"/>
          </a:xfrm>
          <a:prstGeom prst="roundRect">
            <a:avLst>
              <a:gd name="adj" fmla="val 9816"/>
            </a:avLst>
          </a:prstGeom>
          <a:solidFill>
            <a:srgbClr val="577C8E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A2A73B25-440B-4B88-B093-67682E1B1C87}"/>
              </a:ext>
            </a:extLst>
          </p:cNvPr>
          <p:cNvSpPr/>
          <p:nvPr/>
        </p:nvSpPr>
        <p:spPr>
          <a:xfrm>
            <a:off x="-4784774" y="2062195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На странице Контакты есть:</a:t>
            </a:r>
            <a:endParaRPr lang="en-US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4302CFB-08DA-4FDB-A9BB-07A50EC1C461}"/>
              </a:ext>
            </a:extLst>
          </p:cNvPr>
          <p:cNvSpPr/>
          <p:nvPr/>
        </p:nvSpPr>
        <p:spPr>
          <a:xfrm>
            <a:off x="-5797408" y="2844095"/>
            <a:ext cx="4463668" cy="1068852"/>
          </a:xfrm>
          <a:prstGeom prst="roundRect">
            <a:avLst/>
          </a:prstGeom>
          <a:solidFill>
            <a:srgbClr val="2F4157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51015744-F7DA-44D1-A5B9-8D106E96A405}"/>
              </a:ext>
            </a:extLst>
          </p:cNvPr>
          <p:cNvSpPr/>
          <p:nvPr/>
        </p:nvSpPr>
        <p:spPr>
          <a:xfrm>
            <a:off x="-5150534" y="2989227"/>
            <a:ext cx="3169920" cy="646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-Контактная информация (почта, телефон, адрес)</a:t>
            </a: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E0814D10-30DF-459B-A87A-88CF698E661E}"/>
              </a:ext>
            </a:extLst>
          </p:cNvPr>
          <p:cNvSpPr/>
          <p:nvPr/>
        </p:nvSpPr>
        <p:spPr>
          <a:xfrm>
            <a:off x="-5797408" y="4029996"/>
            <a:ext cx="4463668" cy="1068852"/>
          </a:xfrm>
          <a:prstGeom prst="roundRect">
            <a:avLst/>
          </a:prstGeom>
          <a:solidFill>
            <a:srgbClr val="2F4157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36D821-C7E0-4878-9753-7824206B0F0E}"/>
              </a:ext>
            </a:extLst>
          </p:cNvPr>
          <p:cNvSpPr txBox="1"/>
          <p:nvPr/>
        </p:nvSpPr>
        <p:spPr>
          <a:xfrm>
            <a:off x="-5150534" y="4272035"/>
            <a:ext cx="316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-Связаться с нами (поля для заполнения пользователем)</a:t>
            </a:r>
          </a:p>
        </p:txBody>
      </p:sp>
    </p:spTree>
    <p:extLst>
      <p:ext uri="{BB962C8B-B14F-4D97-AF65-F5344CB8AC3E}">
        <p14:creationId xmlns:p14="http://schemas.microsoft.com/office/powerpoint/2010/main" val="55953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2E52F73C-0666-4E72-A006-24C332090BD6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AA527F4-0880-4C07-93A5-1340F5F19409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Пример страницы Блог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1220C20-600A-4499-B224-5275A1531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98" y="1236341"/>
            <a:ext cx="7425570" cy="5483084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702445AC-41F1-4F9D-953F-C7E260AB6CF0}"/>
              </a:ext>
            </a:extLst>
          </p:cNvPr>
          <p:cNvSpPr/>
          <p:nvPr/>
        </p:nvSpPr>
        <p:spPr>
          <a:xfrm>
            <a:off x="8018203" y="1560533"/>
            <a:ext cx="3885599" cy="4096623"/>
          </a:xfrm>
          <a:prstGeom prst="roundRect">
            <a:avLst/>
          </a:prstGeom>
          <a:solidFill>
            <a:srgbClr val="577C8E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0CBC38-6EDF-4371-A71C-5941C688D594}"/>
              </a:ext>
            </a:extLst>
          </p:cNvPr>
          <p:cNvSpPr/>
          <p:nvPr/>
        </p:nvSpPr>
        <p:spPr>
          <a:xfrm>
            <a:off x="8611565" y="1854757"/>
            <a:ext cx="2847372" cy="657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На странице Научные статьи есть:</a:t>
            </a:r>
            <a:endParaRPr lang="en-US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E98332-5654-4D69-96A4-DAA8CFB62875}"/>
              </a:ext>
            </a:extLst>
          </p:cNvPr>
          <p:cNvSpPr/>
          <p:nvPr/>
        </p:nvSpPr>
        <p:spPr>
          <a:xfrm>
            <a:off x="8450291" y="2725302"/>
            <a:ext cx="3169920" cy="334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Заголовок</a:t>
            </a: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86F6F-8B3F-44CC-997B-D43C05A19757}"/>
              </a:ext>
            </a:extLst>
          </p:cNvPr>
          <p:cNvSpPr txBox="1"/>
          <p:nvPr/>
        </p:nvSpPr>
        <p:spPr>
          <a:xfrm>
            <a:off x="8450291" y="3272602"/>
            <a:ext cx="31699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Блок статьи: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Заголовок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Дата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Журнал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Авторы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Краткое описание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Кнопка «Читать статьи»</a:t>
            </a:r>
          </a:p>
        </p:txBody>
      </p:sp>
    </p:spTree>
    <p:extLst>
      <p:ext uri="{BB962C8B-B14F-4D97-AF65-F5344CB8AC3E}">
        <p14:creationId xmlns:p14="http://schemas.microsoft.com/office/powerpoint/2010/main" val="418749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BF6EB891-3194-4593-A8A0-3602F56A5569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4DC86AE-8908-40C5-B899-283A8366459B}"/>
              </a:ext>
            </a:extLst>
          </p:cNvPr>
          <p:cNvSpPr txBox="1">
            <a:spLocks/>
          </p:cNvSpPr>
          <p:nvPr/>
        </p:nvSpPr>
        <p:spPr>
          <a:xfrm>
            <a:off x="693821" y="0"/>
            <a:ext cx="10515600" cy="1087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Руководство пользователя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4970A73-8075-40C2-BABD-CB87979045FF}"/>
              </a:ext>
            </a:extLst>
          </p:cNvPr>
          <p:cNvSpPr/>
          <p:nvPr/>
        </p:nvSpPr>
        <p:spPr>
          <a:xfrm>
            <a:off x="103632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6838806-EB78-4863-AB77-15B78BDFBEF9}"/>
              </a:ext>
            </a:extLst>
          </p:cNvPr>
          <p:cNvSpPr/>
          <p:nvPr/>
        </p:nvSpPr>
        <p:spPr>
          <a:xfrm>
            <a:off x="103632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3FB3738-4434-4FF7-A23E-34BB8600D0C4}"/>
              </a:ext>
            </a:extLst>
          </p:cNvPr>
          <p:cNvSpPr/>
          <p:nvPr/>
        </p:nvSpPr>
        <p:spPr>
          <a:xfrm>
            <a:off x="36576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Обзор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286B0A8-00F5-47B2-B6EA-03D38F582DAF}"/>
              </a:ext>
            </a:extLst>
          </p:cNvPr>
          <p:cNvSpPr/>
          <p:nvPr/>
        </p:nvSpPr>
        <p:spPr>
          <a:xfrm>
            <a:off x="36576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Главная, </a:t>
            </a:r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статьи</a:t>
            </a:r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данные, проекты</a:t>
            </a:r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, новости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EB70CF42-8B0D-4E2E-9F36-AA6AAEEC53BA}"/>
              </a:ext>
            </a:extLst>
          </p:cNvPr>
          <p:cNvSpPr/>
          <p:nvPr/>
        </p:nvSpPr>
        <p:spPr>
          <a:xfrm>
            <a:off x="335280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8EA97B1-FF99-4E92-B44E-0D2EF5879E51}"/>
              </a:ext>
            </a:extLst>
          </p:cNvPr>
          <p:cNvSpPr/>
          <p:nvPr/>
        </p:nvSpPr>
        <p:spPr>
          <a:xfrm>
            <a:off x="335280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1DCE66E-9616-43A2-A1DE-71157BC547D2}"/>
              </a:ext>
            </a:extLst>
          </p:cNvPr>
          <p:cNvSpPr/>
          <p:nvPr/>
        </p:nvSpPr>
        <p:spPr>
          <a:xfrm>
            <a:off x="268224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Связь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7B3D17A-E731-462A-A22B-42BE053642C0}"/>
              </a:ext>
            </a:extLst>
          </p:cNvPr>
          <p:cNvSpPr/>
          <p:nvPr/>
        </p:nvSpPr>
        <p:spPr>
          <a:xfrm>
            <a:off x="268224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Создание </a:t>
            </a:r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обращения для связи с командой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9FECDA8-E7B5-481D-AB00-53D11DA85D72}"/>
              </a:ext>
            </a:extLst>
          </p:cNvPr>
          <p:cNvSpPr/>
          <p:nvPr/>
        </p:nvSpPr>
        <p:spPr>
          <a:xfrm>
            <a:off x="566928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03B3B090-DDEF-4557-8F3A-37619DDA6616}"/>
              </a:ext>
            </a:extLst>
          </p:cNvPr>
          <p:cNvSpPr/>
          <p:nvPr/>
        </p:nvSpPr>
        <p:spPr>
          <a:xfrm>
            <a:off x="566928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F0D017BC-4834-4D70-B897-C8166A4A9482}"/>
              </a:ext>
            </a:extLst>
          </p:cNvPr>
          <p:cNvSpPr/>
          <p:nvPr/>
        </p:nvSpPr>
        <p:spPr>
          <a:xfrm>
            <a:off x="499872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Подробное ознакомление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020E0DBA-15C5-464C-802F-51BB399D2DE4}"/>
              </a:ext>
            </a:extLst>
          </p:cNvPr>
          <p:cNvSpPr/>
          <p:nvPr/>
        </p:nvSpPr>
        <p:spPr>
          <a:xfrm>
            <a:off x="499872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Страница конкретных проекта, статьи и т.д.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90CB1CD8-D4BF-4B6C-AA17-1D4852F735F7}"/>
              </a:ext>
            </a:extLst>
          </p:cNvPr>
          <p:cNvSpPr/>
          <p:nvPr/>
        </p:nvSpPr>
        <p:spPr>
          <a:xfrm>
            <a:off x="798576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77D6932-201E-4257-9467-886E30A1E839}"/>
              </a:ext>
            </a:extLst>
          </p:cNvPr>
          <p:cNvSpPr/>
          <p:nvPr/>
        </p:nvSpPr>
        <p:spPr>
          <a:xfrm>
            <a:off x="798576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3F19BF9E-664B-4373-90FF-671A2B0924CC}"/>
              </a:ext>
            </a:extLst>
          </p:cNvPr>
          <p:cNvSpPr/>
          <p:nvPr/>
        </p:nvSpPr>
        <p:spPr>
          <a:xfrm>
            <a:off x="731520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Фильтрация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BBEE26F4-6682-4053-907A-3171052C34E6}"/>
              </a:ext>
            </a:extLst>
          </p:cNvPr>
          <p:cNvSpPr/>
          <p:nvPr/>
        </p:nvSpPr>
        <p:spPr>
          <a:xfrm>
            <a:off x="731520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cs typeface="Calibri" pitchFamily="34" charset="-120"/>
              </a:rPr>
              <a:t>Удобный и быстрый поиск необходимого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3740BEC3-E132-4215-A171-157064E178B1}"/>
              </a:ext>
            </a:extLst>
          </p:cNvPr>
          <p:cNvSpPr/>
          <p:nvPr/>
        </p:nvSpPr>
        <p:spPr>
          <a:xfrm>
            <a:off x="1030224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E6E8883D-0072-4358-9BD6-B3967C3E76B1}"/>
              </a:ext>
            </a:extLst>
          </p:cNvPr>
          <p:cNvSpPr/>
          <p:nvPr/>
        </p:nvSpPr>
        <p:spPr>
          <a:xfrm>
            <a:off x="1030224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C47F7968-D7A8-4AD4-9C3A-8B7A9AAB4941}"/>
              </a:ext>
            </a:extLst>
          </p:cNvPr>
          <p:cNvSpPr/>
          <p:nvPr/>
        </p:nvSpPr>
        <p:spPr>
          <a:xfrm>
            <a:off x="963168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Админ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9E63FA21-E9D4-4490-8346-997A8CE0D6AA}"/>
              </a:ext>
            </a:extLst>
          </p:cNvPr>
          <p:cNvSpPr/>
          <p:nvPr/>
        </p:nvSpPr>
        <p:spPr>
          <a:xfrm>
            <a:off x="963168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CRUD, обработка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360F85E5-58F8-4A77-85C1-4A22491A7084}"/>
              </a:ext>
            </a:extLst>
          </p:cNvPr>
          <p:cNvSpPr/>
          <p:nvPr/>
        </p:nvSpPr>
        <p:spPr>
          <a:xfrm>
            <a:off x="609600" y="4511040"/>
            <a:ext cx="10972800" cy="1950720"/>
          </a:xfrm>
          <a:prstGeom prst="roundRect">
            <a:avLst/>
          </a:prstGeom>
          <a:solidFill>
            <a:srgbClr val="C7D9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CFB6330B-104E-4C7D-A897-A822A102CB0B}"/>
              </a:ext>
            </a:extLst>
          </p:cNvPr>
          <p:cNvSpPr/>
          <p:nvPr/>
        </p:nvSpPr>
        <p:spPr>
          <a:xfrm>
            <a:off x="853440" y="463296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Путь администратора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19D56D74-2147-4F74-8FCA-66A5A3B11B79}"/>
              </a:ext>
            </a:extLst>
          </p:cNvPr>
          <p:cNvSpPr/>
          <p:nvPr/>
        </p:nvSpPr>
        <p:spPr>
          <a:xfrm>
            <a:off x="853440" y="512064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В поисковой строке написать путь 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/obschee/admin-</a:t>
            </a:r>
            <a:r>
              <a:rPr lang="en-US" dirty="0" err="1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login.php</a:t>
            </a:r>
            <a:r>
              <a:rPr lang="ru-RU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→ Авторизация (admin/admin) → </a:t>
            </a:r>
            <a:r>
              <a:rPr lang="ru-RU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Данные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→ Боковое меню: </a:t>
            </a:r>
            <a:r>
              <a:rPr lang="ru-RU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Статьи, Блог, Данные, Проекты, На сайт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→ CRUD + изменение статусов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ED0A8848-38BC-4688-BE0F-9BFCD212A09C}"/>
              </a:ext>
            </a:extLst>
          </p:cNvPr>
          <p:cNvSpPr/>
          <p:nvPr/>
        </p:nvSpPr>
        <p:spPr>
          <a:xfrm>
            <a:off x="2560320" y="1981200"/>
            <a:ext cx="101600" cy="101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549A4DD5-3057-4AF4-9A75-D7B8C06E04AE}"/>
              </a:ext>
            </a:extLst>
          </p:cNvPr>
          <p:cNvSpPr/>
          <p:nvPr/>
        </p:nvSpPr>
        <p:spPr>
          <a:xfrm>
            <a:off x="4897120" y="1981200"/>
            <a:ext cx="101600" cy="101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1F1B59DA-1670-4EC1-9A44-D369BD04A13E}"/>
              </a:ext>
            </a:extLst>
          </p:cNvPr>
          <p:cNvSpPr/>
          <p:nvPr/>
        </p:nvSpPr>
        <p:spPr>
          <a:xfrm>
            <a:off x="7172960" y="1981200"/>
            <a:ext cx="101600" cy="101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CBF05299-962D-4F06-ACD8-6E4DA6CB90F1}"/>
              </a:ext>
            </a:extLst>
          </p:cNvPr>
          <p:cNvSpPr/>
          <p:nvPr/>
        </p:nvSpPr>
        <p:spPr>
          <a:xfrm>
            <a:off x="9509760" y="1981200"/>
            <a:ext cx="101600" cy="101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575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533D1742-3C9C-4B09-A49A-75E8CBDE6375}"/>
              </a:ext>
            </a:extLst>
          </p:cNvPr>
          <p:cNvSpPr/>
          <p:nvPr/>
        </p:nvSpPr>
        <p:spPr>
          <a:xfrm>
            <a:off x="1527048" y="209201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E06E492-C4F4-4801-BA3D-AD252EB427D0}"/>
              </a:ext>
            </a:extLst>
          </p:cNvPr>
          <p:cNvSpPr/>
          <p:nvPr/>
        </p:nvSpPr>
        <p:spPr>
          <a:xfrm>
            <a:off x="1527048" y="2092012"/>
            <a:ext cx="2743200" cy="329184"/>
          </a:xfrm>
          <a:prstGeom prst="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A502CEF-818F-4AE5-A424-AC3D3FF6B7E4}"/>
              </a:ext>
            </a:extLst>
          </p:cNvPr>
          <p:cNvSpPr/>
          <p:nvPr/>
        </p:nvSpPr>
        <p:spPr>
          <a:xfrm>
            <a:off x="1618488" y="2128588"/>
            <a:ext cx="46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D036DB-519D-43DA-BF1B-85247CE1E99A}"/>
              </a:ext>
            </a:extLst>
          </p:cNvPr>
          <p:cNvSpPr/>
          <p:nvPr/>
        </p:nvSpPr>
        <p:spPr>
          <a:xfrm>
            <a:off x="1636776" y="24577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id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login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email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password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first_name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last_name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bio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photo_url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role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BC2FCA3-D171-4F80-8BC8-D9A4E010FD8C}"/>
              </a:ext>
            </a:extLst>
          </p:cNvPr>
          <p:cNvSpPr/>
          <p:nvPr/>
        </p:nvSpPr>
        <p:spPr>
          <a:xfrm>
            <a:off x="4398264" y="209201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BD56555-DDE9-4676-A6D6-A8AF03E905F0}"/>
              </a:ext>
            </a:extLst>
          </p:cNvPr>
          <p:cNvSpPr/>
          <p:nvPr/>
        </p:nvSpPr>
        <p:spPr>
          <a:xfrm>
            <a:off x="4398264" y="2092012"/>
            <a:ext cx="274320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680B8E9-595C-4E59-9222-DA622B8C506A}"/>
              </a:ext>
            </a:extLst>
          </p:cNvPr>
          <p:cNvSpPr/>
          <p:nvPr/>
        </p:nvSpPr>
        <p:spPr>
          <a:xfrm>
            <a:off x="4489704" y="2128588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projects</a:t>
            </a:r>
            <a:endParaRPr lang="en-US" sz="1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197615F-20D5-45B2-A85B-200C1C56EA89}"/>
              </a:ext>
            </a:extLst>
          </p:cNvPr>
          <p:cNvSpPr/>
          <p:nvPr/>
        </p:nvSpPr>
        <p:spPr>
          <a:xfrm>
            <a:off x="4507992" y="24577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 ·</a:t>
            </a:r>
            <a:r>
              <a:rPr lang="ru-RU" sz="950" dirty="0">
                <a:solidFill>
                  <a:srgbClr val="546E7A"/>
                </a:solidFill>
                <a:latin typeface="Consolas" pitchFamily="34" charset="0"/>
              </a:rPr>
              <a:t>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short_description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</a:t>
            </a:r>
            <a:r>
              <a:rPr lang="ru-RU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full_description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objectives · status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start_date · end_date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team_members</a:t>
            </a:r>
            <a:endParaRPr lang="en-US" sz="95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4885139-5119-49A2-932C-0DB21BC63BBC}"/>
              </a:ext>
            </a:extLst>
          </p:cNvPr>
          <p:cNvSpPr/>
          <p:nvPr/>
        </p:nvSpPr>
        <p:spPr>
          <a:xfrm>
            <a:off x="7269480" y="209201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92B78297-11F2-43CE-9096-C1643001B6C5}"/>
              </a:ext>
            </a:extLst>
          </p:cNvPr>
          <p:cNvSpPr/>
          <p:nvPr/>
        </p:nvSpPr>
        <p:spPr>
          <a:xfrm>
            <a:off x="7269480" y="2092012"/>
            <a:ext cx="2743200" cy="329184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EB9D58B-5EFE-4FA3-9AF4-2F7CA169F117}"/>
              </a:ext>
            </a:extLst>
          </p:cNvPr>
          <p:cNvSpPr/>
          <p:nvPr/>
        </p:nvSpPr>
        <p:spPr>
          <a:xfrm>
            <a:off x="7360920" y="212858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articles</a:t>
            </a:r>
            <a:endParaRPr lang="en-US" sz="12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9990B48D-EBE2-46D6-B359-FBD99247240A}"/>
              </a:ext>
            </a:extLst>
          </p:cNvPr>
          <p:cNvSpPr/>
          <p:nvPr/>
        </p:nvSpPr>
        <p:spPr>
          <a:xfrm>
            <a:off x="7379208" y="24577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abstract · content · authors · journal · publication_date · status</a:t>
            </a:r>
            <a:endParaRPr lang="en-US" sz="95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73CDFA65-C392-45F4-9598-1D5E090A6FEC}"/>
              </a:ext>
            </a:extLst>
          </p:cNvPr>
          <p:cNvSpPr/>
          <p:nvPr/>
        </p:nvSpPr>
        <p:spPr>
          <a:xfrm>
            <a:off x="1527048" y="3518476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82A241C-E219-4261-9D27-BB1B39EEE4FF}"/>
              </a:ext>
            </a:extLst>
          </p:cNvPr>
          <p:cNvSpPr/>
          <p:nvPr/>
        </p:nvSpPr>
        <p:spPr>
          <a:xfrm>
            <a:off x="1527048" y="3518476"/>
            <a:ext cx="2743200" cy="329184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0F8ECA76-6BC7-4E08-9832-4C5933E996ED}"/>
              </a:ext>
            </a:extLst>
          </p:cNvPr>
          <p:cNvSpPr/>
          <p:nvPr/>
        </p:nvSpPr>
        <p:spPr>
          <a:xfrm>
            <a:off x="1618488" y="35550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blog_posts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DE36075-BFE3-4D9F-A069-465BE6B6ECCB}"/>
              </a:ext>
            </a:extLst>
          </p:cNvPr>
          <p:cNvSpPr/>
          <p:nvPr/>
        </p:nvSpPr>
        <p:spPr>
          <a:xfrm>
            <a:off x="1636776" y="3884236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 · excerpt · content · author_id · tag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s · status · views_count</a:t>
            </a: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54834142-EC42-4D4E-B3F2-B37B1371928E}"/>
              </a:ext>
            </a:extLst>
          </p:cNvPr>
          <p:cNvSpPr/>
          <p:nvPr/>
        </p:nvSpPr>
        <p:spPr>
          <a:xfrm>
            <a:off x="4398264" y="3518476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451DF399-3650-4986-B4E4-61D42EBE9FB6}"/>
              </a:ext>
            </a:extLst>
          </p:cNvPr>
          <p:cNvSpPr/>
          <p:nvPr/>
        </p:nvSpPr>
        <p:spPr>
          <a:xfrm>
            <a:off x="4398264" y="3518476"/>
            <a:ext cx="2743200" cy="329184"/>
          </a:xfrm>
          <a:prstGeom prst="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2792ECC-3977-4055-853D-A72FEE193A64}"/>
              </a:ext>
            </a:extLst>
          </p:cNvPr>
          <p:cNvSpPr/>
          <p:nvPr/>
        </p:nvSpPr>
        <p:spPr>
          <a:xfrm>
            <a:off x="4489704" y="3555052"/>
            <a:ext cx="710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datasets</a:t>
            </a: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58D016A-E0D1-4539-B626-82FE04DCC005}"/>
              </a:ext>
            </a:extLst>
          </p:cNvPr>
          <p:cNvSpPr/>
          <p:nvPr/>
        </p:nvSpPr>
        <p:spPr>
          <a:xfrm>
            <a:off x="4507992" y="3884236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description · access_level · related_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project_id ·</a:t>
            </a:r>
            <a:r>
              <a:rPr lang="ru-RU" sz="950" dirty="0">
                <a:solidFill>
                  <a:srgbClr val="546E7A"/>
                </a:solidFill>
                <a:latin typeface="Consolas" pitchFamily="34" charset="0"/>
              </a:rPr>
              <a:t>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created_by</a:t>
            </a: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DA398384-22CB-4B07-AD08-D6EFE0235C76}"/>
              </a:ext>
            </a:extLst>
          </p:cNvPr>
          <p:cNvSpPr/>
          <p:nvPr/>
        </p:nvSpPr>
        <p:spPr>
          <a:xfrm>
            <a:off x="7269480" y="3518476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37BE70C-0FA5-45FF-A655-48A0C558E790}"/>
              </a:ext>
            </a:extLst>
          </p:cNvPr>
          <p:cNvSpPr/>
          <p:nvPr/>
        </p:nvSpPr>
        <p:spPr>
          <a:xfrm>
            <a:off x="7269480" y="3518476"/>
            <a:ext cx="2743200" cy="329184"/>
          </a:xfrm>
          <a:prstGeom prst="rect">
            <a:avLst/>
          </a:prstGeom>
          <a:solidFill>
            <a:srgbClr val="00838F"/>
          </a:solidFill>
          <a:ln w="12700">
            <a:noFill/>
            <a:prstDash val="solid"/>
          </a:ln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029CB324-0521-4C9D-A1AF-AA37E7E8A439}"/>
              </a:ext>
            </a:extLst>
          </p:cNvPr>
          <p:cNvSpPr/>
          <p:nvPr/>
        </p:nvSpPr>
        <p:spPr>
          <a:xfrm>
            <a:off x="7360920" y="3555052"/>
            <a:ext cx="8869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activity_logs</a:t>
            </a:r>
            <a:endParaRPr lang="en-US" sz="12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A292FCE9-5E1F-4DEF-94C4-795251FE9097}"/>
              </a:ext>
            </a:extLst>
          </p:cNvPr>
          <p:cNvSpPr/>
          <p:nvPr/>
        </p:nvSpPr>
        <p:spPr>
          <a:xfrm>
            <a:off x="7379208" y="3884236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action · entity_type · ip_address · created_at</a:t>
            </a:r>
            <a:endParaRPr lang="en-US" sz="95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1F65388C-6073-44D3-A69C-E789726BF744}"/>
              </a:ext>
            </a:extLst>
          </p:cNvPr>
          <p:cNvSpPr/>
          <p:nvPr/>
        </p:nvSpPr>
        <p:spPr>
          <a:xfrm>
            <a:off x="1197864" y="5659094"/>
            <a:ext cx="8741664" cy="914400"/>
          </a:xfrm>
          <a:prstGeom prst="rect">
            <a:avLst/>
          </a:prstGeom>
          <a:solidFill>
            <a:srgbClr val="F5EFEB"/>
          </a:solidFill>
          <a:ln w="12700">
            <a:solidFill>
              <a:srgbClr val="C7D9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26C58FBF-5327-4E3B-8B1A-2B413B5B7365}"/>
              </a:ext>
            </a:extLst>
          </p:cNvPr>
          <p:cNvSpPr/>
          <p:nvPr/>
        </p:nvSpPr>
        <p:spPr>
          <a:xfrm>
            <a:off x="1380744" y="571395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4157"/>
                </a:solidFill>
              </a:rPr>
              <a:t>Связи между таблицами:</a:t>
            </a:r>
            <a:endParaRPr lang="en-US" sz="1200" dirty="0">
              <a:solidFill>
                <a:srgbClr val="2F4157"/>
              </a:solidFill>
            </a:endParaRP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AB47D5BF-3781-4506-8CF4-0123536A62DB}"/>
              </a:ext>
            </a:extLst>
          </p:cNvPr>
          <p:cNvSpPr/>
          <p:nvPr/>
        </p:nvSpPr>
        <p:spPr>
          <a:xfrm>
            <a:off x="1380744" y="598827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→ blog_posts (1:</a:t>
            </a:r>
            <a:r>
              <a:rPr lang="ru-RU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автор записей</a:t>
            </a:r>
            <a:endParaRPr lang="en-US" sz="1100" dirty="0">
              <a:solidFill>
                <a:srgbClr val="577C8E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→ datasets (1:</a:t>
            </a:r>
            <a:r>
              <a:rPr lang="ru-RU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данные экспериментов</a:t>
            </a:r>
            <a:endParaRPr lang="en-US" sz="1100" dirty="0">
              <a:solidFill>
                <a:srgbClr val="577C8E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↔ articles (M:</a:t>
            </a:r>
            <a:r>
              <a:rPr lang="ru-RU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таблица-связка project_publication</a:t>
            </a:r>
            <a:endParaRPr lang="en-US" sz="1100" dirty="0">
              <a:solidFill>
                <a:srgbClr val="577C8E"/>
              </a:solidFill>
            </a:endParaRPr>
          </a:p>
        </p:txBody>
      </p:sp>
      <p:sp>
        <p:nvSpPr>
          <p:cNvPr id="59" name="Прямоугольник: один скругленный угол 58">
            <a:extLst>
              <a:ext uri="{FF2B5EF4-FFF2-40B4-BE49-F238E27FC236}">
                <a16:creationId xmlns:a16="http://schemas.microsoft.com/office/drawing/2014/main" id="{7729EE6E-079E-4095-A5AF-21333CB6A3FA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Заголовок 1">
            <a:extLst>
              <a:ext uri="{FF2B5EF4-FFF2-40B4-BE49-F238E27FC236}">
                <a16:creationId xmlns:a16="http://schemas.microsoft.com/office/drawing/2014/main" id="{BB4C1F19-CACE-4B65-A6B3-496BE140A46A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Информационная модель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221501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707CABCB-494E-4BC2-AE7F-F7EFB3427D05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BF9FEEE-3B4F-4819-AADC-2D9F68422515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Тестирование </a:t>
            </a:r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ПО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714C3C4-DDD3-4B31-8486-47C729DB7D2A}"/>
              </a:ext>
            </a:extLst>
          </p:cNvPr>
          <p:cNvSpPr/>
          <p:nvPr/>
        </p:nvSpPr>
        <p:spPr>
          <a:xfrm>
            <a:off x="609600" y="1097280"/>
            <a:ext cx="5120640" cy="551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77C8E"/>
                </a:solidFill>
                <a:latin typeface="Century Gothic" panose="020B0502020202020204" pitchFamily="34" charset="0"/>
              </a:rPr>
              <a:t>Метод: ручное Black-box тестирование + интеграционное</a:t>
            </a:r>
            <a:endParaRPr lang="en-US" sz="1400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67E4357-A335-452F-9D3C-4388D1548E81}"/>
              </a:ext>
            </a:extLst>
          </p:cNvPr>
          <p:cNvSpPr/>
          <p:nvPr/>
        </p:nvSpPr>
        <p:spPr>
          <a:xfrm>
            <a:off x="534001" y="1630407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Сценарии по Use Case · Корректность форм · Поиск · Безопасность (доступ без авторизации)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AA339048-DEAA-45EF-885B-19AB8D61D24F}"/>
              </a:ext>
            </a:extLst>
          </p:cNvPr>
          <p:cNvSpPr/>
          <p:nvPr/>
        </p:nvSpPr>
        <p:spPr>
          <a:xfrm>
            <a:off x="6400800" y="1097280"/>
            <a:ext cx="5242560" cy="522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Методы отладки: var_dump() · error_log() · логи Apache в OpenServer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7" name="Text 40">
            <a:extLst>
              <a:ext uri="{FF2B5EF4-FFF2-40B4-BE49-F238E27FC236}">
                <a16:creationId xmlns:a16="http://schemas.microsoft.com/office/drawing/2014/main" id="{0277A0EC-35FB-4C6E-B91F-8ED6574003E4}"/>
              </a:ext>
            </a:extLst>
          </p:cNvPr>
          <p:cNvSpPr/>
          <p:nvPr/>
        </p:nvSpPr>
        <p:spPr>
          <a:xfrm>
            <a:off x="6400800" y="1837671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577C8E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Контроль версий: Git (откат при критических ошибках)</a:t>
            </a:r>
            <a:endParaRPr lang="en-US" sz="1400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1BD4088-8BDC-4E98-863D-A3EFA55B0241}"/>
              </a:ext>
            </a:extLst>
          </p:cNvPr>
          <p:cNvSpPr/>
          <p:nvPr/>
        </p:nvSpPr>
        <p:spPr>
          <a:xfrm>
            <a:off x="365760" y="2499360"/>
            <a:ext cx="11460480" cy="3291840"/>
          </a:xfrm>
          <a:prstGeom prst="roundRect">
            <a:avLst>
              <a:gd name="adj" fmla="val 8580"/>
            </a:avLst>
          </a:prstGeom>
          <a:solidFill>
            <a:srgbClr val="C7D9E5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DF0DE4-1520-4F6D-957D-3B160ED076B3}"/>
              </a:ext>
            </a:extLst>
          </p:cNvPr>
          <p:cNvSpPr/>
          <p:nvPr/>
        </p:nvSpPr>
        <p:spPr>
          <a:xfrm>
            <a:off x="609600" y="2584704"/>
            <a:ext cx="7315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77C8E"/>
                </a:solidFill>
              </a:rPr>
              <a:t>Таблица найденных и исправленных ошибок</a:t>
            </a:r>
            <a:endParaRPr lang="en-US" sz="1600" dirty="0">
              <a:solidFill>
                <a:srgbClr val="577C8E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965EFA9-840D-4857-806F-361713E2F5BD}"/>
              </a:ext>
            </a:extLst>
          </p:cNvPr>
          <p:cNvSpPr/>
          <p:nvPr/>
        </p:nvSpPr>
        <p:spPr>
          <a:xfrm>
            <a:off x="512064" y="3048000"/>
            <a:ext cx="2072640" cy="329184"/>
          </a:xfrm>
          <a:prstGeom prst="roundRect">
            <a:avLst/>
          </a:prstGeom>
          <a:noFill/>
          <a:ln w="12700">
            <a:noFill/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14FE9D-B7A3-4436-AE57-029EF2BF45C4}"/>
              </a:ext>
            </a:extLst>
          </p:cNvPr>
          <p:cNvSpPr/>
          <p:nvPr/>
        </p:nvSpPr>
        <p:spPr>
          <a:xfrm>
            <a:off x="573024" y="3048000"/>
            <a:ext cx="195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Тип ошибки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5489458-A558-4F29-A52B-4135ADAE3049}"/>
              </a:ext>
            </a:extLst>
          </p:cNvPr>
          <p:cNvSpPr/>
          <p:nvPr/>
        </p:nvSpPr>
        <p:spPr>
          <a:xfrm>
            <a:off x="2804160" y="3048000"/>
            <a:ext cx="2072640" cy="329184"/>
          </a:xfrm>
          <a:prstGeom prst="roundRect">
            <a:avLst/>
          </a:prstGeom>
          <a:noFill/>
          <a:ln w="12700">
            <a:noFill/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A2A21A6-6F91-4060-ACDE-527C2F562FCF}"/>
              </a:ext>
            </a:extLst>
          </p:cNvPr>
          <p:cNvSpPr/>
          <p:nvPr/>
        </p:nvSpPr>
        <p:spPr>
          <a:xfrm>
            <a:off x="2865120" y="3048000"/>
            <a:ext cx="195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Проблема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5154C30-0DE6-4558-9476-70257C540E84}"/>
              </a:ext>
            </a:extLst>
          </p:cNvPr>
          <p:cNvSpPr/>
          <p:nvPr/>
        </p:nvSpPr>
        <p:spPr>
          <a:xfrm>
            <a:off x="6949440" y="3048000"/>
            <a:ext cx="4632960" cy="329184"/>
          </a:xfrm>
          <a:prstGeom prst="roundRect">
            <a:avLst/>
          </a:prstGeom>
          <a:noFill/>
          <a:ln w="12700">
            <a:noFill/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C079471-C8F4-4332-8C6D-EBD0F7C8F8C5}"/>
              </a:ext>
            </a:extLst>
          </p:cNvPr>
          <p:cNvSpPr/>
          <p:nvPr/>
        </p:nvSpPr>
        <p:spPr>
          <a:xfrm>
            <a:off x="7010400" y="3048000"/>
            <a:ext cx="4511040" cy="329184"/>
          </a:xfrm>
          <a:prstGeom prst="round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Исправление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CC72736-26BF-4780-8D95-5DD0087E5E7F}"/>
              </a:ext>
            </a:extLst>
          </p:cNvPr>
          <p:cNvSpPr/>
          <p:nvPr/>
        </p:nvSpPr>
        <p:spPr>
          <a:xfrm>
            <a:off x="512064" y="3438144"/>
            <a:ext cx="11167872" cy="341376"/>
          </a:xfrm>
          <a:prstGeom prst="round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67A089-E2BB-4ACC-B371-0119F4391B90}"/>
              </a:ext>
            </a:extLst>
          </p:cNvPr>
          <p:cNvSpPr/>
          <p:nvPr/>
        </p:nvSpPr>
        <p:spPr>
          <a:xfrm>
            <a:off x="548640" y="3474720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Проектирование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E970CDF-92C0-44EF-B2FD-121E58906F22}"/>
              </a:ext>
            </a:extLst>
          </p:cNvPr>
          <p:cNvSpPr/>
          <p:nvPr/>
        </p:nvSpPr>
        <p:spPr>
          <a:xfrm>
            <a:off x="2804160" y="3474720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Указан неверный тип отображения для фото (текст вместо img)</a:t>
            </a:r>
            <a:endParaRPr lang="en-US" sz="1200" dirty="0">
              <a:solidFill>
                <a:srgbClr val="0B1B36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DA8003-4BCF-4DEC-955A-2E012530A545}"/>
              </a:ext>
            </a:extLst>
          </p:cNvPr>
          <p:cNvSpPr/>
          <p:nvPr/>
        </p:nvSpPr>
        <p:spPr>
          <a:xfrm>
            <a:off x="6986016" y="3474720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altLang="ru-RU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Тип данных изменен на img </a:t>
            </a:r>
          </a:p>
          <a:p>
            <a:r>
              <a:rPr lang="ru-RU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 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AC2A7F0-3081-43F5-9998-C20A8520A226}"/>
              </a:ext>
            </a:extLst>
          </p:cNvPr>
          <p:cNvSpPr/>
          <p:nvPr/>
        </p:nvSpPr>
        <p:spPr>
          <a:xfrm>
            <a:off x="512064" y="3816096"/>
            <a:ext cx="11167872" cy="3413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DE72757-1218-418B-B0F9-0D9F7542E17F}"/>
              </a:ext>
            </a:extLst>
          </p:cNvPr>
          <p:cNvSpPr/>
          <p:nvPr/>
        </p:nvSpPr>
        <p:spPr>
          <a:xfrm>
            <a:off x="548640" y="3852672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Проектирование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4EEB756-0E0D-4743-8E29-411D7DBCDB62}"/>
              </a:ext>
            </a:extLst>
          </p:cNvPr>
          <p:cNvSpPr/>
          <p:nvPr/>
        </p:nvSpPr>
        <p:spPr>
          <a:xfrm>
            <a:off x="2804160" y="3852672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Отсутствие кнопки отправки формы обратной связи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76F9EF-470B-4F25-9576-9DCA8658875C}"/>
              </a:ext>
            </a:extLst>
          </p:cNvPr>
          <p:cNvSpPr/>
          <p:nvPr/>
        </p:nvSpPr>
        <p:spPr>
          <a:xfrm>
            <a:off x="6986016" y="3852672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Добавлена кнопка «Отправить сообщение»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E30643A-44D5-41C4-AE12-BA8944EC3040}"/>
              </a:ext>
            </a:extLst>
          </p:cNvPr>
          <p:cNvSpPr/>
          <p:nvPr/>
        </p:nvSpPr>
        <p:spPr>
          <a:xfrm>
            <a:off x="512064" y="4194048"/>
            <a:ext cx="11167872" cy="341376"/>
          </a:xfrm>
          <a:prstGeom prst="round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75FC685-1522-4AF1-8ED9-0878A5638CBB}"/>
              </a:ext>
            </a:extLst>
          </p:cNvPr>
          <p:cNvSpPr/>
          <p:nvPr/>
        </p:nvSpPr>
        <p:spPr>
          <a:xfrm>
            <a:off x="548640" y="4230624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Кодирование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021CDD-2096-419E-995C-67BFE4BF1670}"/>
              </a:ext>
            </a:extLst>
          </p:cNvPr>
          <p:cNvSpPr/>
          <p:nvPr/>
        </p:nvSpPr>
        <p:spPr>
          <a:xfrm>
            <a:off x="2804160" y="4230624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При подключении к БД возникала ошибка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1806E53-E54E-4613-A2C0-7BD5FA39B28A}"/>
              </a:ext>
            </a:extLst>
          </p:cNvPr>
          <p:cNvSpPr/>
          <p:nvPr/>
        </p:nvSpPr>
        <p:spPr>
          <a:xfrm>
            <a:off x="6986016" y="4230624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Верно указано название БД - </a:t>
            </a:r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sigroup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FB64BE1-095B-419C-A1EA-07352BB41437}"/>
              </a:ext>
            </a:extLst>
          </p:cNvPr>
          <p:cNvSpPr/>
          <p:nvPr/>
        </p:nvSpPr>
        <p:spPr>
          <a:xfrm>
            <a:off x="512064" y="4572000"/>
            <a:ext cx="11167872" cy="3413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4C485BB-7080-4462-91DA-F7F404E4E7D8}"/>
              </a:ext>
            </a:extLst>
          </p:cNvPr>
          <p:cNvSpPr/>
          <p:nvPr/>
        </p:nvSpPr>
        <p:spPr>
          <a:xfrm>
            <a:off x="548640" y="4608576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Кодирование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2CE5660-7772-4CE3-8E42-5B381ABF6041}"/>
              </a:ext>
            </a:extLst>
          </p:cNvPr>
          <p:cNvSpPr/>
          <p:nvPr/>
        </p:nvSpPr>
        <p:spPr>
          <a:xfrm>
            <a:off x="2804160" y="4608576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При неудачной загрузке статьи - форма молчит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6CCC5AD-2617-4EF4-B7FC-392728584BE3}"/>
              </a:ext>
            </a:extLst>
          </p:cNvPr>
          <p:cNvSpPr/>
          <p:nvPr/>
        </p:nvSpPr>
        <p:spPr>
          <a:xfrm>
            <a:off x="6986016" y="4608576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Добавлено сообщение об ошибке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208E0C7-6F30-47B0-BFFC-63D3AD6EAD53}"/>
              </a:ext>
            </a:extLst>
          </p:cNvPr>
          <p:cNvSpPr/>
          <p:nvPr/>
        </p:nvSpPr>
        <p:spPr>
          <a:xfrm>
            <a:off x="512064" y="4949952"/>
            <a:ext cx="11167872" cy="341376"/>
          </a:xfrm>
          <a:prstGeom prst="round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A20694D-3792-4658-8800-B312FFCED2EF}"/>
              </a:ext>
            </a:extLst>
          </p:cNvPr>
          <p:cNvSpPr/>
          <p:nvPr/>
        </p:nvSpPr>
        <p:spPr>
          <a:xfrm>
            <a:off x="548640" y="4986528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Синтаксис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857F4D5-F6B1-4411-B081-7F92AD8E4F83}"/>
              </a:ext>
            </a:extLst>
          </p:cNvPr>
          <p:cNvSpPr/>
          <p:nvPr/>
        </p:nvSpPr>
        <p:spPr>
          <a:xfrm>
            <a:off x="2804160" y="4986528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Опечатка: $proejct в шаблоне project.php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9582FE0-3B01-430A-95EF-8666C16557C2}"/>
              </a:ext>
            </a:extLst>
          </p:cNvPr>
          <p:cNvSpPr/>
          <p:nvPr/>
        </p:nvSpPr>
        <p:spPr>
          <a:xfrm>
            <a:off x="6986016" y="4986528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Исправлено: $project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93FDBDA-9BD0-466B-B943-70FF603DA6E0}"/>
              </a:ext>
            </a:extLst>
          </p:cNvPr>
          <p:cNvSpPr/>
          <p:nvPr/>
        </p:nvSpPr>
        <p:spPr>
          <a:xfrm>
            <a:off x="512064" y="5327904"/>
            <a:ext cx="11167872" cy="3413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4528E4F-1968-488F-A407-DEEF71456FF5}"/>
              </a:ext>
            </a:extLst>
          </p:cNvPr>
          <p:cNvSpPr/>
          <p:nvPr/>
        </p:nvSpPr>
        <p:spPr>
          <a:xfrm>
            <a:off x="548640" y="5364480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Синтаксис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A367387-FB6D-403E-A76F-57E61791F8F4}"/>
              </a:ext>
            </a:extLst>
          </p:cNvPr>
          <p:cNvSpPr/>
          <p:nvPr/>
        </p:nvSpPr>
        <p:spPr>
          <a:xfrm>
            <a:off x="2804160" y="5364480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Отсутствовал закрывающий &lt;/div&gt; в footer.php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7F961E8-D0D7-479E-8EAD-8E07CC4CFE6C}"/>
              </a:ext>
            </a:extLst>
          </p:cNvPr>
          <p:cNvSpPr/>
          <p:nvPr/>
        </p:nvSpPr>
        <p:spPr>
          <a:xfrm>
            <a:off x="6986016" y="5364480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Тег добавлен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974E78AC-2871-4EA9-B41B-46D29E04A315}"/>
              </a:ext>
            </a:extLst>
          </p:cNvPr>
          <p:cNvSpPr/>
          <p:nvPr/>
        </p:nvSpPr>
        <p:spPr>
          <a:xfrm>
            <a:off x="365760" y="5888736"/>
            <a:ext cx="11460480" cy="755904"/>
          </a:xfrm>
          <a:prstGeom prst="roundRect">
            <a:avLst/>
          </a:prstGeom>
          <a:solidFill>
            <a:srgbClr val="E8F5E9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1" name="Text 42">
            <a:extLst>
              <a:ext uri="{FF2B5EF4-FFF2-40B4-BE49-F238E27FC236}">
                <a16:creationId xmlns:a16="http://schemas.microsoft.com/office/drawing/2014/main" id="{E6F1C1A1-A3BF-4547-B6B4-8F0520895728}"/>
              </a:ext>
            </a:extLst>
          </p:cNvPr>
          <p:cNvSpPr/>
          <p:nvPr/>
        </p:nvSpPr>
        <p:spPr>
          <a:xfrm>
            <a:off x="609600" y="59496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  <a:latin typeface="Century Gothic" panose="020B0502020202020204" pitchFamily="34" charset="0"/>
              </a:rPr>
              <a:t>Итог: 6 ошибок найдено и исправлено · 4 типа сценариев тестирования · Качество: 0.04 ошибки/FP</a:t>
            </a:r>
            <a:endParaRPr lang="en-US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77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80BA97F4-2611-46A8-8F84-CEF6F5EF9B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77" y="114047"/>
            <a:ext cx="12192001" cy="6743953"/>
          </a:xfrm>
          <a:prstGeom prst="rect">
            <a:avLst/>
          </a:prstGeom>
        </p:spPr>
      </p:pic>
      <p:sp>
        <p:nvSpPr>
          <p:cNvPr id="55" name="Shape 3">
            <a:extLst>
              <a:ext uri="{FF2B5EF4-FFF2-40B4-BE49-F238E27FC236}">
                <a16:creationId xmlns:a16="http://schemas.microsoft.com/office/drawing/2014/main" id="{DE4778E3-4445-4798-BE1C-6F5303746DC6}"/>
              </a:ext>
            </a:extLst>
          </p:cNvPr>
          <p:cNvSpPr/>
          <p:nvPr/>
        </p:nvSpPr>
        <p:spPr>
          <a:xfrm>
            <a:off x="6157886" y="3820938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E370AE1F-E9F7-457D-A19E-581DA6030349}"/>
              </a:ext>
            </a:extLst>
          </p:cNvPr>
          <p:cNvSpPr/>
          <p:nvPr/>
        </p:nvSpPr>
        <p:spPr>
          <a:xfrm>
            <a:off x="8141809" y="1438048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3A74C28C-BD28-48A9-B412-1DB3465BFD98}"/>
              </a:ext>
            </a:extLst>
          </p:cNvPr>
          <p:cNvSpPr/>
          <p:nvPr/>
        </p:nvSpPr>
        <p:spPr>
          <a:xfrm>
            <a:off x="4353470" y="1438048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CF5498DD-981D-4BF6-A357-1A268541FEB8}"/>
              </a:ext>
            </a:extLst>
          </p:cNvPr>
          <p:cNvSpPr/>
          <p:nvPr/>
        </p:nvSpPr>
        <p:spPr>
          <a:xfrm>
            <a:off x="2212142" y="3821581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7CC3F2AB-F40B-4942-B0F2-5363CDBBE415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F453A05-A8FD-4190-BD86-B5906242131D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Информационная </a:t>
            </a:r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безопасность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E87DBCF-E738-486C-91D7-7F72C4135BB5}"/>
              </a:ext>
            </a:extLst>
          </p:cNvPr>
          <p:cNvSpPr/>
          <p:nvPr/>
        </p:nvSpPr>
        <p:spPr>
          <a:xfrm>
            <a:off x="5166961" y="1683131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Защита от SQL-инъекций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9CAB3AA-02D1-48BF-8CDF-044183EED896}"/>
              </a:ext>
            </a:extLst>
          </p:cNvPr>
          <p:cNvSpPr/>
          <p:nvPr/>
        </p:nvSpPr>
        <p:spPr>
          <a:xfrm>
            <a:off x="4532977" y="2256155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Prepared Statements через PDO. Пользовательский ввод </a:t>
            </a:r>
            <a:r>
              <a:rPr lang="ru-RU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не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подставляется в запросы напрямую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ABF6CDA-1812-4289-95F4-809C308C04D9}"/>
              </a:ext>
            </a:extLst>
          </p:cNvPr>
          <p:cNvSpPr/>
          <p:nvPr/>
        </p:nvSpPr>
        <p:spPr>
          <a:xfrm>
            <a:off x="8946481" y="1683131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Защита</a:t>
            </a:r>
            <a:r>
              <a:rPr lang="en-US" sz="1600" b="1" dirty="0">
                <a:solidFill>
                  <a:srgbClr val="6A1B9A"/>
                </a:solidFill>
              </a:rPr>
              <a:t> </a:t>
            </a:r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от XSS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A39BF18-3375-4690-9B11-C508A8A4FD09}"/>
              </a:ext>
            </a:extLst>
          </p:cNvPr>
          <p:cNvSpPr/>
          <p:nvPr/>
        </p:nvSpPr>
        <p:spPr>
          <a:xfrm>
            <a:off x="8312497" y="2256155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htmlspecialchars() для всего выводимого контента. Экранирование HTML-символов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B3C41051-E95A-43C9-BD14-88DAF77C1561}"/>
              </a:ext>
            </a:extLst>
          </p:cNvPr>
          <p:cNvSpPr/>
          <p:nvPr/>
        </p:nvSpPr>
        <p:spPr>
          <a:xfrm>
            <a:off x="3000710" y="4064023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Файл .htaccess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8D311E1A-A342-4E2C-A964-482129615142}"/>
              </a:ext>
            </a:extLst>
          </p:cNvPr>
          <p:cNvSpPr/>
          <p:nvPr/>
        </p:nvSpPr>
        <p:spPr>
          <a:xfrm>
            <a:off x="2366726" y="4637047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Запрет доступа к config.php, .git, .env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FD7150A2-ABCC-4660-AD30-676E7E1503C7}"/>
              </a:ext>
            </a:extLst>
          </p:cNvPr>
          <p:cNvSpPr/>
          <p:nvPr/>
        </p:nvSpPr>
        <p:spPr>
          <a:xfrm>
            <a:off x="7013161" y="4036637"/>
            <a:ext cx="251500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Сессионная авторизация</a:t>
            </a: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A79573FF-75A6-430B-8F44-DDA865B08DB5}"/>
              </a:ext>
            </a:extLst>
          </p:cNvPr>
          <p:cNvSpPr/>
          <p:nvPr/>
        </p:nvSpPr>
        <p:spPr>
          <a:xfrm>
            <a:off x="6308115" y="4609661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checkAuth() в каждом admin-скрипте. Без валидной сессии — редирект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/admin-login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00E80E13-B799-43FA-9B4D-5B61FD6A19D2}"/>
              </a:ext>
            </a:extLst>
          </p:cNvPr>
          <p:cNvSpPr/>
          <p:nvPr/>
        </p:nvSpPr>
        <p:spPr>
          <a:xfrm>
            <a:off x="544672" y="1438048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A944AA41-721E-41A6-B9D9-E036B24E0BD5}"/>
              </a:ext>
            </a:extLst>
          </p:cNvPr>
          <p:cNvSpPr/>
          <p:nvPr/>
        </p:nvSpPr>
        <p:spPr>
          <a:xfrm>
            <a:off x="1484977" y="165750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Хэширование паролей</a:t>
            </a:r>
            <a:endParaRPr lang="en-US" sz="1600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F45569BA-8205-40B9-B372-E1F79190D272}"/>
              </a:ext>
            </a:extLst>
          </p:cNvPr>
          <p:cNvSpPr/>
          <p:nvPr/>
        </p:nvSpPr>
        <p:spPr>
          <a:xfrm>
            <a:off x="744638" y="2319389"/>
            <a:ext cx="3169920" cy="1214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password_hash</a:t>
            </a:r>
            <a:r>
              <a:rPr lang="ru-RU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 алгоритмом PASSWORD_DEFAULT. Пароли </a:t>
            </a:r>
            <a:r>
              <a:rPr lang="ru-RU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никогда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не хранятся в открытом виде</a:t>
            </a:r>
            <a:endParaRPr lang="en-US" sz="1400" dirty="0">
              <a:latin typeface="Century Gothic" panose="020B0502020202020204" pitchFamily="34" charset="0"/>
            </a:endParaRPr>
          </a:p>
          <a:p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41" name="Рисунок 40" descr="Книги со сплошной заливкой">
            <a:extLst>
              <a:ext uri="{FF2B5EF4-FFF2-40B4-BE49-F238E27FC236}">
                <a16:creationId xmlns:a16="http://schemas.microsoft.com/office/drawing/2014/main" id="{62415D6F-CC03-47EA-9347-B33C43344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517" y="1607345"/>
            <a:ext cx="735640" cy="735640"/>
          </a:xfrm>
          <a:prstGeom prst="rect">
            <a:avLst/>
          </a:prstGeom>
        </p:spPr>
      </p:pic>
      <p:pic>
        <p:nvPicPr>
          <p:cNvPr id="60" name="Рисунок 59" descr="Интернет со сплошной заливкой">
            <a:extLst>
              <a:ext uri="{FF2B5EF4-FFF2-40B4-BE49-F238E27FC236}">
                <a16:creationId xmlns:a16="http://schemas.microsoft.com/office/drawing/2014/main" id="{21FFF0CA-0592-498C-B4BE-2A94F89720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2763" y="3941539"/>
            <a:ext cx="702259" cy="702259"/>
          </a:xfrm>
          <a:prstGeom prst="rect">
            <a:avLst/>
          </a:prstGeom>
        </p:spPr>
      </p:pic>
      <p:pic>
        <p:nvPicPr>
          <p:cNvPr id="66" name="Рисунок 65" descr="База данных со сплошной заливкой">
            <a:extLst>
              <a:ext uri="{FF2B5EF4-FFF2-40B4-BE49-F238E27FC236}">
                <a16:creationId xmlns:a16="http://schemas.microsoft.com/office/drawing/2014/main" id="{AC5AD2D0-F108-4C7C-B512-A508F5E876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51049" y="1568593"/>
            <a:ext cx="789064" cy="789064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E4177D8B-11F1-4FC3-BE0A-50481FFE2DD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8616" t="23858" r="6324" b="34535"/>
          <a:stretch/>
        </p:blipFill>
        <p:spPr>
          <a:xfrm>
            <a:off x="8305893" y="1775684"/>
            <a:ext cx="638388" cy="312261"/>
          </a:xfrm>
          <a:prstGeom prst="rect">
            <a:avLst/>
          </a:prstGeom>
        </p:spPr>
      </p:pic>
      <p:pic>
        <p:nvPicPr>
          <p:cNvPr id="81" name="Рисунок 80" descr="Портфель со сплошной заливкой">
            <a:extLst>
              <a:ext uri="{FF2B5EF4-FFF2-40B4-BE49-F238E27FC236}">
                <a16:creationId xmlns:a16="http://schemas.microsoft.com/office/drawing/2014/main" id="{88A0D8F3-9BB4-4D64-8E9F-00331344AB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3251" y="4010207"/>
            <a:ext cx="565468" cy="56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65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11E559DF-24C8-4CC0-85FD-87ACD114845C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CF1980F-D6EE-47F4-9AA4-C8C2C90B3FE6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Расчет</a:t>
            </a:r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 метрик проекта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B174EEE-E816-4F2F-9670-069D8480C596}"/>
              </a:ext>
            </a:extLst>
          </p:cNvPr>
          <p:cNvSpPr/>
          <p:nvPr/>
        </p:nvSpPr>
        <p:spPr>
          <a:xfrm>
            <a:off x="290161" y="1148401"/>
            <a:ext cx="2682240" cy="13511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538FAD">
                <a:alpha val="14000"/>
              </a:srgbClr>
            </a:outerShdw>
          </a:effectLst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ABE79-0809-4A08-9248-6549266947E0}"/>
              </a:ext>
            </a:extLst>
          </p:cNvPr>
          <p:cNvSpPr/>
          <p:nvPr/>
        </p:nvSpPr>
        <p:spPr>
          <a:xfrm>
            <a:off x="351121" y="1271285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4400" b="1" dirty="0">
                <a:solidFill>
                  <a:srgbClr val="538FAD"/>
                </a:solidFill>
                <a:latin typeface="Century Gothic" panose="020B0502020202020204" pitchFamily="34" charset="0"/>
              </a:rPr>
              <a:t>108.15</a:t>
            </a:r>
            <a:endParaRPr lang="en-US" sz="4400" b="1" dirty="0">
              <a:solidFill>
                <a:srgbClr val="538FAD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34AF4D1-8156-4DD3-9FCC-85256E66587B}"/>
              </a:ext>
            </a:extLst>
          </p:cNvPr>
          <p:cNvSpPr/>
          <p:nvPr/>
        </p:nvSpPr>
        <p:spPr>
          <a:xfrm>
            <a:off x="351121" y="1816857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38FAD"/>
                </a:solidFill>
                <a:latin typeface="Century Gothic" panose="020B0502020202020204" pitchFamily="34" charset="0"/>
              </a:rPr>
              <a:t>FP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13F65FE-662A-42ED-A87B-843889901700}"/>
              </a:ext>
            </a:extLst>
          </p:cNvPr>
          <p:cNvSpPr/>
          <p:nvPr/>
        </p:nvSpPr>
        <p:spPr>
          <a:xfrm>
            <a:off x="351121" y="2103283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Функциональных точек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D003C00-CF8D-4C00-8DE9-02C635FEBC28}"/>
              </a:ext>
            </a:extLst>
          </p:cNvPr>
          <p:cNvSpPr/>
          <p:nvPr/>
        </p:nvSpPr>
        <p:spPr>
          <a:xfrm>
            <a:off x="3216241" y="1148401"/>
            <a:ext cx="2682240" cy="13511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838F">
                <a:alpha val="14000"/>
              </a:srgbClr>
            </a:outerShdw>
          </a:effectLst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F950A07-6367-4C91-A2B0-25B4346D2E12}"/>
              </a:ext>
            </a:extLst>
          </p:cNvPr>
          <p:cNvSpPr/>
          <p:nvPr/>
        </p:nvSpPr>
        <p:spPr>
          <a:xfrm>
            <a:off x="3277201" y="1271285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00838F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66.7</a:t>
            </a:r>
            <a:endParaRPr lang="en-US" sz="4400" dirty="0">
              <a:latin typeface="Century Gothic" panose="020B0502020202020204" pitchFamily="3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3A2D570-76B1-4354-9C5C-C532CAF9569C}"/>
              </a:ext>
            </a:extLst>
          </p:cNvPr>
          <p:cNvSpPr/>
          <p:nvPr/>
        </p:nvSpPr>
        <p:spPr>
          <a:xfrm>
            <a:off x="3277201" y="1816857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00838F"/>
                </a:solidFill>
                <a:latin typeface="Century Gothic" panose="020B0502020202020204" pitchFamily="34" charset="0"/>
              </a:rPr>
              <a:t>FP/чел.-мес.</a:t>
            </a:r>
            <a:endParaRPr lang="en-US" sz="1467" dirty="0">
              <a:latin typeface="Century Gothic" panose="020B0502020202020204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67C8BE2-43F6-423A-90FE-AA6C5C2B8E54}"/>
              </a:ext>
            </a:extLst>
          </p:cNvPr>
          <p:cNvSpPr/>
          <p:nvPr/>
        </p:nvSpPr>
        <p:spPr>
          <a:xfrm>
            <a:off x="3277201" y="2103283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612B26B-7981-4431-8527-6C0D659A52A6}"/>
              </a:ext>
            </a:extLst>
          </p:cNvPr>
          <p:cNvSpPr/>
          <p:nvPr/>
        </p:nvSpPr>
        <p:spPr>
          <a:xfrm>
            <a:off x="6142321" y="1148401"/>
            <a:ext cx="2682240" cy="1351122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6">
                <a:lumMod val="20000"/>
                <a:lumOff val="80000"/>
              </a:schemeClr>
            </a:solidFill>
            <a:prstDash val="solid"/>
          </a:ln>
          <a:effectLst>
            <a:outerShdw blurRad="101600" dist="38100" dir="8100000" algn="bl" rotWithShape="0">
              <a:srgbClr val="2E7D32">
                <a:alpha val="14000"/>
              </a:srgbClr>
            </a:outerShdw>
          </a:effectLst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DA7C292-FECA-4858-9DEE-22986F70CC4A}"/>
              </a:ext>
            </a:extLst>
          </p:cNvPr>
          <p:cNvSpPr/>
          <p:nvPr/>
        </p:nvSpPr>
        <p:spPr>
          <a:xfrm>
            <a:off x="6203281" y="1271285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0.</a:t>
            </a:r>
            <a:r>
              <a:rPr lang="ru-RU" sz="4400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en-US" sz="4400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>
              <a:latin typeface="Century Gothic" panose="020B0502020202020204" pitchFamily="3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7D45FF6D-B7C0-4118-9DE7-5E4FACF0E48A}"/>
              </a:ext>
            </a:extLst>
          </p:cNvPr>
          <p:cNvSpPr/>
          <p:nvPr/>
        </p:nvSpPr>
        <p:spPr>
          <a:xfrm>
            <a:off x="6203281" y="1816857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E7D32"/>
                </a:solidFill>
                <a:latin typeface="Century Gothic" panose="020B0502020202020204" pitchFamily="34" charset="0"/>
              </a:rPr>
              <a:t>ош./FP</a:t>
            </a:r>
            <a:endParaRPr lang="en-US" sz="1467" dirty="0">
              <a:latin typeface="Century Gothic" panose="020B0502020202020204" pitchFamily="34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8A29F47A-5F4B-4C57-A624-EC871CB9B88E}"/>
              </a:ext>
            </a:extLst>
          </p:cNvPr>
          <p:cNvSpPr/>
          <p:nvPr/>
        </p:nvSpPr>
        <p:spPr>
          <a:xfrm>
            <a:off x="6203281" y="2103283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Метрика качества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59C1955-49FB-4208-923B-9FAF9BD7ABB0}"/>
              </a:ext>
            </a:extLst>
          </p:cNvPr>
          <p:cNvSpPr/>
          <p:nvPr/>
        </p:nvSpPr>
        <p:spPr>
          <a:xfrm>
            <a:off x="9068401" y="1148401"/>
            <a:ext cx="2682240" cy="13511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DED6"/>
            </a:solidFill>
            <a:prstDash val="solid"/>
          </a:ln>
          <a:effectLst>
            <a:outerShdw blurRad="101600" dist="38100" dir="8100000" algn="bl" rotWithShape="0">
              <a:srgbClr val="9F6F4F">
                <a:alpha val="14000"/>
              </a:srgbClr>
            </a:outerShdw>
          </a:effectLst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41A8DF79-3C86-4892-AA61-C3A90B67749C}"/>
              </a:ext>
            </a:extLst>
          </p:cNvPr>
          <p:cNvSpPr/>
          <p:nvPr/>
        </p:nvSpPr>
        <p:spPr>
          <a:xfrm>
            <a:off x="9129361" y="1271285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9F6F4F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270</a:t>
            </a:r>
            <a:endParaRPr lang="en-US" sz="4400" dirty="0">
              <a:solidFill>
                <a:srgbClr val="9F6F4F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63C019DA-A3AB-4890-BC54-3DF797172720}"/>
              </a:ext>
            </a:extLst>
          </p:cNvPr>
          <p:cNvSpPr/>
          <p:nvPr/>
        </p:nvSpPr>
        <p:spPr>
          <a:xfrm>
            <a:off x="9129361" y="1816857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F6F4F"/>
                </a:solidFill>
                <a:latin typeface="Century Gothic" panose="020B0502020202020204" pitchFamily="34" charset="0"/>
              </a:rPr>
              <a:t>чел.-час</a:t>
            </a: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AA8321B-8C0A-4F8C-985B-019B27E9EA52}"/>
              </a:ext>
            </a:extLst>
          </p:cNvPr>
          <p:cNvSpPr/>
          <p:nvPr/>
        </p:nvSpPr>
        <p:spPr>
          <a:xfrm>
            <a:off x="9129361" y="2103283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Всего трудозатрат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03D2848-AA85-4567-87F7-CE27BAA5127B}"/>
              </a:ext>
            </a:extLst>
          </p:cNvPr>
          <p:cNvSpPr/>
          <p:nvPr/>
        </p:nvSpPr>
        <p:spPr>
          <a:xfrm>
            <a:off x="534001" y="2687550"/>
            <a:ext cx="6461760" cy="3413760"/>
          </a:xfrm>
          <a:prstGeom prst="roundRect">
            <a:avLst>
              <a:gd name="adj" fmla="val 8530"/>
            </a:avLst>
          </a:prstGeom>
          <a:solidFill>
            <a:srgbClr val="C7D9E5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01004970-C613-4CC9-B50A-82E8A58D148D}"/>
              </a:ext>
            </a:extLst>
          </p:cNvPr>
          <p:cNvSpPr/>
          <p:nvPr/>
        </p:nvSpPr>
        <p:spPr>
          <a:xfrm>
            <a:off x="777841" y="2772894"/>
            <a:ext cx="5852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77C8E"/>
                </a:solidFill>
                <a:latin typeface="Century Gothic" panose="020B0502020202020204" pitchFamily="34" charset="0"/>
              </a:rPr>
              <a:t>Трудозатраты по этапам</a:t>
            </a:r>
            <a:endParaRPr lang="en-US" sz="1600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73" name="Text 25">
            <a:extLst>
              <a:ext uri="{FF2B5EF4-FFF2-40B4-BE49-F238E27FC236}">
                <a16:creationId xmlns:a16="http://schemas.microsoft.com/office/drawing/2014/main" id="{71E6BD5E-5CF2-4E0E-A4FA-D9A000737775}"/>
              </a:ext>
            </a:extLst>
          </p:cNvPr>
          <p:cNvSpPr/>
          <p:nvPr/>
        </p:nvSpPr>
        <p:spPr>
          <a:xfrm>
            <a:off x="716881" y="317818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Анализ требований</a:t>
            </a:r>
          </a:p>
        </p:txBody>
      </p:sp>
      <p:sp>
        <p:nvSpPr>
          <p:cNvPr id="74" name="Shape 26">
            <a:extLst>
              <a:ext uri="{FF2B5EF4-FFF2-40B4-BE49-F238E27FC236}">
                <a16:creationId xmlns:a16="http://schemas.microsoft.com/office/drawing/2014/main" id="{A33D5F01-BBC7-469D-BECF-0A63A9A9471D}"/>
              </a:ext>
            </a:extLst>
          </p:cNvPr>
          <p:cNvSpPr/>
          <p:nvPr/>
        </p:nvSpPr>
        <p:spPr>
          <a:xfrm>
            <a:off x="3216241" y="3239147"/>
            <a:ext cx="1066800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34F62C56-A4DC-4CB9-9D48-581F645DA6DD}"/>
              </a:ext>
            </a:extLst>
          </p:cNvPr>
          <p:cNvSpPr/>
          <p:nvPr/>
        </p:nvSpPr>
        <p:spPr>
          <a:xfrm>
            <a:off x="4307425" y="3226955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30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E3B541CB-6431-44A8-AFDA-C9EE1A5479C8}"/>
              </a:ext>
            </a:extLst>
          </p:cNvPr>
          <p:cNvSpPr/>
          <p:nvPr/>
        </p:nvSpPr>
        <p:spPr>
          <a:xfrm>
            <a:off x="716881" y="372682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Проектирование</a:t>
            </a:r>
          </a:p>
        </p:txBody>
      </p:sp>
      <p:sp>
        <p:nvSpPr>
          <p:cNvPr id="77" name="Shape 29">
            <a:extLst>
              <a:ext uri="{FF2B5EF4-FFF2-40B4-BE49-F238E27FC236}">
                <a16:creationId xmlns:a16="http://schemas.microsoft.com/office/drawing/2014/main" id="{36B15BED-BCB2-4917-9543-4E9A77885F04}"/>
              </a:ext>
            </a:extLst>
          </p:cNvPr>
          <p:cNvSpPr/>
          <p:nvPr/>
        </p:nvSpPr>
        <p:spPr>
          <a:xfrm>
            <a:off x="3216241" y="3787787"/>
            <a:ext cx="1600200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78" name="Text 30">
            <a:extLst>
              <a:ext uri="{FF2B5EF4-FFF2-40B4-BE49-F238E27FC236}">
                <a16:creationId xmlns:a16="http://schemas.microsoft.com/office/drawing/2014/main" id="{BADBFD61-BBDF-4E41-8492-FA594EF685F6}"/>
              </a:ext>
            </a:extLst>
          </p:cNvPr>
          <p:cNvSpPr/>
          <p:nvPr/>
        </p:nvSpPr>
        <p:spPr>
          <a:xfrm>
            <a:off x="4840825" y="3775595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45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B60CF1CC-CF30-48E1-8A27-01ABF95051D7}"/>
              </a:ext>
            </a:extLst>
          </p:cNvPr>
          <p:cNvSpPr/>
          <p:nvPr/>
        </p:nvSpPr>
        <p:spPr>
          <a:xfrm>
            <a:off x="716881" y="427546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Разработка (код)</a:t>
            </a:r>
          </a:p>
        </p:txBody>
      </p:sp>
      <p:sp>
        <p:nvSpPr>
          <p:cNvPr id="80" name="Shape 32">
            <a:extLst>
              <a:ext uri="{FF2B5EF4-FFF2-40B4-BE49-F238E27FC236}">
                <a16:creationId xmlns:a16="http://schemas.microsoft.com/office/drawing/2014/main" id="{8D56FBFD-DFBC-4C0A-A61E-6D1D171A4A7B}"/>
              </a:ext>
            </a:extLst>
          </p:cNvPr>
          <p:cNvSpPr/>
          <p:nvPr/>
        </p:nvSpPr>
        <p:spPr>
          <a:xfrm>
            <a:off x="3216241" y="4336427"/>
            <a:ext cx="2218944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  <p:txBody>
          <a:bodyPr/>
          <a:lstStyle/>
          <a:p>
            <a:endParaRPr lang="ru-RU" sz="2400" dirty="0">
              <a:latin typeface="Century Gothic" panose="020B0502020202020204" pitchFamily="34" charset="0"/>
            </a:endParaRP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00E7E507-4129-483B-9D1A-6922CB2D486A}"/>
              </a:ext>
            </a:extLst>
          </p:cNvPr>
          <p:cNvSpPr/>
          <p:nvPr/>
        </p:nvSpPr>
        <p:spPr>
          <a:xfrm>
            <a:off x="716881" y="482410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Тестирование</a:t>
            </a:r>
          </a:p>
        </p:txBody>
      </p:sp>
      <p:sp>
        <p:nvSpPr>
          <p:cNvPr id="83" name="Shape 35">
            <a:extLst>
              <a:ext uri="{FF2B5EF4-FFF2-40B4-BE49-F238E27FC236}">
                <a16:creationId xmlns:a16="http://schemas.microsoft.com/office/drawing/2014/main" id="{9F1BEFBC-D95F-45B6-8836-8B309332448A}"/>
              </a:ext>
            </a:extLst>
          </p:cNvPr>
          <p:cNvSpPr/>
          <p:nvPr/>
        </p:nvSpPr>
        <p:spPr>
          <a:xfrm>
            <a:off x="3216241" y="4885067"/>
            <a:ext cx="1422400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84" name="Text 36">
            <a:extLst>
              <a:ext uri="{FF2B5EF4-FFF2-40B4-BE49-F238E27FC236}">
                <a16:creationId xmlns:a16="http://schemas.microsoft.com/office/drawing/2014/main" id="{E735E84A-385C-4F41-849B-52C9EC5715D4}"/>
              </a:ext>
            </a:extLst>
          </p:cNvPr>
          <p:cNvSpPr/>
          <p:nvPr/>
        </p:nvSpPr>
        <p:spPr>
          <a:xfrm>
            <a:off x="4663025" y="4872875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40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5" name="Text 37">
            <a:extLst>
              <a:ext uri="{FF2B5EF4-FFF2-40B4-BE49-F238E27FC236}">
                <a16:creationId xmlns:a16="http://schemas.microsoft.com/office/drawing/2014/main" id="{CA5D4CE4-BDA4-4F41-BC9B-E141CB243500}"/>
              </a:ext>
            </a:extLst>
          </p:cNvPr>
          <p:cNvSpPr/>
          <p:nvPr/>
        </p:nvSpPr>
        <p:spPr>
          <a:xfrm>
            <a:off x="716881" y="537274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Документация</a:t>
            </a:r>
          </a:p>
        </p:txBody>
      </p:sp>
      <p:sp>
        <p:nvSpPr>
          <p:cNvPr id="86" name="Shape 38">
            <a:extLst>
              <a:ext uri="{FF2B5EF4-FFF2-40B4-BE49-F238E27FC236}">
                <a16:creationId xmlns:a16="http://schemas.microsoft.com/office/drawing/2014/main" id="{D97C066E-2B39-470F-A476-5D8CD5AE6E68}"/>
              </a:ext>
            </a:extLst>
          </p:cNvPr>
          <p:cNvSpPr/>
          <p:nvPr/>
        </p:nvSpPr>
        <p:spPr>
          <a:xfrm>
            <a:off x="3216241" y="5433707"/>
            <a:ext cx="1244600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DBBE9FCC-F08B-48B1-A9A5-90ADCC563ECC}"/>
              </a:ext>
            </a:extLst>
          </p:cNvPr>
          <p:cNvSpPr/>
          <p:nvPr/>
        </p:nvSpPr>
        <p:spPr>
          <a:xfrm>
            <a:off x="4485225" y="5421515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35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8" name="Shape 40">
            <a:extLst>
              <a:ext uri="{FF2B5EF4-FFF2-40B4-BE49-F238E27FC236}">
                <a16:creationId xmlns:a16="http://schemas.microsoft.com/office/drawing/2014/main" id="{D6548002-C87D-4F2A-8C69-8655CFC83D8B}"/>
              </a:ext>
            </a:extLst>
          </p:cNvPr>
          <p:cNvSpPr/>
          <p:nvPr/>
        </p:nvSpPr>
        <p:spPr>
          <a:xfrm>
            <a:off x="7300561" y="2687550"/>
            <a:ext cx="4693920" cy="3413760"/>
          </a:xfrm>
          <a:prstGeom prst="roundRect">
            <a:avLst>
              <a:gd name="adj" fmla="val 9208"/>
            </a:avLst>
          </a:prstGeom>
          <a:solidFill>
            <a:srgbClr val="C7D9E5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9" name="Text 41">
            <a:extLst>
              <a:ext uri="{FF2B5EF4-FFF2-40B4-BE49-F238E27FC236}">
                <a16:creationId xmlns:a16="http://schemas.microsoft.com/office/drawing/2014/main" id="{2E5A13DE-CFC5-420F-A9D4-CF9C21F6A8E3}"/>
              </a:ext>
            </a:extLst>
          </p:cNvPr>
          <p:cNvSpPr/>
          <p:nvPr/>
        </p:nvSpPr>
        <p:spPr>
          <a:xfrm>
            <a:off x="7483441" y="2772894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Составляющие FP (до корректировки = 105)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90" name="Text 42">
            <a:extLst>
              <a:ext uri="{FF2B5EF4-FFF2-40B4-BE49-F238E27FC236}">
                <a16:creationId xmlns:a16="http://schemas.microsoft.com/office/drawing/2014/main" id="{539C7B70-4330-4DF9-9FA8-16872E9DE1CD}"/>
              </a:ext>
            </a:extLst>
          </p:cNvPr>
          <p:cNvSpPr/>
          <p:nvPr/>
        </p:nvSpPr>
        <p:spPr>
          <a:xfrm>
            <a:off x="7483441" y="317818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Вводы (×3)</a:t>
            </a:r>
          </a:p>
        </p:txBody>
      </p:sp>
      <p:sp>
        <p:nvSpPr>
          <p:cNvPr id="91" name="Text 43">
            <a:extLst>
              <a:ext uri="{FF2B5EF4-FFF2-40B4-BE49-F238E27FC236}">
                <a16:creationId xmlns:a16="http://schemas.microsoft.com/office/drawing/2014/main" id="{C85A061B-966C-4D1F-AA51-12F5CA4F8BD2}"/>
              </a:ext>
            </a:extLst>
          </p:cNvPr>
          <p:cNvSpPr/>
          <p:nvPr/>
        </p:nvSpPr>
        <p:spPr>
          <a:xfrm>
            <a:off x="11262961" y="317818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15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92" name="Shape 44">
            <a:extLst>
              <a:ext uri="{FF2B5EF4-FFF2-40B4-BE49-F238E27FC236}">
                <a16:creationId xmlns:a16="http://schemas.microsoft.com/office/drawing/2014/main" id="{0D1443C3-950B-46F4-962B-3E4D5238E4F0}"/>
              </a:ext>
            </a:extLst>
          </p:cNvPr>
          <p:cNvSpPr/>
          <p:nvPr/>
        </p:nvSpPr>
        <p:spPr>
          <a:xfrm>
            <a:off x="10104721" y="3287915"/>
            <a:ext cx="365760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B2FFBCB5-A0C3-450D-A95C-4CD8B763DD22}"/>
              </a:ext>
            </a:extLst>
          </p:cNvPr>
          <p:cNvSpPr/>
          <p:nvPr/>
        </p:nvSpPr>
        <p:spPr>
          <a:xfrm>
            <a:off x="7483441" y="366586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Выводы (×4)</a:t>
            </a:r>
          </a:p>
        </p:txBody>
      </p:sp>
      <p:sp>
        <p:nvSpPr>
          <p:cNvPr id="94" name="Text 46">
            <a:extLst>
              <a:ext uri="{FF2B5EF4-FFF2-40B4-BE49-F238E27FC236}">
                <a16:creationId xmlns:a16="http://schemas.microsoft.com/office/drawing/2014/main" id="{F4F00D5A-F964-4F33-96DD-D5C2D56F7A1A}"/>
              </a:ext>
            </a:extLst>
          </p:cNvPr>
          <p:cNvSpPr/>
          <p:nvPr/>
        </p:nvSpPr>
        <p:spPr>
          <a:xfrm>
            <a:off x="11262961" y="366586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40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95" name="Shape 47">
            <a:extLst>
              <a:ext uri="{FF2B5EF4-FFF2-40B4-BE49-F238E27FC236}">
                <a16:creationId xmlns:a16="http://schemas.microsoft.com/office/drawing/2014/main" id="{3D528E1E-2214-47FA-B875-1F75F8EB11D6}"/>
              </a:ext>
            </a:extLst>
          </p:cNvPr>
          <p:cNvSpPr/>
          <p:nvPr/>
        </p:nvSpPr>
        <p:spPr>
          <a:xfrm>
            <a:off x="10104721" y="3775595"/>
            <a:ext cx="975360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96" name="Text 48">
            <a:extLst>
              <a:ext uri="{FF2B5EF4-FFF2-40B4-BE49-F238E27FC236}">
                <a16:creationId xmlns:a16="http://schemas.microsoft.com/office/drawing/2014/main" id="{87F70222-A6D0-4FE9-A4D2-7C5D3FC6F7A5}"/>
              </a:ext>
            </a:extLst>
          </p:cNvPr>
          <p:cNvSpPr/>
          <p:nvPr/>
        </p:nvSpPr>
        <p:spPr>
          <a:xfrm>
            <a:off x="7483441" y="415354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Запросы (×3)</a:t>
            </a:r>
          </a:p>
        </p:txBody>
      </p:sp>
      <p:sp>
        <p:nvSpPr>
          <p:cNvPr id="97" name="Text 49">
            <a:extLst>
              <a:ext uri="{FF2B5EF4-FFF2-40B4-BE49-F238E27FC236}">
                <a16:creationId xmlns:a16="http://schemas.microsoft.com/office/drawing/2014/main" id="{04014260-B41F-4000-B9FD-C1E4FDD45820}"/>
              </a:ext>
            </a:extLst>
          </p:cNvPr>
          <p:cNvSpPr/>
          <p:nvPr/>
        </p:nvSpPr>
        <p:spPr>
          <a:xfrm>
            <a:off x="11262961" y="415354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6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Shape 50">
            <a:extLst>
              <a:ext uri="{FF2B5EF4-FFF2-40B4-BE49-F238E27FC236}">
                <a16:creationId xmlns:a16="http://schemas.microsoft.com/office/drawing/2014/main" id="{0C6DAA74-BA71-435C-AB46-C0AAC4A9D61D}"/>
              </a:ext>
            </a:extLst>
          </p:cNvPr>
          <p:cNvSpPr/>
          <p:nvPr/>
        </p:nvSpPr>
        <p:spPr>
          <a:xfrm>
            <a:off x="10104721" y="4263275"/>
            <a:ext cx="146304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99" name="Text 51">
            <a:extLst>
              <a:ext uri="{FF2B5EF4-FFF2-40B4-BE49-F238E27FC236}">
                <a16:creationId xmlns:a16="http://schemas.microsoft.com/office/drawing/2014/main" id="{7968F823-57C4-4118-99CA-35DEB2E8A42C}"/>
              </a:ext>
            </a:extLst>
          </p:cNvPr>
          <p:cNvSpPr/>
          <p:nvPr/>
        </p:nvSpPr>
        <p:spPr>
          <a:xfrm>
            <a:off x="7483441" y="464122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Лог. файлы (×7)</a:t>
            </a:r>
          </a:p>
        </p:txBody>
      </p:sp>
      <p:sp>
        <p:nvSpPr>
          <p:cNvPr id="100" name="Text 52">
            <a:extLst>
              <a:ext uri="{FF2B5EF4-FFF2-40B4-BE49-F238E27FC236}">
                <a16:creationId xmlns:a16="http://schemas.microsoft.com/office/drawing/2014/main" id="{2F9087F6-4EA1-413E-8035-5216B1E35841}"/>
              </a:ext>
            </a:extLst>
          </p:cNvPr>
          <p:cNvSpPr/>
          <p:nvPr/>
        </p:nvSpPr>
        <p:spPr>
          <a:xfrm>
            <a:off x="11262961" y="464122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21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101" name="Shape 53">
            <a:extLst>
              <a:ext uri="{FF2B5EF4-FFF2-40B4-BE49-F238E27FC236}">
                <a16:creationId xmlns:a16="http://schemas.microsoft.com/office/drawing/2014/main" id="{A2031FD7-BF43-4F61-896C-1592608DBF45}"/>
              </a:ext>
            </a:extLst>
          </p:cNvPr>
          <p:cNvSpPr/>
          <p:nvPr/>
        </p:nvSpPr>
        <p:spPr>
          <a:xfrm>
            <a:off x="10104721" y="4750955"/>
            <a:ext cx="512064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102" name="Text 54">
            <a:extLst>
              <a:ext uri="{FF2B5EF4-FFF2-40B4-BE49-F238E27FC236}">
                <a16:creationId xmlns:a16="http://schemas.microsoft.com/office/drawing/2014/main" id="{E1BD5B6C-E3A7-44DC-811A-B453084BB0CA}"/>
              </a:ext>
            </a:extLst>
          </p:cNvPr>
          <p:cNvSpPr/>
          <p:nvPr/>
        </p:nvSpPr>
        <p:spPr>
          <a:xfrm>
            <a:off x="7483441" y="512890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Интерф. файлы (×5)</a:t>
            </a:r>
          </a:p>
        </p:txBody>
      </p:sp>
      <p:sp>
        <p:nvSpPr>
          <p:cNvPr id="103" name="Text 55">
            <a:extLst>
              <a:ext uri="{FF2B5EF4-FFF2-40B4-BE49-F238E27FC236}">
                <a16:creationId xmlns:a16="http://schemas.microsoft.com/office/drawing/2014/main" id="{A5D9CA0B-A366-4DE2-BC9D-040E166A3B5C}"/>
              </a:ext>
            </a:extLst>
          </p:cNvPr>
          <p:cNvSpPr/>
          <p:nvPr/>
        </p:nvSpPr>
        <p:spPr>
          <a:xfrm>
            <a:off x="11262961" y="512890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5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104" name="Shape 56">
            <a:extLst>
              <a:ext uri="{FF2B5EF4-FFF2-40B4-BE49-F238E27FC236}">
                <a16:creationId xmlns:a16="http://schemas.microsoft.com/office/drawing/2014/main" id="{AD4D21F5-7191-45EC-AC07-2BBC02AFDD52}"/>
              </a:ext>
            </a:extLst>
          </p:cNvPr>
          <p:cNvSpPr/>
          <p:nvPr/>
        </p:nvSpPr>
        <p:spPr>
          <a:xfrm>
            <a:off x="10104721" y="5238635"/>
            <a:ext cx="121920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105" name="Text 57">
            <a:extLst>
              <a:ext uri="{FF2B5EF4-FFF2-40B4-BE49-F238E27FC236}">
                <a16:creationId xmlns:a16="http://schemas.microsoft.com/office/drawing/2014/main" id="{D5A3DD3C-6DB9-42F2-8F56-237A1AC1B584}"/>
              </a:ext>
            </a:extLst>
          </p:cNvPr>
          <p:cNvSpPr/>
          <p:nvPr/>
        </p:nvSpPr>
        <p:spPr>
          <a:xfrm>
            <a:off x="7483441" y="561658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Алгоритмы (×1)</a:t>
            </a:r>
          </a:p>
        </p:txBody>
      </p:sp>
      <p:sp>
        <p:nvSpPr>
          <p:cNvPr id="106" name="Text 58">
            <a:extLst>
              <a:ext uri="{FF2B5EF4-FFF2-40B4-BE49-F238E27FC236}">
                <a16:creationId xmlns:a16="http://schemas.microsoft.com/office/drawing/2014/main" id="{B95306B2-8399-4408-B664-D7A706171625}"/>
              </a:ext>
            </a:extLst>
          </p:cNvPr>
          <p:cNvSpPr/>
          <p:nvPr/>
        </p:nvSpPr>
        <p:spPr>
          <a:xfrm>
            <a:off x="11262961" y="561658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18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107" name="Shape 59">
            <a:extLst>
              <a:ext uri="{FF2B5EF4-FFF2-40B4-BE49-F238E27FC236}">
                <a16:creationId xmlns:a16="http://schemas.microsoft.com/office/drawing/2014/main" id="{A7ABD4FF-7F53-475E-ACB1-90C58FF5449E}"/>
              </a:ext>
            </a:extLst>
          </p:cNvPr>
          <p:cNvSpPr/>
          <p:nvPr/>
        </p:nvSpPr>
        <p:spPr>
          <a:xfrm>
            <a:off x="10104721" y="5726315"/>
            <a:ext cx="438912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108" name="Text 33">
            <a:extLst>
              <a:ext uri="{FF2B5EF4-FFF2-40B4-BE49-F238E27FC236}">
                <a16:creationId xmlns:a16="http://schemas.microsoft.com/office/drawing/2014/main" id="{B0340067-0FF4-42E6-92E3-C18BD765E762}"/>
              </a:ext>
            </a:extLst>
          </p:cNvPr>
          <p:cNvSpPr/>
          <p:nvPr/>
        </p:nvSpPr>
        <p:spPr>
          <a:xfrm>
            <a:off x="5532721" y="4299851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120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110" name="Shape 60">
            <a:extLst>
              <a:ext uri="{FF2B5EF4-FFF2-40B4-BE49-F238E27FC236}">
                <a16:creationId xmlns:a16="http://schemas.microsoft.com/office/drawing/2014/main" id="{25EB983B-9F02-4E47-BF2C-FC7F7A476965}"/>
              </a:ext>
            </a:extLst>
          </p:cNvPr>
          <p:cNvSpPr/>
          <p:nvPr/>
        </p:nvSpPr>
        <p:spPr>
          <a:xfrm>
            <a:off x="0" y="6284190"/>
            <a:ext cx="12192000" cy="585216"/>
          </a:xfrm>
          <a:prstGeom prst="rect">
            <a:avLst/>
          </a:prstGeom>
          <a:solidFill>
            <a:srgbClr val="2C3E50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1" name="Text 61">
            <a:extLst>
              <a:ext uri="{FF2B5EF4-FFF2-40B4-BE49-F238E27FC236}">
                <a16:creationId xmlns:a16="http://schemas.microsoft.com/office/drawing/2014/main" id="{B4538070-4138-4F85-8893-790D4FE0828B}"/>
              </a:ext>
            </a:extLst>
          </p:cNvPr>
          <p:cNvSpPr/>
          <p:nvPr/>
        </p:nvSpPr>
        <p:spPr>
          <a:xfrm>
            <a:off x="482476" y="6327404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C7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105 × VA(0.95) = 100 · VA = 0.65 + 0.01 × ΣFi(30) = 0.95 · Производительность = 100 FP / 1.5 чел.-мес. = 66.67</a:t>
            </a:r>
            <a:endParaRPr lang="en-US" sz="1333" dirty="0">
              <a:solidFill>
                <a:srgbClr val="C7D9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743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2030276" y="1569556"/>
            <a:ext cx="7856620" cy="20162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fontAlgn="base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«ДОНСКОЙ ГОСУДАРСТВЕННЫЙ ТЕХНИЧЕСКИЙ УНИВЕРСИТЕТ»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(ДГТУ)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Авиационно-технологический колледж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3C2608F-0A7F-4BCC-AE70-AD38E34C8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306" y="0"/>
            <a:ext cx="1472561" cy="156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01819" y="3291350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756" y="3691460"/>
            <a:ext cx="944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сайта-портфолио для научно-исследовательской группы с публикацией статей, данными экспериментов и блогом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598311" y="5104535"/>
            <a:ext cx="10848622" cy="1753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Выполнил студент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группы ИСП9-К42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С.О.Гридчина </a:t>
            </a:r>
          </a:p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Руководитель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А.А. Михалева</a:t>
            </a:r>
          </a:p>
          <a:p>
            <a:pPr algn="r"/>
            <a:endParaRPr lang="ru-RU" sz="2000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Ростов-на-Дону, 2026</a:t>
            </a:r>
          </a:p>
        </p:txBody>
      </p:sp>
    </p:spTree>
    <p:extLst>
      <p:ext uri="{BB962C8B-B14F-4D97-AF65-F5344CB8AC3E}">
        <p14:creationId xmlns:p14="http://schemas.microsoft.com/office/powerpoint/2010/main" val="38802063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1957</TotalTime>
  <Words>1140</Words>
  <Application>Microsoft Office PowerPoint</Application>
  <PresentationFormat>Широкоэкранный</PresentationFormat>
  <Paragraphs>189</Paragraphs>
  <Slides>13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Consolas</vt:lpstr>
      <vt:lpstr>Times New Roman</vt:lpstr>
      <vt:lpstr>Wingdings 3</vt:lpstr>
      <vt:lpstr>Тема Office</vt:lpstr>
      <vt:lpstr>Презентация PowerPoint</vt:lpstr>
      <vt:lpstr>Презентация PowerPoint</vt:lpstr>
      <vt:lpstr>Архитектура ПО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root</dc:creator>
  <cp:lastModifiedBy>root</cp:lastModifiedBy>
  <cp:revision>16</cp:revision>
  <dcterms:created xsi:type="dcterms:W3CDTF">2026-02-21T17:40:00Z</dcterms:created>
  <dcterms:modified xsi:type="dcterms:W3CDTF">2026-02-23T13:47:52Z</dcterms:modified>
</cp:coreProperties>
</file>