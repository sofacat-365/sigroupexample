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9F9"/>
    <a:srgbClr val="3498DB"/>
    <a:srgbClr val="2C3E50"/>
    <a:srgbClr val="E6E6E6"/>
    <a:srgbClr val="DBEB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2314" y="14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9" d="100"/>
          <a:sy n="79" d="100"/>
        </p:scale>
        <p:origin x="3288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B2CBE50F-C586-4E1D-8BC7-1910A1313D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5435B86-64F2-4F29-A599-E290CA3D9BD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40D90B-CE58-4343-A1E0-368CECEDF9D4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7F30FCF-DEC3-409D-A2D3-E7A5B15D8F9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2FBDC1C-A133-43B7-8B7A-0B2CC326119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3DAA13-E63E-45E1-9E6A-BB962DD5E8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1533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8993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 — ТИТУЛЬНЫЙ
📢 Текст спикера:
«Добрый день! Тема курсовой работы — разработка сайта-портфолио для научно-исследовательской группы "Центр роботизированных решений". Это динамическая веб-платформа, созданная с использованием стека PHP, MySQL и HTML/CSS.»
🎨 Инфографика: Логотип/иконка робота, технологический стек под заголовком.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2 — АКТУАЛЬНОСТЬ
📢 Текст спикера:
«Центр роботизированных решений ведёт работу над проектами: мобильный робот-лаборант, интеллектуальный мусоросборщик, персональный складской робот и агробот. Для такой группы классические визитки недостаточны. Нужна специализированная платформа, совмещающая презентацию, архив публикаций и инструмент для блога.»
🎨 Инфографика: Две колонки "Проблема / Решение". Тейк внизу.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3 — ЦЕЛЕВАЯ АУДИТОРИЯ И ТРЕБОВАНИЯ
📢 Текст спикера:
«Были выделены две категории пользователей. Посетитель — учёный, партнёр, студент, который ищет информацию. Администратор — сотрудник группы, который управляет контентом. Функциональные требования разделены по ролям. Дизайн ориентирован на научно-техническую направленность: минимализм, синяя гамма, чёткая иерархия.»
🎨 Инфографика: Два персонажа-карточки + список требований.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4 — ФУНКЦИОНАЛ
📢 Текст спикера:
«Система реализует 6 ключевых разделов. Посетитель может изучать публикации с фильтрацией и поиском, просматривать проекты, читать блог, скачивать научные данные. Администратор через защищённую панель управляет всем контентом: добавляет, редактирует, удаляет записи и загружает файлы.»
🎨 Инфографика: 6 плиток-карточек 3×2 с иконками и описанием каждого раздела.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5 — АРХИТЕКТУРА ПО
📢 Текст спикера:
«Для проекта выбрана классическая трёхзвенная клиент-серверная архитектура. Уровень представления — HTML/CSS/JS в браузере. Уровень бизнес-логики — PHP на сервере, реализует паттерн MVC. Уровень данных — MySQL с управлением через phpMyAdmin. Среда разработки — OpenServer.»
🎨 Инфографика: Три прямоугольника-слоя со стрелками + блок MVC справа.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6 — ИНФОРМАЦИОННАЯ МОДЕЛЬ
📢 Текст спикера:
«В системе определены 6 основных таблиц БД. Users хранит аккаунты администраторов с ролевой моделью. Projects, Articles, BlogPosts, Datasets — контентные таблицы. ActivityLogs — журнал действий. Основные связи: пользователь создаёт блог-посты, проект содержит наборы данных, проект связан со статьями через таблицу-связку.»
🎨 Инфографика: 6 карточек таблиц БД 3×2 + блок связей снизу (ER-упрощение).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7 — РАЗРАБОТКА
📢 Текст спикера:
«Для разработки выбран стек PHP + MySQL + HTML/CSS. PHP обеспечивает серверную логику и работу с БД через PDO. OpenServer использовался для локального тестирования. Версии управлялись через Git/GitHub. Публичная часть включает 6 разделов. Административная панель — защищённый интерфейс с CRUD-операциями для всех типов контента.»
🎨 Инфографика: 3 колонки — стек, публичные страницы, панель администратора.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8 — ИНФОРМАЦИОННАЯ БЕЗОПАСНОСТЬ
📢 Текст спикера:
«В системе реализован комплексный подход к безопасности. Пароли хранятся только в виде хэша. SQL-инъекции исключены благодаря Prepared Statements. XSS защищён экранированием вывода. CSRF-токены защищают критические формы. .htaccess закрывает конфигурационные файлы. Каждый admin-скрипт проверяет авторизацию через сессии PHP.»
🎨 Инфографика: 6 карточек безопасности 3×2 с иконками щита.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9 — ТЕСТИРОВАНИЕ
📢 Текст спикера:
«Применялось ручное тестирование методом чёрного ящика. Проверялись: отображение страниц, работа форм, поиск, безопасность. Было найдено и исправлено 6 ошибок: проектирование — 2, кодирование — 2, синтаксис — 2. Для отладки использовались var_dump, error_log и логи сервера. Резервирование — Git.»
🎨 Инфографика: Таблица ошибок + итоговый баннер с метрикой качества.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10 — МЕТРИКИ
📢 Текст спикера:
«Оценка сложности выполнена методом функциональных точек. Нескорректированный FP = 105. Коэффициент VA = 0.95 (стандартная среда, централизованная обработка). Итого: 100 FP. Фактические трудозатраты — 270 часов (1.5 чел.-мес.). Производительность — 66.7 FP/чел.-мес., что типично для учебного проекта. Метрика качества — 0.04 ошибки на FP.»
🎨 Инфографика: 4 больших числа вверху + горизонтальная диаграмма этапов + таблица FP.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11 — ЗАКЛЮЧЕНИЕ
📢 Текст спикера:
«В рамках курсовой работы разработан полнофункциональный сайт-портфолио для Центра роботизированных решений. Реализованы все поставленные требования: 6 разделов, ролевая модель, безопасность, адаптивный дизайн. Оценка методом FP — 100 точек, производительность в норме для учебного проекта. В перспективе — добавление системы комментирования, SEO и переход на современный PHP-фреймворк. Спасибо за внимание!»
🎨 Инфографика: Тёмный фон с акцентом, иконка галочки, список достижений.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1280160" cy="731520"/>
          </a:xfrm>
          <a:prstGeom prst="rect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54480" y="4389120"/>
            <a:ext cx="1280160" cy="731520"/>
          </a:xfrm>
          <a:prstGeom prst="rect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08960" y="4389120"/>
            <a:ext cx="1280160" cy="731520"/>
          </a:xfrm>
          <a:prstGeom prst="rect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3440" y="4389120"/>
            <a:ext cx="1280160" cy="731520"/>
          </a:xfrm>
          <a:prstGeom prst="rect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4389120"/>
            <a:ext cx="1280160" cy="731520"/>
          </a:xfrm>
          <a:prstGeom prst="rect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4389120"/>
            <a:ext cx="1280160" cy="731520"/>
          </a:xfrm>
          <a:prstGeom prst="rect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822960"/>
            <a:ext cx="2011680" cy="20116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486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00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КУРСОВАЯ РАБОТА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100584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Сайт-портфолио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Центра роботизированных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решений</a:t>
            </a:r>
            <a:endParaRPr lang="en-US" sz="3600" dirty="0"/>
          </a:p>
        </p:txBody>
      </p:sp>
      <p:sp>
        <p:nvSpPr>
          <p:cNvPr id="11" name="Shape 8"/>
          <p:cNvSpPr/>
          <p:nvPr/>
        </p:nvSpPr>
        <p:spPr>
          <a:xfrm>
            <a:off x="457200" y="3063240"/>
            <a:ext cx="2743200" cy="45720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320040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· MySQL · HTML/CSS · MVC-архитектура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384048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Исполнитель: Гридчин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3498DB"/>
          </a:solidFill>
          <a:ln w="12700">
            <a:noFill/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2C3E5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64592" y="9144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92" y="7315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Актуальность темы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74320" y="804672"/>
            <a:ext cx="4114800" cy="3474720"/>
          </a:xfrm>
          <a:prstGeom prst="rect">
            <a:avLst/>
          </a:prstGeom>
          <a:solidFill>
            <a:srgbClr val="F9F9F9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8686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</a:t>
            </a:r>
          </a:p>
        </p:txBody>
      </p:sp>
      <p:sp>
        <p:nvSpPr>
          <p:cNvPr id="8" name="Text 5"/>
          <p:cNvSpPr/>
          <p:nvPr/>
        </p:nvSpPr>
        <p:spPr>
          <a:xfrm>
            <a:off x="411480" y="1234440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entury" panose="02040604050505020304" pitchFamily="18" charset="0"/>
                <a:ea typeface="Arial" pitchFamily="34" charset="-122"/>
                <a:cs typeface="Arial" panose="020B0604020202020204" pitchFamily="34" charset="0"/>
              </a:rPr>
              <a:t>Нет единого места для хранения данных группы</a:t>
            </a:r>
            <a:endParaRPr lang="en-US" sz="1300" dirty="0">
              <a:solidFill>
                <a:srgbClr val="2C3E50"/>
              </a:solidFill>
              <a:latin typeface="Century" panose="02040604050505020304" pitchFamily="18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Статичные визитки не </a:t>
            </a:r>
            <a:r>
              <a:rPr lang="en-US" sz="1300" dirty="0" err="1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отражают</a:t>
            </a:r>
            <a:r>
              <a:rPr lang="en-US" sz="1300" dirty="0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инновационность</a:t>
            </a:r>
            <a:endParaRPr lang="en-US" sz="1300" dirty="0">
              <a:solidFill>
                <a:srgbClr val="2C3E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Нет канала коммуникации с </a:t>
            </a:r>
            <a:r>
              <a:rPr lang="en-US" sz="1300" dirty="0" err="1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научным</a:t>
            </a:r>
            <a:r>
              <a:rPr lang="en-US" sz="1300" dirty="0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сообществом</a:t>
            </a:r>
            <a:endParaRPr lang="en-US" sz="1300" dirty="0">
              <a:solidFill>
                <a:srgbClr val="2C3E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Отсутствует интерактивная </a:t>
            </a:r>
            <a:r>
              <a:rPr lang="en-US" sz="1300" dirty="0" err="1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демонстрация</a:t>
            </a:r>
            <a:r>
              <a:rPr lang="en-US" sz="1300" dirty="0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экспериментов</a:t>
            </a:r>
            <a:endParaRPr lang="en-US" sz="1300" dirty="0">
              <a:solidFill>
                <a:srgbClr val="2C3E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663440" y="804672"/>
            <a:ext cx="4206240" cy="3474720"/>
          </a:xfrm>
          <a:prstGeom prst="rect">
            <a:avLst/>
          </a:prstGeom>
          <a:solidFill>
            <a:srgbClr val="2C3E50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46320" y="8686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9F9F9"/>
                </a:solidFill>
              </a:rPr>
              <a:t>РЕШЕНИЕ</a:t>
            </a:r>
            <a:endParaRPr lang="en-US" sz="1100" dirty="0">
              <a:solidFill>
                <a:srgbClr val="F9F9F9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4846320" y="123444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9F9F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Многофункциональный сайт-портфолио на PHP/MySQL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9F9F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Централизованное хранение: статьи, проекты, блог, </a:t>
            </a:r>
            <a:r>
              <a:rPr lang="en-US" sz="1300" dirty="0" err="1">
                <a:solidFill>
                  <a:srgbClr val="F9F9F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данные</a:t>
            </a:r>
            <a:endParaRPr lang="en-US" sz="1300" dirty="0">
              <a:solidFill>
                <a:srgbClr val="F9F9F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9F9F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Ролевая модель: администратор + </a:t>
            </a:r>
            <a:r>
              <a:rPr lang="en-US" sz="1300" dirty="0" err="1">
                <a:solidFill>
                  <a:srgbClr val="F9F9F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посетитель</a:t>
            </a:r>
            <a:endParaRPr lang="en-US" sz="1300" dirty="0">
              <a:solidFill>
                <a:srgbClr val="F9F9F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9F9F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Адаптивный дизайн для </a:t>
            </a:r>
            <a:r>
              <a:rPr lang="en-US" sz="1300" dirty="0" err="1">
                <a:solidFill>
                  <a:srgbClr val="F9F9F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любых</a:t>
            </a:r>
            <a:r>
              <a:rPr lang="en-US" sz="1300" dirty="0">
                <a:solidFill>
                  <a:srgbClr val="F9F9F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F9F9F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устройств</a:t>
            </a:r>
            <a:endParaRPr lang="en-US" sz="1300" dirty="0">
              <a:solidFill>
                <a:srgbClr val="F9F9F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74320" y="4370832"/>
            <a:ext cx="859536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74320" y="4370832"/>
            <a:ext cx="8577072" cy="59436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Тейк</a:t>
            </a: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Без современного веб-ресурса научная группа теряет видимость, партнёров и возможность </a:t>
            </a:r>
            <a:r>
              <a:rPr lang="en-US" sz="1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обмена</a:t>
            </a: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данными</a:t>
            </a:r>
            <a:endParaRPr lang="en-US" sz="1200" dirty="0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280E99E2-4354-42D4-9004-99295816D873}"/>
              </a:ext>
            </a:extLst>
          </p:cNvPr>
          <p:cNvSpPr/>
          <p:nvPr/>
        </p:nvSpPr>
        <p:spPr>
          <a:xfrm>
            <a:off x="670560" y="-2042160"/>
            <a:ext cx="822960" cy="822960"/>
          </a:xfrm>
          <a:prstGeom prst="ellipse">
            <a:avLst/>
          </a:prstGeom>
          <a:solidFill>
            <a:srgbClr val="2C3E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C48E8F71-A891-44CE-9B4C-718F2D24FAD9}"/>
              </a:ext>
            </a:extLst>
          </p:cNvPr>
          <p:cNvSpPr/>
          <p:nvPr/>
        </p:nvSpPr>
        <p:spPr>
          <a:xfrm>
            <a:off x="1645920" y="-2042160"/>
            <a:ext cx="822960" cy="822960"/>
          </a:xfrm>
          <a:prstGeom prst="ellipse">
            <a:avLst/>
          </a:prstGeom>
          <a:solidFill>
            <a:srgbClr val="3498D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4DDA3926-B94A-4CF9-BCB7-B8AB29A42C7E}"/>
              </a:ext>
            </a:extLst>
          </p:cNvPr>
          <p:cNvSpPr/>
          <p:nvPr/>
        </p:nvSpPr>
        <p:spPr>
          <a:xfrm>
            <a:off x="2621280" y="-2042160"/>
            <a:ext cx="822960" cy="822960"/>
          </a:xfrm>
          <a:prstGeom prst="ellipse">
            <a:avLst/>
          </a:prstGeom>
          <a:solidFill>
            <a:srgbClr val="DBEB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8D57ADAF-6520-4A14-9050-76F165BC3302}"/>
              </a:ext>
            </a:extLst>
          </p:cNvPr>
          <p:cNvSpPr/>
          <p:nvPr/>
        </p:nvSpPr>
        <p:spPr>
          <a:xfrm>
            <a:off x="3596640" y="-2038005"/>
            <a:ext cx="822960" cy="822960"/>
          </a:xfrm>
          <a:prstGeom prst="ellipse">
            <a:avLst/>
          </a:prstGeom>
          <a:solidFill>
            <a:srgbClr val="F9F9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9144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92" y="7315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Целевая аудитория и требования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777240"/>
            <a:ext cx="2834640" cy="2377440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91440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9326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65C0"/>
                </a:solidFill>
              </a:rPr>
              <a:t>Посетитель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11480" y="1417320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Учёные, партнёры, студенты, журналисты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Цель: найти публикации, данные и контакты группы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Ожидает: быстрый доступ + профессиональное оформление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337560" y="777240"/>
            <a:ext cx="2834640" cy="2377440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91440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069080" y="9326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65C0"/>
                </a:solidFill>
              </a:rPr>
              <a:t>Администратор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3474720" y="1417320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Сотрудник научной группы (инженер, исследователь)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Цель: управлять контентом без правки HTML/CSS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Ожидает: простой и надёжный интерфейс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6492240" y="777240"/>
            <a:ext cx="2331720" cy="2377440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6583680" y="8686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Требования к дизайну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583680" y="1261872"/>
            <a:ext cx="21031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B1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Минималистичный стиль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B1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Цвета: синий + серый + белый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B1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Чёткая визуальная иерархия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B1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Интуитивная навигация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B1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Логотип и фирменный стиль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274320" y="3264408"/>
            <a:ext cx="8595360" cy="1508760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457200" y="332841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Ключевые функциональные требования: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" y="3630168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B1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Просмотр проектов, статей, блога и данных экспериментов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B1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и фильтрация контента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B1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 обратной связи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663440" y="3630168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B1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Панель администратора с CRUD-операциями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B1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Загрузка файлов (PDF, изображения, CSV/JSON)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9144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92" y="7315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Функционал системы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749808"/>
            <a:ext cx="2651760" cy="1463040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749808"/>
            <a:ext cx="109728" cy="1463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950976"/>
            <a:ext cx="438912" cy="4389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87552" y="914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6"/>
                </a:solidFill>
              </a:rPr>
              <a:t>Публикации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57200" y="138988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Список статей, фильтр, поиск, DOI, PDF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081528" y="749808"/>
            <a:ext cx="2651760" cy="1463040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081528" y="749808"/>
            <a:ext cx="109728" cy="146304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2696" y="950976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94760" y="914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6"/>
                </a:solidFill>
              </a:rPr>
              <a:t>Проекты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3264408" y="138988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Карточки проектов, статус, детальный просмотр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888736" y="749808"/>
            <a:ext cx="2651760" cy="1463040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888736" y="749808"/>
            <a:ext cx="109728" cy="14630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9904" y="950976"/>
            <a:ext cx="438912" cy="4389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601968" y="914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6"/>
                </a:solidFill>
              </a:rPr>
              <a:t>Блог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6071616" y="138988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Записи с тегами, поиск по автору и дате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274320" y="2368296"/>
            <a:ext cx="2651760" cy="1463040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274320" y="2368296"/>
            <a:ext cx="109728" cy="14630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" y="2569464"/>
            <a:ext cx="438912" cy="43891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87552" y="2532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6"/>
                </a:solidFill>
              </a:rPr>
              <a:t>Науч. данные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457200" y="3008376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Наборы данных CSV/JSON, фильтрация по доступу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3081528" y="2368296"/>
            <a:ext cx="2651760" cy="1463040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3081528" y="2368296"/>
            <a:ext cx="109728" cy="1463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82696" y="2569464"/>
            <a:ext cx="438912" cy="43891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794760" y="2532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6"/>
                </a:solidFill>
              </a:rPr>
              <a:t>Поиск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3264408" y="3008376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Глобальный поиск по всему контенту сайта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5888736" y="2368296"/>
            <a:ext cx="2651760" cy="1463040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5888736" y="2368296"/>
            <a:ext cx="109728" cy="146304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9904" y="2569464"/>
            <a:ext cx="438912" cy="43891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601968" y="2532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6"/>
                </a:solidFill>
              </a:rPr>
              <a:t>Админ-панель</a:t>
            </a:r>
            <a:endParaRPr lang="en-US" sz="1400" dirty="0"/>
          </a:p>
        </p:txBody>
      </p:sp>
      <p:sp>
        <p:nvSpPr>
          <p:cNvPr id="35" name="Text 26"/>
          <p:cNvSpPr/>
          <p:nvPr/>
        </p:nvSpPr>
        <p:spPr>
          <a:xfrm>
            <a:off x="6071616" y="3008376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CRUD-операции, загрузка файлов, авторизация</a:t>
            </a:r>
            <a:endParaRPr lang="en-US" sz="1100" dirty="0"/>
          </a:p>
        </p:txBody>
      </p:sp>
      <p:sp>
        <p:nvSpPr>
          <p:cNvPr id="36" name="Shape 27"/>
          <p:cNvSpPr/>
          <p:nvPr/>
        </p:nvSpPr>
        <p:spPr>
          <a:xfrm>
            <a:off x="274320" y="4370832"/>
            <a:ext cx="8595360" cy="594360"/>
          </a:xfrm>
          <a:prstGeom prst="rect">
            <a:avLst/>
          </a:prstGeom>
          <a:solidFill>
            <a:srgbClr val="0B1B36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7" name="Text 28"/>
          <p:cNvSpPr/>
          <p:nvPr/>
        </p:nvSpPr>
        <p:spPr>
          <a:xfrm>
            <a:off x="457200" y="44074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6 разделов · 2 роли · Адаптивный дизайн · CRUD + загрузка файлов · Глобальный поиск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9144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92" y="7315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Архитектура программного обеспечения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05840" y="749808"/>
            <a:ext cx="5303520" cy="914400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51560" y="82296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УРОВЕНЬ ПРЕДСТАВЛЕНИЯ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51560" y="1225296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0ECF8"/>
                </a:solidFill>
              </a:rPr>
              <a:t>HTML · CSS · JavaScript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005840" y="1874520"/>
            <a:ext cx="5303520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51560" y="194767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УРОВЕНЬ БИЗНЕС-ЛОГИКИ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51560" y="2350008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0ECF8"/>
                </a:solidFill>
              </a:rPr>
              <a:t>PHP · MVC · Модули контента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05840" y="2999232"/>
            <a:ext cx="5303520" cy="914400"/>
          </a:xfrm>
          <a:prstGeom prst="rect">
            <a:avLst/>
          </a:prstGeom>
          <a:solidFill>
            <a:srgbClr val="0B1B36"/>
          </a:solidFill>
          <a:ln w="12700">
            <a:solidFill>
              <a:srgbClr val="0B1B36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51560" y="3072384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УРОВЕНЬ ДАННЫХ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51560" y="347472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0ECF8"/>
                </a:solidFill>
              </a:rPr>
              <a:t>MySQL · PDO · phpMyAdmin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383280" y="1682496"/>
            <a:ext cx="548640" cy="182880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83280" y="2807208"/>
            <a:ext cx="548640" cy="182880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583680" y="749808"/>
            <a:ext cx="2331720" cy="320040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720840" y="822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MVC-паттерн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720840" y="1261872"/>
            <a:ext cx="2057400" cy="749808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812280" y="12984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Model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812280" y="157276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PHP-классы, SQL-запросы к MySQL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720840" y="2130552"/>
            <a:ext cx="2057400" cy="749808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812280" y="21671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View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812280" y="244144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HTML-шаблоны с данными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720840" y="2999232"/>
            <a:ext cx="2057400" cy="749808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812280" y="30358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Controller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812280" y="331012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PHP-скрипты, маршрутизация HTTP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B1B36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457200" y="41330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Структура проекта: /admin/ · /assets/css/ · /assets/js/ · /obschee/ · index.php · config.php · database.php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57200" y="44805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Клиент–серверная архитектура · OpenServer (Apache + PHP + MySQL)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9144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92" y="7315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Информационная модель системы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01168" y="749808"/>
            <a:ext cx="2743200" cy="1298448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01168" y="749808"/>
            <a:ext cx="274320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7863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10896" y="111556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login · email · password_hash · role · first_name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072384" y="749808"/>
            <a:ext cx="2743200" cy="1298448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072384" y="749808"/>
            <a:ext cx="2743200" cy="329184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63824" y="7863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projects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182112" y="111556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title · slug · description · objectives · status · team_members · gallery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943600" y="749808"/>
            <a:ext cx="2743200" cy="1298448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43600" y="749808"/>
            <a:ext cx="2743200" cy="32918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35040" y="7863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articles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053328" y="111556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title · abstract · content · authors · journal · publication_date · status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01168" y="2176272"/>
            <a:ext cx="2743200" cy="1298448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01168" y="2176272"/>
            <a:ext cx="2743200" cy="32918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92608" y="22128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blog_posts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10896" y="254203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title · slug · excerpt · content · author_id · tags · status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072384" y="2176272"/>
            <a:ext cx="2743200" cy="1298448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072384" y="2176272"/>
            <a:ext cx="2743200" cy="32918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163824" y="22128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datasets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182112" y="254203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title · description · access_level · related_project_id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943600" y="2176272"/>
            <a:ext cx="2743200" cy="1298448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943600" y="2176272"/>
            <a:ext cx="2743200" cy="329184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35040" y="22128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activity_logs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053328" y="254203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user_id · action · entity_type · ip_address · created_at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201168" y="4041648"/>
            <a:ext cx="8741664" cy="914400"/>
          </a:xfrm>
          <a:prstGeom prst="rect">
            <a:avLst/>
          </a:prstGeom>
          <a:solidFill>
            <a:srgbClr val="FFF8E1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384048" y="4096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7C00"/>
                </a:solidFill>
              </a:rPr>
              <a:t>Связи между таблицами: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384048" y="43708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B1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→ blog_posts (1:N) — автор записей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B1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→ datasets (1:N) — данные экспериментов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B1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↔ articles (M:N) — таблица-связка project_publication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9144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92" y="7315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Разработка программного обеспечения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777240"/>
            <a:ext cx="3200400" cy="3657600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11480" y="8412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Технологический стек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84048" y="1234440"/>
            <a:ext cx="2944368" cy="429768"/>
          </a:xfrm>
          <a:prstGeom prst="rect">
            <a:avLst/>
          </a:prstGeom>
          <a:solidFill>
            <a:srgbClr val="F0F7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2920" y="126187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PHP 7.4+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719072" y="12618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Серверная логика, MVC, PDO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84048" y="1728216"/>
            <a:ext cx="29443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02920" y="17556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MySQL 5.7+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719072" y="17556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Реляционная БД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84048" y="2221992"/>
            <a:ext cx="2944368" cy="429768"/>
          </a:xfrm>
          <a:prstGeom prst="rect">
            <a:avLst/>
          </a:prstGeom>
          <a:solidFill>
            <a:srgbClr val="F0F7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02920" y="224942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HTML5 + CSS3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719072" y="224942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Адаптивный интерфейс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84048" y="2715768"/>
            <a:ext cx="29443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02920" y="27432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JavaScript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719072" y="27432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Валидация форм на клиенте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84048" y="3209544"/>
            <a:ext cx="2944368" cy="429768"/>
          </a:xfrm>
          <a:prstGeom prst="rect">
            <a:avLst/>
          </a:prstGeom>
          <a:solidFill>
            <a:srgbClr val="F0F7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02920" y="323697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OpenServer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719072" y="323697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Локальная среда (Apache+PHP+MySQL)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84048" y="3703320"/>
            <a:ext cx="29443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02920" y="37307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Git + GitHub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719072" y="37307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версий, ветки, резервное копирование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749040" y="777240"/>
            <a:ext cx="2377440" cy="3657600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3886200" y="8412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38F"/>
                </a:solidFill>
              </a:rPr>
              <a:t>Публичная часть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3886200" y="1207008"/>
            <a:ext cx="21031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 — миссия + последние работы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Проекты — список + детальная страница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Статьи — поиск + фильтр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Блог — теги + поиск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— уровни доступа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нас — команда + контакты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355080" y="777240"/>
            <a:ext cx="2560320" cy="3657600"/>
          </a:xfrm>
          <a:prstGeom prst="rect">
            <a:avLst/>
          </a:prstGeom>
          <a:solidFill>
            <a:srgbClr val="FFF3E0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6492240" y="8412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7C00"/>
                </a:solidFill>
              </a:rPr>
              <a:t>Панель администратора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492240" y="1207008"/>
            <a:ext cx="23317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Авторизация (сессии PHP)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проектами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публикациями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блогом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данными экспериментов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 редактирования (TinyMCE)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274320" y="4498848"/>
            <a:ext cx="859536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457200" y="45445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Подход: процедурно-модульный + ООП через PDO · Разделение логики, представления и данных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9144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92" y="7315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Информационная безопасность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28600" y="749808"/>
            <a:ext cx="2706624" cy="1554480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28600" y="749808"/>
            <a:ext cx="91440" cy="1554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914400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914400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Хэширование паролей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93192" y="1344168"/>
            <a:ext cx="2450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password_hash() / password_verify() с алгоритмом PASSWORD_DEFAULT. Пароли НИКОГДА не хранятся в открытом виде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063240" y="749808"/>
            <a:ext cx="2706624" cy="1554480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063240" y="749808"/>
            <a:ext cx="91440" cy="155448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6120" y="91440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03320" y="914400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38F"/>
                </a:solidFill>
              </a:rPr>
              <a:t>Защита от SQL-инъекций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227832" y="1344168"/>
            <a:ext cx="2450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Statements через PDO. Пользовательский ввод НЕ подставляется в запросы напрямую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897880" y="749808"/>
            <a:ext cx="2706624" cy="1554480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897880" y="749808"/>
            <a:ext cx="91440" cy="15544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914400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537960" y="914400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1B9A"/>
                </a:solidFill>
              </a:rPr>
              <a:t>Защита от XSS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062472" y="1344168"/>
            <a:ext cx="2450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htmlspecialchars() для всего выводимого контента. Экранирование HTML-символов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228600" y="2395728"/>
            <a:ext cx="2706624" cy="1554480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228600" y="2395728"/>
            <a:ext cx="91440" cy="155448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60320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68680" y="2560320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1C1C"/>
                </a:solidFill>
              </a:rPr>
              <a:t>CSRF-токены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393192" y="2990088"/>
            <a:ext cx="2450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Одноразовые токены для критических операций в форме → проверка при отправке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3063240" y="2395728"/>
            <a:ext cx="2706624" cy="1554480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3063240" y="2395728"/>
            <a:ext cx="91440" cy="15544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6120" y="2560320"/>
            <a:ext cx="384048" cy="38404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703320" y="2560320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</a:rPr>
              <a:t>Файл .htaccess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3227832" y="2990088"/>
            <a:ext cx="2450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Запрет доступа к config.php, .git, .env. Заголовок X-Frame-Options (кликджекинг)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5897880" y="2395728"/>
            <a:ext cx="2706624" cy="1554480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5897880" y="2395728"/>
            <a:ext cx="91440" cy="1554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0760" y="2560320"/>
            <a:ext cx="384048" cy="38404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537960" y="2560320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</a:rPr>
              <a:t>Сессионная авторизация</a:t>
            </a:r>
            <a:endParaRPr lang="en-US" sz="1200" dirty="0"/>
          </a:p>
        </p:txBody>
      </p:sp>
      <p:sp>
        <p:nvSpPr>
          <p:cNvPr id="35" name="Text 26"/>
          <p:cNvSpPr/>
          <p:nvPr/>
        </p:nvSpPr>
        <p:spPr>
          <a:xfrm>
            <a:off x="6062472" y="2990088"/>
            <a:ext cx="2450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checkAuth() в каждом admin-скрипте. Без валидной сессии — редирект на /login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9144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92" y="7315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Тестирование ПО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777240"/>
            <a:ext cx="4114800" cy="1005840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822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Метод: ручное Black-box тестирование + интеграционное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118872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Сценарии по Use Case · Корректность форм · Поиск · Безопасность (доступ без авторизации)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4320" y="1874520"/>
            <a:ext cx="8595360" cy="2468880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" y="193852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Таблица найденных и исправленных ошибок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84048" y="2286000"/>
            <a:ext cx="155448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9768" y="23134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Тип ошибки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103120" y="2286000"/>
            <a:ext cx="155448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48840" y="23134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Проблема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212080" y="2286000"/>
            <a:ext cx="347472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57800" y="231343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Исправление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84048" y="2578608"/>
            <a:ext cx="8375904" cy="256032"/>
          </a:xfrm>
          <a:prstGeom prst="rect">
            <a:avLst/>
          </a:prstGeom>
          <a:solidFill>
            <a:srgbClr val="F5FA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" y="26060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Проектирование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2130552" y="260604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B36"/>
                </a:solidFill>
              </a:rPr>
              <a:t>Нет валидации типа загружаемого файла для изображений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239512" y="2606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7D32"/>
                </a:solidFill>
              </a:rPr>
              <a:t>Добавлена проверка MIME-типа и расширения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84048" y="2862072"/>
            <a:ext cx="837590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11480" y="288950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Проектирование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2130552" y="288950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B36"/>
                </a:solidFill>
              </a:rPr>
              <a:t>Отсутствие кнопки отправки формы обратной связи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239512" y="28895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7D32"/>
                </a:solidFill>
              </a:rPr>
              <a:t>Добавлена кнопка «Отправить сообщение»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84048" y="3145536"/>
            <a:ext cx="8375904" cy="256032"/>
          </a:xfrm>
          <a:prstGeom prst="rect">
            <a:avLst/>
          </a:prstGeom>
          <a:solidFill>
            <a:srgbClr val="F5FA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11480" y="317296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Кодирование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2130552" y="317296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B36"/>
                </a:solidFill>
              </a:rPr>
              <a:t>В функции поиска спец-символы не экранировались → ошибка БД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239512" y="31729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7D32"/>
                </a:solidFill>
              </a:rPr>
              <a:t>Применены Prepared Statements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384048" y="3429000"/>
            <a:ext cx="837590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11480" y="34564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Кодирование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2130552" y="345643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B36"/>
                </a:solidFill>
              </a:rPr>
              <a:t>При неудачной загрузке статьи — форма молчит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239512" y="34564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7D32"/>
                </a:solidFill>
              </a:rPr>
              <a:t>Добавлено сообщение об ошибке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384048" y="3712464"/>
            <a:ext cx="8375904" cy="256032"/>
          </a:xfrm>
          <a:prstGeom prst="rect">
            <a:avLst/>
          </a:prstGeom>
          <a:solidFill>
            <a:srgbClr val="F5FA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11480" y="37398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Синтаксис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2130552" y="373989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B36"/>
                </a:solidFill>
              </a:rPr>
              <a:t>Опечатка: $proejct в шаблоне project.php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5239512" y="37398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7D32"/>
                </a:solidFill>
              </a:rPr>
              <a:t>Исправлено: $project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384048" y="3995928"/>
            <a:ext cx="837590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11480" y="40233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Синтаксис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2130552" y="40233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B36"/>
                </a:solidFill>
              </a:rPr>
              <a:t>Отсутствовал закрывающий &lt;/div&gt; в footer.php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5239512" y="40233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7D32"/>
                </a:solidFill>
              </a:rPr>
              <a:t>Тег добавлен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4617720" y="777240"/>
            <a:ext cx="4251960" cy="1005840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4800600" y="82296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Методы отладки: var_dump() · error_log() · логи Apache в OpenServer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4800600" y="1371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версий: Git (откат при критических ошибках)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274320" y="4416552"/>
            <a:ext cx="8595360" cy="566928"/>
          </a:xfrm>
          <a:prstGeom prst="rect">
            <a:avLst/>
          </a:prstGeom>
          <a:solidFill>
            <a:srgbClr val="E8F5E9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457200" y="44622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</a:rPr>
              <a:t>Итог: 6 ошибок найдено и исправлено · 4 типа сценариев тестирования · Качество: 0.04 ошибки/FP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9144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92" y="7315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Расчёт метрик проекта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749808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749808"/>
            <a:ext cx="2011680" cy="91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859536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320040" y="14447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565C0"/>
                </a:solidFill>
              </a:rPr>
              <a:t>FP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20040" y="17190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Функциональных точек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68880" y="749808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68880" y="749808"/>
            <a:ext cx="2011680" cy="9144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14600" y="859536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83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66.7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2514600" y="14447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838F"/>
                </a:solidFill>
              </a:rPr>
              <a:t>FP/чел.-мес.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514600" y="17190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Производительность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663440" y="749808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63440" y="749808"/>
            <a:ext cx="2011680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09160" y="859536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0.04</a:t>
            </a: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4709160" y="14447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7D32"/>
                </a:solidFill>
              </a:rPr>
              <a:t>ош./FP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709160" y="17190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Метрика качества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858000" y="749808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858000" y="749808"/>
            <a:ext cx="2011680" cy="914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03720" y="859536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7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270</a:t>
            </a:r>
            <a:endParaRPr lang="en-US" sz="3600" dirty="0"/>
          </a:p>
        </p:txBody>
      </p:sp>
      <p:sp>
        <p:nvSpPr>
          <p:cNvPr id="24" name="Text 21"/>
          <p:cNvSpPr/>
          <p:nvPr/>
        </p:nvSpPr>
        <p:spPr>
          <a:xfrm>
            <a:off x="6903720" y="14447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7C00"/>
                </a:solidFill>
              </a:rPr>
              <a:t>чел.-час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903720" y="17190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Всего трудозатрат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74320" y="2286000"/>
            <a:ext cx="4846320" cy="2560320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457200" y="23500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Трудозатраты по этапам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11480" y="27249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B36"/>
                </a:solidFill>
              </a:rPr>
              <a:t>Анализ требований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286000" y="2770632"/>
            <a:ext cx="800100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104388" y="27614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</a:rPr>
              <a:t>30 ч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11480" y="31363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B36"/>
                </a:solidFill>
              </a:rPr>
              <a:t>Проектирование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2286000" y="3182112"/>
            <a:ext cx="1200150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504438" y="31729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</a:rPr>
              <a:t>45 ч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11480" y="35478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B36"/>
                </a:solidFill>
              </a:rPr>
              <a:t>Разработка (код)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2286000" y="3593592"/>
            <a:ext cx="3200400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36" name="Text 33"/>
          <p:cNvSpPr/>
          <p:nvPr/>
        </p:nvSpPr>
        <p:spPr>
          <a:xfrm>
            <a:off x="5504688" y="35844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</a:rPr>
              <a:t>120 ч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11480" y="3959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B36"/>
                </a:solidFill>
              </a:rPr>
              <a:t>Тестирование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2286000" y="4005072"/>
            <a:ext cx="1066800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371088" y="39959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</a:rPr>
              <a:t>40 ч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11480" y="4370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B36"/>
                </a:solidFill>
              </a:rPr>
              <a:t>Документация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2286000" y="4416552"/>
            <a:ext cx="933450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237738" y="44074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</a:rPr>
              <a:t>35 ч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5349240" y="2286000"/>
            <a:ext cx="3520440" cy="256032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5486400" y="23500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Составляющие FP (до корректировки = 105)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5486400" y="27249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Вводы (×3)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8321040" y="27249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565C0"/>
                </a:solidFill>
              </a:rPr>
              <a:t>15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7452360" y="2807208"/>
            <a:ext cx="274320" cy="128016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486400" y="30906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Выводы (×4)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8321040" y="30906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565C0"/>
                </a:solidFill>
              </a:rPr>
              <a:t>40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7452360" y="3172968"/>
            <a:ext cx="731520" cy="128016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486400" y="34564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Запросы (×3)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8321040" y="345643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565C0"/>
                </a:solidFill>
              </a:rPr>
              <a:t>6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7452360" y="3538728"/>
            <a:ext cx="109728" cy="128016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5486400" y="38221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Лог. файлы (×7)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8321040" y="38221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565C0"/>
                </a:solidFill>
              </a:rPr>
              <a:t>21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7452360" y="3904488"/>
            <a:ext cx="384048" cy="128016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486400" y="41879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Интерф. файлы (×5)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8321040" y="4187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565C0"/>
                </a:solidFill>
              </a:rPr>
              <a:t>5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7452360" y="4270248"/>
            <a:ext cx="91440" cy="128016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5486400" y="45537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Алгоритмы (×1)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8321040" y="45537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565C0"/>
                </a:solidFill>
              </a:rPr>
              <a:t>18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7452360" y="4636008"/>
            <a:ext cx="329184" cy="128016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74320" y="4910328"/>
            <a:ext cx="8595360" cy="457200"/>
          </a:xfrm>
          <a:prstGeom prst="rect">
            <a:avLst/>
          </a:prstGeom>
          <a:solidFill>
            <a:srgbClr val="0B1B36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4" name="Text 61"/>
          <p:cNvSpPr/>
          <p:nvPr/>
        </p:nvSpPr>
        <p:spPr>
          <a:xfrm>
            <a:off x="457200" y="494690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 = 105 × VA(0.95) = 100 · VA = 0.65 + 0.01 × ΣFi(30) = 0.95 · Производительность = 100 FP / 1.5 чел.-мес. = 66.67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0"/>
            <a:ext cx="73152" cy="5143500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731520"/>
            <a:ext cx="2103120" cy="2103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00B8D4"/>
                </a:solidFill>
              </a:rPr>
              <a:t>РЕЗУЛЬТАТ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37160" y="333756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Сайт-портфолио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Центра роботизированных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решений — готов!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566160" y="41148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Итоги курсовой работы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566160" y="822960"/>
            <a:ext cx="1828800" cy="45720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66160" y="960120"/>
            <a:ext cx="53035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Полный цикл разработки: анализ → проектирование → реализация → тестирование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6 разделов контента, 2 роли пользователей, адаптивный дизайн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100 FP сложности, производительность 66.7 FP/чел.-мес.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Комплексная защита: SQL-инъекции, XSS, CSRF, хэширование паролей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6 ошибок найдено и исправлено, метрика качества 0.04 ошибки/FP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Git + GitHub: полная история версий и ветки разработки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566160" y="4114800"/>
            <a:ext cx="5303520" cy="804672"/>
          </a:xfrm>
          <a:prstGeom prst="rect">
            <a:avLst/>
          </a:prstGeom>
          <a:solidFill>
            <a:srgbClr val="0D2A50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749040" y="4178808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Перспективы: комментирование · продвинутый поиск · SEO · PHP-фреймворк · визуализация данных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555</TotalTime>
  <Words>1948</Words>
  <Application>Microsoft Office PowerPoint</Application>
  <PresentationFormat>Экран (16:9)</PresentationFormat>
  <Paragraphs>232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Arial</vt:lpstr>
      <vt:lpstr>Arial Black</vt:lpstr>
      <vt:lpstr>Calibri</vt:lpstr>
      <vt:lpstr>Century</vt:lpstr>
      <vt:lpstr>Consolas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Сайт-портфолио Центра роботизированных решений</dc:title>
  <dc:subject>PptxGenJS Presentation</dc:subject>
  <dc:creator>Гридчин</dc:creator>
  <cp:lastModifiedBy>root</cp:lastModifiedBy>
  <cp:revision>8</cp:revision>
  <dcterms:created xsi:type="dcterms:W3CDTF">2026-02-18T20:37:15Z</dcterms:created>
  <dcterms:modified xsi:type="dcterms:W3CDTF">2026-02-21T20:02:13Z</dcterms:modified>
</cp:coreProperties>
</file>